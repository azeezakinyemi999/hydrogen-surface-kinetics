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Audience: me, the researcher. Goal: understand what each step does and why; results are left out.</a:t>
            </a:r>
          </a:p>
          <a:p>
            <a:r>
              <a:t>Running example: runs/try_2/Cu, the RMG run try_2/Cu (Danielle). Its folder holds RMG's input.py and</a:t>
            </a:r>
          </a:p>
          <a:p>
            <a:r>
              <a:t>chem_annotated.yaml, and the package's settings.py.</a:t>
            </a:r>
          </a:p>
          <a:p>
            <a:r>
              <a:t>Picture: schematic side view of Cu(111) sites (open circles = empty sites).</a:t>
            </a:r>
          </a:p>
          <a:p>
            <a:r>
              <a:t>Sources: docs/simulation_workflow.md; runs/try_2/Cu/input.py, chem_annotated.yaml and settings.py;</a:t>
            </a:r>
          </a:p>
          <a:p>
            <a:r>
              <a:t>Hydrogen-Surface-kinetics at commit 51f05c2.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 = surface reaction #0 of runs/try_2/Cu/chem_annotated.yaml (line 3494):</a:t>
            </a:r>
          </a:p>
          <a:p>
            <a:r>
              <a:t>vacantX(8) + vacantX(8) + H2(1) &lt;=&gt; [PtH](33) + [PtH](33).</a:t>
            </a:r>
          </a:p>
          <a:p>
            <a:r>
              <a:t>Rate: sticking-Arrhenius, A = 0.03, b = 0, Ea = 5000 J/mol (5 kJ/mol). Note: "Template reaction:</a:t>
            </a:r>
          </a:p>
          <a:p>
            <a:r>
              <a:t>Surface_Adsorption_Dissociative", i.e. estimated by RMG, not taken from a library.</a:t>
            </a:r>
          </a:p>
          <a:p>
            <a:r>
              <a:t>The package finds it at load (run.log): "probe reaction #0: H2(1) + 2 vacantX(8) &lt;=&gt; 2 [PtH](33)</a:t>
            </a:r>
          </a:p>
          <a:p>
            <a:r>
              <a:t>(direction +1, 2.0 empty sites)".</a:t>
            </a:r>
          </a:p>
          <a:p>
            <a:r>
              <a:t>∗ = empty site, vacantX(8); H∗ = [PtH](33); CO∗ = OCX(15), "CO* (1 site)" in settings.py species_labels.</a:t>
            </a:r>
          </a:p>
          <a:p>
            <a:r>
              <a:t>One row of sites stands for the two-dimensional surface (schematic).</a:t>
            </a:r>
          </a:p>
          <a:p>
            <a:r>
              <a:t>The question: docs/simulation_workflow.md section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questions of docs/simulation_workflow.md section 1.1.</a:t>
            </a:r>
          </a:p>
          <a:p>
            <a:r>
              <a:t>TOF: section 2.5 and Stage 7. Per area (Format 2): Stage 7, per_area.py, docs/rates_units_equilibrium.md.</a:t>
            </a:r>
          </a:p>
          <a:p>
            <a:r>
              <a:t>Coverages: Stage 8. Equilibrium coverage: Stage 11.2c (analyses/equilibrium.py).</a:t>
            </a:r>
          </a:p>
          <a:p>
            <a:r>
              <a:t>Impurities and site blocking: Stages 7 and 11.</a:t>
            </a:r>
          </a:p>
          <a:p>
            <a:r>
              <a:t>Trust: Stage 10 (binding check, switch-off what-ifs, sources and sinks, provenance).</a:t>
            </a:r>
          </a:p>
          <a:p>
            <a:r>
              <a:t>Card 4 shows two real note types of runs/try_2/Cu/chem_annotated.yaml: "Library reaction:</a:t>
            </a:r>
          </a:p>
          <a:p>
            <a:r>
              <a:t>O2_dissociative_adsorption" (2 reactions, e.g. line 3531) and R0's "Template reaction:</a:t>
            </a:r>
          </a:p>
          <a:p>
            <a:r>
              <a:t>Surface_Adsorption_Dissociative". The other pictures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1 and the stage table of docs/simulation_workflow.md section 1.3.</a:t>
            </a:r>
          </a:p>
          <a:p>
            <a:r>
              <a:t>15 = surfaceReactor blocks in runs/try_2/Cu/input.py: 5 gases (the full mixture, H2:CO 8:2, H2:CO2 8:2,</a:t>
            </a:r>
          </a:p>
          <a:p>
            <a:r>
              <a:t>H2:CH4 9:1, H2:NH3 9:1) at 3 pressures (1, 100, 0.01 bar), each over 650-1200 K.</a:t>
            </a:r>
          </a:p>
          <a:p>
            <a:r>
              <a:t>settings.py is the package's file (roles, conditions, which analyses); input.py is RMG's.</a:t>
            </a:r>
          </a:p>
          <a:p>
            <a:r>
              <a:t>Stage 3 defines a temperature series and a pressure series (conditions.py). Stages 4-6: solver.py,</a:t>
            </a:r>
          </a:p>
          <a:p>
            <a:r>
              <a:t>runner.py. Stages 7-9: analyses/steady_state.py, composition.py; per area: per_area.py.</a:t>
            </a:r>
          </a:p>
          <a:p>
            <a:r>
              <a:t>Branch A: analyses/flux.py, optional, run with  bash run.sh runs/try_2/Cu --only flux  (needs RMG-Py).</a:t>
            </a:r>
          </a:p>
          <a:p>
            <a:r>
              <a:t>Report: report.py and report_text.py; output/report/&lt;run&gt;_report.pdf, built at the end of a run of every</a:t>
            </a:r>
          </a:p>
          <a:p>
            <a:r>
              <a:t>analysis in settings.py, or rebuilt with  bash run.sh runs/try_2/Cu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1.2 and Figure 1.</a:t>
            </a:r>
          </a:p>
          <a:p>
            <a:r>
              <a:t>Closed batch (Stage 2): RMG's surfaceReactor, closed, isothermal, constant volume. V = RT/P for 1 mol</a:t>
            </a:r>
          </a:p>
          <a:p>
            <a:r>
              <a:t>of gas, A = V x 1e5 1/m (surfaceVolumeRatio in runs/try_2/Cu/input.py); analyses/flux.py simulate, lines 198-222,</a:t>
            </a:r>
          </a:p>
          <a:p>
            <a:r>
              <a:t>sampled from 1e-8 s to terminationTime (1000 s).</a:t>
            </a:r>
          </a:p>
          <a:p>
            <a:r>
              <a:t>"20 % CO": RMG reactor 2 of try_2/Cu is H2:CO = 8:2.</a:t>
            </a:r>
          </a:p>
          <a:p>
            <a:r>
              <a:t>Fixed gas (Stages 4-5): 1 m3 of gas over 1e-10 m2 of catalyst (reactor_area_per_volume, config.py:22),</a:t>
            </a:r>
          </a:p>
          <a:p>
            <a:r>
              <a:t>energy off, gas reactions off (solver.py fixed_gas_reactor, lines 98-107).</a:t>
            </a:r>
          </a:p>
          <a:p>
            <a:r>
              <a:t>Molecule counts in the frames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runs/try_2/Cu/input.py: database() line 4 (thermoLibraries surfaceThermoPt111, primaryThermoLibrary,</a:t>
            </a:r>
          </a:p>
          <a:p>
            <a:r>
              <a:t>thermo_DFT_CCSDTF12_BAC, DFT_QCI_thermo and 'auto'; reactionLibraries O2_dissociative_adsorption;</a:t>
            </a:r>
          </a:p>
          <a:p>
            <a:r>
              <a:t>kineticsFamilies surface, default; kineticsEstimator 'rate rules'); catalystProperties line 13;</a:t>
            </a:r>
          </a:p>
          <a:p>
            <a:r>
              <a:t>forbidden line 17 (surface_singlet_carbene); 13 species() blocks, lines 27-103;</a:t>
            </a:r>
          </a:p>
          <a:p>
            <a:r>
              <a:t>15 surfaceReactor() blocks, lines 108-494: 1-5 at 1 bar, 6-10 at 100 bar, 11-15 at 0.01 bar; each</a:t>
            </a:r>
          </a:p>
          <a:p>
            <a:r>
              <a:t>temperature 650-1200 K, nSims = 5, surfaceVolumeRatio 1e5 1/m, stop at 99 % H2 or 1000 s;</a:t>
            </a:r>
          </a:p>
          <a:p>
            <a:r>
              <a:t>simulator line 497; model line 502; generatedSpeciesConstraints line 521.</a:t>
            </a:r>
          </a:p>
          <a:p>
            <a:r>
              <a:t>Site density and binding energies: RMG-database input/surface/libraries/metal.py, entry "Cu111"</a:t>
            </a:r>
          </a:p>
          <a:p>
            <a:r>
              <a:t>(lines 127-134; the same in all four local copies). The run's own database copy is not saved, but these</a:t>
            </a:r>
          </a:p>
          <a:p>
            <a:r>
              <a:t>values reproduce the Pt(111) -&gt; Cu(111) shifts recorded in chem_annotated.yaml (slide 8).</a:t>
            </a:r>
          </a:p>
          <a:p>
            <a:r>
              <a:t>'auto' = libraries chosen by RMG (rmgpy/rmg/input.py:92, main.py:620 in the local RMG-Py).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runs/try_2/Cu/input.py model() (line 502): toleranceMoveToCore = 0.5, toleranceInterruptSimulation = 0.5,</a:t>
            </a:r>
          </a:p>
          <a:p>
            <a:r>
              <a:t>toleranceKeepInEdge = 0.0 (the branching options are commented out). simulator() line 497: atol 1e-18,</a:t>
            </a:r>
          </a:p>
          <a:p>
            <a:r>
              <a:t>rtol 1e-12. Families: surface, default (database() line 4).</a:t>
            </a:r>
          </a:p>
          <a:p>
            <a:r>
              <a:t>RMG-Py, local checkout d1f99b7 (2026-07-07; the run used RMG-Py commit b342f9b, YAML line 2):</a:t>
            </a:r>
          </a:p>
          <a:p>
            <a:r>
              <a:t>R = char_rate = sqrt(sum(core_species_rates^2)) (rmgpy/solver/base.pyx:812); edge ratio =</a:t>
            </a:r>
          </a:p>
          <a:p>
            <a:r>
              <a:t>|edge rate| / char_rate (824); moved to the core if above toleranceMoveToCore (1045-1047).</a:t>
            </a:r>
          </a:p>
          <a:p>
            <a:r>
              <a:t>nSims = 5 simulations per reactor and iteration, each at a condition from get_cond()</a:t>
            </a:r>
          </a:p>
          <a:p>
            <a:r>
              <a:t>(rmgpy/rmg/main.py:1001-1004), chosen far from earlier conditions (2513-2516).</a:t>
            </a:r>
          </a:p>
          <a:p>
            <a:r>
              <a:t>The exported core is chem_annotated.yaml: 40 gas + 71 surface species, 239 + 1,395 reactions.</a:t>
            </a:r>
          </a:p>
          <a:p>
            <a:r>
              <a:t>Chips labelled "new" stand for edge species (schematic). The run's RMG log is not in the run folder,</a:t>
            </a:r>
          </a:p>
          <a:p>
            <a:r>
              <a:t>so its run time is not known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Counted with a YAML parser from runs/try_2/Cu/chem_annotated.yaml. "Template reaction:" 1,632 times</a:t>
            </a:r>
          </a:p>
          <a:p>
            <a:r>
              <a:t>(239 gas, 1,393 surface). "Library reaction: O2_dissociative_adsorption" 2 times:</a:t>
            </a:r>
          </a:p>
          <a:p>
            <a:r>
              <a:t>vacantX(8) + CO(4) &lt;=&gt; OCX(15) (line 3526, sticking A = 0.84) and 2 vacantX(8) + O2(6) &lt;=&gt; 2 OX(14)</a:t>
            </a:r>
          </a:p>
          <a:p>
            <a:r>
              <a:t>(line 4204, A = 0.07). Largest surface families: Surface_Abstraction_vdW 343, Surface_Abstraction 218,</a:t>
            </a:r>
          </a:p>
          <a:p>
            <a:r>
              <a:t>Surface_Abstraction_Beta_double_vdW 212; gas: Disproportionation 98, H_Abstraction 91.</a:t>
            </a:r>
          </a:p>
          <a:p>
            <a:r>
              <a:t>Surface thermo: 61 "Thermo library: surfaceThermoPt111 Binding energy corrected by LSR (...)"; 10 "Gas</a:t>
            </a:r>
          </a:p>
          <a:p>
            <a:r>
              <a:t>phase thermo for X from Thermo library: ... Adsorption correction: + Thermo group additivity estimation:</a:t>
            </a:r>
          </a:p>
          <a:p>
            <a:r>
              <a:t>adsorptionPt111(...)". Gas thermo (40): primaryThermoLibrary 14, thermo_DFT_CCSDTF12_BAC 23, DFT_QCI_thermo 3.</a:t>
            </a:r>
          </a:p>
          <a:p>
            <a:r>
              <a:t>Shifts per bond (LSR scaling 1.00) from the notes: H +16 ([PtH](33)), O -38 (OX(14)), C +199</a:t>
            </a:r>
          </a:p>
          <a:p>
            <a:r>
              <a:t>([Pt]=[CH][CH]=[Pt](73); OCX(15) has 0.50C -&gt; +100), N +101 (N#[Pt](86)). They equal the Cu111 - Pt111</a:t>
            </a:r>
          </a:p>
          <a:p>
            <a:r>
              <a:t>binding energies of RMG-database metal.py: H -2.584 vs -2.754, C -4.960 vs -7.025, N -3.584 vs -4.632,</a:t>
            </a:r>
          </a:p>
          <a:p>
            <a:r>
              <a:t>O -4.208 vs -3.812 eV (1 eV = 96.485 kJ/mol). No shift (LSR ()): vacantX(8) and 17 vdW species.</a:t>
            </a:r>
          </a:p>
          <a:p>
            <a:r>
              <a:t>R0 note: "Matched reaction 1 H2 + Ni_3 + Ni_4 &lt;=&gt; HX_3 + HX_4 in Surface_Adsorption_Dissociative/training".</a:t>
            </a:r>
          </a:p>
          <a:p>
            <a:r>
              <a:t>That entry (RMG-database input/kinetics/families/Surface_Adsorption_Dissociative/training/reactions.py,</a:t>
            </a:r>
          </a:p>
          <a:p>
            <a:r>
              <a:t>index 1): StickingCoefficient A = 0.03, n = 0, Ea = 5 kJ/mol, shortDesc "Deutschmann Ni", metal = "Ni";</a:t>
            </a:r>
          </a:p>
          <a:p>
            <a:r>
              <a:t>its longDesc cites Delgado et al., Catalysts 2015, 5, 871-904 (as given in the database entry).</a:t>
            </a:r>
          </a:p>
          <a:p>
            <a:r>
              <a:t>Doc sections 1.4 and 10.4 (provenance and order of confidence).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runs/try_2/Cu/chem_annotated.yaml: generator line 2 (RMG-Py CanteraWriter2, RMG-Py commit b342f9b); units</a:t>
            </a:r>
          </a:p>
          <a:p>
            <a:r>
              <a:t>line 5 {length: m, time: s, quantity: mol, activation-energy: J/mol}; phases from line 8 (gas line 9,</a:t>
            </a:r>
          </a:p>
          <a:p>
            <a:r>
              <a:t>surface line 21, site-density 2.943e-05 mol/m2 at line 42).</a:t>
            </a:r>
          </a:p>
          <a:p>
            <a:r>
              <a:t>Counted with a YAML parser: gas 40 species, 239 reactions; surface 71 species (53 with 1 site, 18 with 2),</a:t>
            </a:r>
          </a:p>
          <a:p>
            <a:r>
              <a:t>1,395 reactions (76 sticking-Arrhenius, 1,319 Arrhenius). Cantera says the same at load (run.log: "gas: 40</a:t>
            </a:r>
          </a:p>
          <a:p>
            <a:r>
              <a:t>species, 239 reactions; surface: 71 species, 1395 reactions; site density: 2.9430e-08 kmol/m2").</a:t>
            </a:r>
          </a:p>
          <a:p>
            <a:r>
              <a:t>Excerpt: lines 3494-3502, two lines shortened (…). Cantera writes R0 as H2(1) + 2 vacantX(8) &lt;=&gt; 2 [PtH](33).</a:t>
            </a:r>
          </a:p>
          <a:p>
            <a:r>
              <a:t>seed/: seed/seed (reactions.py, dictionary.txt), seed/filters and seed/seed_edge (seed_edge is kept on</a:t>
            </a:r>
          </a:p>
          <a:p>
            <a:r>
              <a:t>disk only, not in git). species/: 111 PNG pictures, one per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Stage 0 (line 348): Cantera names are label(index); RMG writes its site atom X</a:t>
            </a:r>
          </a:p>
          <a:p>
            <a:r>
              <a:t>as Pt in SMILES, whatever the metal. runs/try_2/Cu/chem_annotated.yaml line 7 even gives element X the atomic</a:t>
            </a:r>
          </a:p>
          <a:p>
            <a:r>
              <a:t>weight 195.083 (Pt).</a:t>
            </a:r>
          </a:p>
          <a:p>
            <a:r>
              <a:t>All names are species of the mechanism; [Pt]N=N[Pt](57) and keteneXX(434) have "sites: 2".</a:t>
            </a:r>
          </a:p>
          <a:p>
            <a:r>
              <a:t>vacantX is the label of the empty site in input.py (line 70). Readable names come from settings.py</a:t>
            </a:r>
          </a:p>
          <a:p>
            <a:r>
              <a:t>species_labels (lines 32-42): 'empty site', 'H*', 'H2* (molecular)', 'CO* (1 site)'.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Hydrogen-Surface-kinetics/hydrogen_surface_kinetics/model.py: Model._load_phases, lines 165-167, called from</a:t>
            </a:r>
          </a:p>
          <a:p>
            <a:r>
              <a:t>_load_mechanism (lines 137-163) inside the warnings catcher of __init__ (lines 91-94).</a:t>
            </a:r>
          </a:p>
          <a:p>
            <a:r>
              <a:t>Phase names from config.py defaults (gas_phase "gas", surface_phase "surface"), as in the try_2/Cu YAML.</a:t>
            </a:r>
          </a:p>
          <a:p>
            <a:r>
              <a:t>If Cantera refuses the file only because of unmatched duplicate flags, a repaired copy is loaded (Stage 0).</a:t>
            </a:r>
          </a:p>
          <a:p>
            <a:r>
              <a:t>Doc Stage 1 procedure step 1 and design choice "Transport off". Picture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2.1 and Figure 2 (ten sites hold eight entities).</a:t>
            </a:r>
          </a:p>
          <a:p>
            <a:r>
              <a:t>Each species k occupies σ_k sites ("sites:" in the YAML, default 1). N₂∗∗ here stands for</a:t>
            </a:r>
          </a:p>
          <a:p>
            <a:r>
              <a:t>[Pt]N=N[Pt](57) ("sites: 2"), one of the 18 two-site species of runs/try_2/Cu/chem_annotated.yaml.</a:t>
            </a:r>
          </a:p>
          <a:p>
            <a:r>
              <a:t>The surface is an example,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2.1: C_k = Γ θ_k / (σ_k S), S = Σ θ_j / σ_j, f = 1/S,</a:t>
            </a:r>
          </a:p>
          <a:p>
            <a:r>
              <a:t>C_∗ = f θ_∗ Γ; verified against Cantera in Appendix E (docs/figures/check_equations.py).</a:t>
            </a:r>
          </a:p>
          <a:p>
            <a:r>
              <a:t>Consequences box of section 2.1; site_count_factor in Stage 7 (analyses/common.py); open markers in Stage 9.</a:t>
            </a:r>
          </a:p>
          <a:p>
            <a:r>
              <a:t>runs/try_2/Cu: 53 one-site and 18 two-site surface species (counted with a YAML parser).</a:t>
            </a:r>
          </a:p>
          <a:p>
            <a:r>
              <a:t>The convention could change between Cantera versions: re-run check_equations.py after upgrading.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2.2 (rate of progress, Arrhenius form) and 2.1 (concentrations).</a:t>
            </a:r>
          </a:p>
          <a:p>
            <a:r>
              <a:t>R0 as Cantera loads it from runs/try_2/Cu: H2(1) + 2 vacantX(8) &lt;=&gt; 2 [PtH](33). Pictures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Impingement Z = p / sqrt(2 pi M R T) = 1.209e4 mol m-2 s-1 at 650 K, 1 bar (M = 2.016e-3 kg/mol);</a:t>
            </a:r>
          </a:p>
          <a:p>
            <a:r>
              <a:t>per site Z / Γ with Γ = 2.943e-5 mol/m2: 4.11e8 per second. γ(650 K) = 0.03 exp(-5000/(R 650)) = 0.0119,</a:t>
            </a:r>
          </a:p>
          <a:p>
            <a:r>
              <a:t>so bare-surface TOF_f = γ Z / Γ = 4.88e6 per second (θ_∗ = 1, f = 1). At 1200 K: γ = 0.0182, 5.49e6.</a:t>
            </a:r>
          </a:p>
          <a:p>
            <a:r>
              <a:t>These follow from the mechanism parameters alone; they are not analysis results. They agree with the</a:t>
            </a:r>
          </a:p>
          <a:p>
            <a:r>
              <a:t>package's own evaluation of the mechanism (runs/try_2/Cu/output/arrhenius_intrinsic.csv: gamma_clean 0.011894,</a:t>
            </a:r>
          </a:p>
          <a:p>
            <a:r>
              <a:t>k_diss_clean 4.885e6 1/s at 650 K).</a:t>
            </a:r>
          </a:p>
          <a:p>
            <a:r>
              <a:t>Formula: doc section 2.2 (sticking coefficients; Motz-Wise off by default).</a:t>
            </a:r>
          </a:p>
          <a:p>
            <a:r>
              <a:t>R0: runs/try_2/Cu/chem_annotated.yaml line 3494 (A 0.03, b 0, Ea 5000 J/mol); R1 = surface reaction #1 (A 0.008).</a:t>
            </a:r>
          </a:p>
          <a:p>
            <a:r>
              <a:t>Six load warnings "Sticking coefficient is greater than 1" (run.log line 9); N2 + 2 vacantX &lt;=&gt; [Pt]N=N[Pt](57),</a:t>
            </a:r>
          </a:p>
          <a:p>
            <a:r>
              <a:t>A = 1.66, YAML line 3533.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2.3. NASA 7-coefficient polynomials, two temperature ranges.</a:t>
            </a:r>
          </a:p>
          <a:p>
            <a:r>
              <a:t>Standard concentrations: P°/RT for gas, Γ/σ_k for surface species.</a:t>
            </a:r>
          </a:p>
          <a:p>
            <a:r>
              <a:t>R0 numbers from the NASA polynomials of H2(1), vacantX(8) and [PtH](33) in runs/try_2/Cu/chem_annotated.yaml,</a:t>
            </a:r>
          </a:p>
          <a:p>
            <a:r>
              <a:t>gas entropy moved from the file's 1 atm to P° = 1 bar: at 650 K dH = -38.04 kJ/mol, dS = -120.9 J/(mol K),</a:t>
            </a:r>
          </a:p>
          <a:p>
            <a:r>
              <a:t>dG = +40.5 kJ/mol, K = exp(-dG/RT) = 5.5e-4 (at 1200 K: dG = +104 kJ/mol, K = 2.8e-5). The package gives</a:t>
            </a:r>
          </a:p>
          <a:p>
            <a:r>
              <a:t>the same (output/arrhenius_intrinsic.csv; check_K_thermo = 1: rates and thermo agree).</a:t>
            </a:r>
          </a:p>
          <a:p>
            <a:r>
              <a:t>Pitfall from the doc: standard_gibbs_RT for an ideal gas is at the current pressure, not P°.</a:t>
            </a:r>
          </a:p>
          <a:p>
            <a:r>
              <a:t>exp(50e3 / (8.314 x 650)) = 1.04e4. This is why Stage 10 never edits thermochemistry in place.</a:t>
            </a:r>
          </a:p>
          <a:p>
            <a:r>
              <a:t>The energy diagram is schematic; the small hump stands for R0's 5 kJ/mol sticking barrier.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2.4 (conservation equations and the steady-state problem).</a:t>
            </a:r>
          </a:p>
          <a:p>
            <a:r>
              <a:t>Reactions shown are real: surface reactions #0, #19, #26 and #37 of runs/try_2/Cu/chem_annotated.yaml, four of</a:t>
            </a:r>
          </a:p>
          <a:p>
            <a:r>
              <a:t>the 126 that contain [PtH](33) (H = H(16), CH3* = [CH3][Pt](52), NH2* = N[Pt](61)).</a:t>
            </a:r>
          </a:p>
          <a:p>
            <a:r>
              <a:t>#26 is the H-atom route: H atoms adsorb from, and desorb to, the gas.</a:t>
            </a:r>
          </a:p>
          <a:p>
            <a:r>
              <a:t>The plot is schematic: shape only,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hydrogen_surface_kinetics/per_area.py: definitions (lines 4-13), add_columns (lines 61-73: J = TOF x Γ,</a:t>
            </a:r>
          </a:p>
          <a:p>
            <a:r>
              <a:t>J_exchange = min, kd_eff = J_diss/p, gamma_eff = J_diss/Z, C_H = θ_H Γ), impingement_flux (56-58),</a:t>
            </a:r>
          </a:p>
          <a:p>
            <a:r>
              <a:t>clean_surface (88-104). Doc Stage 7 ("Per area", Format 2) and docs/rates_units_equilibrium.md.</a:t>
            </a:r>
          </a:p>
          <a:p>
            <a:r>
              <a:t>Γ: runs/try_2/Cu/chem_annotated.yaml site-density 2.943e-05 mol/m2 (line 42).</a:t>
            </a:r>
          </a:p>
          <a:p>
            <a:r>
              <a:t>kd = γ Z / p at 650 K, 1 bar: 0.0119 x 1.209e4 / 1e5 = 1.44e-3 mol m-2 s-1 Pa-1; the package gives</a:t>
            </a:r>
          </a:p>
          <a:p>
            <a:r>
              <a:t>kd_clean_mol_m2_s_Pa = 0.001438 (runs/try_2/Cu/output/arrhenius_intrinsic.csv). A mechanism property, not a result.</a:t>
            </a:r>
          </a:p>
          <a:p>
            <a:r>
              <a:t>Every figure with a rate panel has a _per_area copy; the per-site versions stay as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runs/try_2/Cu/settings.py sections: files (lines 8-11), species roles (13-30), species_labels (32-42),</a:t>
            </a:r>
          </a:p>
          <a:p>
            <a:r>
              <a:t>conditions (44-54: the temperature series at reference_pressure, the pressure series at</a:t>
            </a:r>
          </a:p>
          <a:p>
            <a:r>
              <a:t>pressure_temperatures, impurity_ratio per impurity from RMG reactor 1), what to run (56-59), analysis</a:t>
            </a:r>
          </a:p>
          <a:p>
            <a:r>
              <a:t>settings (61-80: diagnostics, flux). The excerpt shows real lines; "…" shortens two dictionaries.</a:t>
            </a:r>
          </a:p>
          <a:p>
            <a:r>
              <a:t>Defaults: config.py DEFAULTS (docs Appendix B). load_config (config.py:239) reads the file with runpy;</a:t>
            </a:r>
          </a:p>
          <a:p>
            <a:r>
              <a:t>lines 246-248 stop it if it contains database(, surfaceReactor(, catalystProperties( or simulator(.</a:t>
            </a:r>
          </a:p>
          <a:p>
            <a:r>
              <a:t>Docs: "Writing a settings.py" (simulation_workflow.md, line 1194).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 density: model.py lines 96-102 (np.isclose(surf.site_density, expected, rtol=1e-3));</a:t>
            </a:r>
          </a:p>
          <a:p>
            <a:r>
              <a:t>site_density_kmol_m2 in config.py converts (value, unit); 1 mol/cm2 = 10 kmol/m2.</a:t>
            </a:r>
          </a:p>
          <a:p>
            <a:r>
              <a:t>runs/try_2/Cu/settings.py line 11: (2.943e-09, "mol/cm2"), the Cu111 value of RMG-database metal.py;</a:t>
            </a:r>
          </a:p>
          <a:p>
            <a:r>
              <a:t>chem_annotated.yaml line 42: site-density 2.943e-05 in mol/m (units line 5). run.log: 2.9430e-08 kmol/m2.</a:t>
            </a:r>
          </a:p>
          <a:p>
            <a:r>
              <a:t>Duplicate flags: model.py _load_mechanism (137-163) and remove_unmatched_duplicates (34-66): the copy's</a:t>
            </a:r>
          </a:p>
          <a:p>
            <a:r>
              <a:t>first line records the source's sha256, so it is reused while the mechanism is unchanged.</a:t>
            </a:r>
          </a:p>
          <a:p>
            <a:r>
              <a:t>Counts from the first lines of runs/try_2/Fe and try_2/Ni output/chem_annotated.duplicates_fixed.yaml.</a:t>
            </a:r>
          </a:p>
          <a:p>
            <a:r>
              <a:t>Docs Stage 0, procedure step 2: "A writer that copies the mol cm-2 number into a kmol-based file gives a</a:t>
            </a:r>
          </a:p>
          <a:p>
            <a:r>
              <a:t>value 10x too small." RMG may write several exports (cantera1/, cantera2/): use the one that matches.</a:t>
            </a:r>
          </a:p>
          <a:p>
            <a:r>
              <a:t>Docs: Stage 0, procedure step 2 and the checks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runs/try_2/Cu/settings.py lines 14-29 (roles and the 7 impurities, by name); reference_label "H2 only".</a:t>
            </a:r>
          </a:p>
          <a:p>
            <a:r>
              <a:t>model.py lines 104-112 check the role names; line 128 resolves the impurities with _resolve_gas</a:t>
            </a:r>
          </a:p>
          <a:p>
            <a:r>
              <a:t>(lines 169-179: a name must be a gas species; a composition must match exactly one, else ModelError).</a:t>
            </a:r>
          </a:p>
          <a:p>
            <a:r>
              <a:t>run.log: impurities: {'H2O': 'H2O(2)', 'NH3': 'NH3(9)', 'CH4': 'CH4(5)', 'CO': 'CO(4)', 'CO2': 'CO2(3)',</a:t>
            </a:r>
          </a:p>
          <a:p>
            <a:r>
              <a:t>'O2': 'O2(6)', 'N2': 'N2(7)'}. Names are exact; compositions survive renumbering between RMG runs,</a:t>
            </a:r>
          </a:p>
          <a:p>
            <a:r>
              <a:t>but isomers sharing a composition must be named (doc Stage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model.py find_role_reaction, lines 69-82. Called in Model.__init__ lines</a:t>
            </a:r>
          </a:p>
          <a:p>
            <a:r>
              <a:t>115-120 for the probe reaction and again for the molecular adsorption (finds #1).</a:t>
            </a:r>
          </a:p>
          <a:p>
            <a:r>
              <a:t>Other reactions using the probe gas: lines 121-126; in try_2/Cu only #0 and #1 contain H2(1).</a:t>
            </a:r>
          </a:p>
          <a:p>
            <a:r>
              <a:t>try_3, try_4 and try_5 Cu run.log: "1 other surface reactions use the probe gas directly ... CX(296) + H2(1)</a:t>
            </a:r>
          </a:p>
          <a:p>
            <a:r>
              <a:t>&lt;=&gt; CH2X(297)". Equations are written as Cantera prints them; the YAML writes R0 as</a:t>
            </a:r>
          </a:p>
          <a:p>
            <a:r>
              <a:t>"vacantX(8) + vacantX(8) + H2(1) &lt;=&gt; [PtH](33) + [PtH](33)": comparing species SETS makes order and</a:t>
            </a:r>
          </a:p>
          <a:p>
            <a:r>
              <a:t>repetition irrelevant, and n_sites = r.reactants[site] = 2 (line 76).</a:t>
            </a:r>
          </a:p>
          <a:p>
            <a:r>
              <a:t>The last surface reaction, #1394 (2 vacantX(8) + [Pt]OC=N(1282) &lt;=&gt; [PtH](33) + [Pt]OC(=N)[Pt](1244)), also</a:t>
            </a:r>
          </a:p>
          <a:p>
            <a:r>
              <a:t>makes H*, but its reactants differ: no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cli.py cmd_check (from line 26) prints Model.summary, the series and the main conditions table; analyses/</a:t>
            </a:r>
          </a:p>
          <a:p>
            <a:r>
              <a:t>plan.py counts (from line 37) gives the solves per analysis, matching cache files by the same fingerprints as</a:t>
            </a:r>
          </a:p>
          <a:p>
            <a:r>
              <a:t>the run (Stage 6), so "cached" and "to_solve" are exact for the current settings.</a:t>
            </a:r>
          </a:p>
          <a:p>
            <a:r>
              <a:t>Output excerpt from runs/try_2/Cu/run.log, check of 2026-10-15 22:32 (probe line shortened; the conditions table</a:t>
            </a:r>
          </a:p>
          <a:p>
            <a:r>
              <a:t>and the columns cached / to_solve / note are left out; total to solve was 0 then: every solve cached).</a:t>
            </a:r>
          </a:p>
          <a:p>
            <a:r>
              <a:t>rate_control: about 53 solves per case and point (one start each). Narrow an analysis with its own</a:t>
            </a:r>
          </a:p>
          <a:p>
            <a:r>
              <a:t>series / temperatures / pressures / cases, e.g. rate_control = {'cases': ['H2 only', 'CO'], 'series': 'temperature'}.</a:t>
            </a:r>
          </a:p>
          <a:p>
            <a:r>
              <a:t>Docs: "Running an analysis" (line 1159).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Stage 2 (line 412) and Diagram 2. Code: analyses/flux.py: load_seed (79),</a:t>
            </a:r>
          </a:p>
          <a:p>
            <a:r>
              <a:t>mol_from_pt_smiles (88), build_matched_model (111), reaction_index (160), draw_species_images (172),</a:t>
            </a:r>
          </a:p>
          <a:p>
            <a:r>
              <a:t>reactor_temperatures (187), simulate (198-222: IdealGasReactor energy off, V = RT/P, A = V x</a:t>
            </a:r>
          </a:p>
          <a:p>
            <a:r>
              <a:t>surfaceVolumeRatio, logspace from 1e-8 s to terminationTime), condition_label (225),</a:t>
            </a:r>
          </a:p>
          <a:p>
            <a:r>
              <a:t>bake_condition_label (230), run (249-325), and RMG's rmgpy.tools.fluxdiagram.generate_flux_diagram.</a:t>
            </a:r>
          </a:p>
          <a:p>
            <a:r>
              <a:t>Settings: config.py flux section (lines 144-155: rmg_path, rmg_input, seed_dir, species_dir,</a:t>
            </a:r>
          </a:p>
          <a:p>
            <a:r>
              <a:t>reactor_indices, temperatures, n_points 100, rtol 1e-10, atol 1e-22, skip_existing). One reactor at a</a:t>
            </a:r>
          </a:p>
          <a:p>
            <a:r>
              <a:t>time in the main process: forking after RDKit/Cairo drawing crashes on macOS (flux.py:309-310; docs</a:t>
            </a:r>
          </a:p>
          <a:p>
            <a:r>
              <a:t>line 479). Species matching: base label first; otherwise the Cantera name is read as SMILES with [Pt]</a:t>
            </a:r>
          </a:p>
          <a:p>
            <a:r>
              <a:t>turned back into the site atom X, and matched by isomorphism.</a:t>
            </a:r>
          </a:p>
          <a:p>
            <a:r>
              <a:t>Temperatures: runs/try_2/Cu/input.py gives every surfaceReactor temperature=[(650,'K'),(1200,'K')].</a:t>
            </a:r>
          </a:p>
          <a:p>
            <a:r>
              <a:t>RMG-Py rmgpy/solver/surface.pyx lines 101-104 then set Trange and leave T unset; RMG itself samples</a:t>
            </a:r>
          </a:p>
          <a:p>
            <a:r>
              <a:t>the range (rmgpy/rmg/main.py RMG_Memory.generate_cond, line 2513: the first condition is the low end,</a:t>
            </a:r>
          </a:p>
          <a:p>
            <a:r>
              <a:t>later ones spread over the range). flux.reactor_temperatures runs such a reactor at both ends by</a:t>
            </a:r>
          </a:p>
          <a:p>
            <a:r>
              <a:t>default, or at flux['temperatures']; folders flux/&lt;n&gt;_&lt;T&gt;K/ (a one-temperature reactor keeps</a:t>
            </a:r>
          </a:p>
          <a:p>
            <a:r>
              <a:t>flux/&lt;n&gt;/). 15 reactors x 2 = 30 runs. No try_* run has a flux/ output yet. Docs Stage 2 step 6 (line 470).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Stage 2, "How the diagram encodes it" (line 450, width rule line 454) and the</a:t>
            </a:r>
          </a:p>
          <a:p>
            <a:r>
              <a:t>Important box on node borders (line 460); Figure 3 (fig_flux_anatomy.png).</a:t>
            </a:r>
          </a:p>
          <a:p>
            <a:r>
              <a:t>RMG-Py rmgpy/tools/fluxdiagram.py (local checkout): max_node_count = max_edge_count = 50 (lines 55-56),</a:t>
            </a:r>
          </a:p>
          <a:p>
            <a:r>
              <a:t>concentration_tol = species_rate_tol = 1e-6 (57-58), max_node_pen_width = max_edge_pen_width = 10 (59-60);</a:t>
            </a:r>
          </a:p>
          <a:p>
            <a:r>
              <a:t>edge width = slope log10(x) + w_max with slope = -w_max / log10(tol) (line 250).</a:t>
            </a:r>
          </a:p>
          <a:p>
            <a:r>
              <a:t>The steady-state path diagrams of Stage 11 (Part K) use their own style and threshold.</a:t>
            </a:r>
          </a:p>
          <a:p>
            <a:r>
              <a:t>The diagram on this slide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runs/try_2/Cu/settings.py lines 49-54: impurity_ratio = {H2O: 10/190, CO2: 0.05/190, CO: 1/190, CH4: 0.8/190,</a:t>
            </a:r>
          </a:p>
          <a:p>
            <a:r>
              <a:t>N2: 0.85/190, O2: 0.15/190, NH3: 0.1/190}}, mixture_mode 'same_each', include_input_basis False.</a:t>
            </a:r>
          </a:p>
          <a:p>
            <a:r>
              <a:t>Ratios from RMG reactor 1 of runs/try_2/Cu/input.py (lines 108-132: H2 190, H2O 10, CO 1, N2 0.85, CH4 0.8, O2 0.15,</a:t>
            </a:r>
          </a:p>
          <a:p>
            <a:r>
              <a:t>NH3 0.1, CO2 0.05). ppm = ratio x 1e6. The same ratios hold at every point of both series.</a:t>
            </a:r>
          </a:p>
          <a:p>
            <a:r>
              <a:t>conditions.py partial_pressures (lines 76-99): fixed_probe basis, p(H2) = P_ref and each impurity at</a:t>
            </a:r>
          </a:p>
          <a:p>
            <a:r>
              <a:t>ratio_for(r, label) x P_ref (ratio_for, lines 65-68); 'split' would divide one ratio over the mixture.</a:t>
            </a:r>
          </a:p>
          <a:p>
            <a:r>
              <a:t>check output (run.log): P_total 1.052632 bar for H2O ... 1.068158 bar for "all" at p(H2) = 1 bar.</a:t>
            </a:r>
          </a:p>
          <a:p>
            <a:r>
              <a:t>Docs Stage 3 (simulation_workflow.md line 488). The input_X basis (the RMG mole fractions, diluting H2)</a:t>
            </a:r>
          </a:p>
          <a:p>
            <a:r>
              <a:t>is a check, off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runs/try_2/Cu/settings.py lines 45-48: temperatures [650, 800, 1000, 1200] K at reference_pressure 1e5 Pa;</a:t>
            </a:r>
          </a:p>
          <a:p>
            <a:r>
              <a:t>pressures [1e3, 1e5, 1e7] Pa (0.01, 1, 100 bar) at pressure_temperatures [650, 1200] K.</a:t>
            </a:r>
          </a:p>
          <a:p>
            <a:r>
              <a:t>conditions.py series_points (lines 26-42): the temperature series first, then each pressure series; a</a:t>
            </a:r>
          </a:p>
          <a:p>
            <a:r>
              <a:t>point in both gets series "both". main_conditions (120-128) makes every case at every point;</a:t>
            </a:r>
          </a:p>
          <a:p>
            <a:r>
              <a:t>condition_key (137-139) writes "basis | case | T | p". The labels P_ref_bar and series are not part of</a:t>
            </a:r>
          </a:p>
          <a:p>
            <a:r>
              <a:t>the cache fingerprint (split_labels, 131-134), so relabelling never re-solves.</a:t>
            </a:r>
          </a:p>
          <a:p>
            <a:r>
              <a:t>RMG range: runs/try_2/Cu/input.py, temperature=[(650,'K'),(1200,'K')] in every reactor, initialPressure 1, 100</a:t>
            </a:r>
          </a:p>
          <a:p>
            <a:r>
              <a:t>and 0.01 bar. The 72 conditions are listed by check (run.log, 2026-10-15).</a:t>
            </a:r>
          </a:p>
          <a:p>
            <a:r>
              <a:t>Docs Stage 3 (line 488) and "Both series by default" (Stage 11 conventions).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2.4 (steady state: ṡ_k(θ) = 0 for every surface species, Σθ = 1,</a:t>
            </a:r>
          </a:p>
          <a:p>
            <a:r>
              <a:t>one equation redundant) and 2.6 (Newton solve, stiffness). 71 = surface species in runs/try_2/Cu/chem_annotated.yaml</a:t>
            </a:r>
          </a:p>
          <a:p>
            <a:r>
              <a:t>(including the empty site vacantX(8)).</a:t>
            </a:r>
          </a:p>
          <a:p>
            <a:r>
              <a:t>The one-dimensional picture is schematic: the real problem has 71 coupled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solver.py: default_methods() lines 142-143, solve_steady_state() lines</a:t>
            </a:r>
          </a:p>
          <a:p>
            <a:r>
              <a:t>146-165 (unchanged since the first commit). direct_min_T = 400 K (config.py:21, SOLVER_DEFAULTS).</a:t>
            </a:r>
          </a:p>
          <a:p>
            <a:r>
              <a:t>runs/try_2/Cu/run.log, main steady states: 71 conditions "A direct, B direct" and 1 "A direct, B reactor":</a:t>
            </a:r>
          </a:p>
          <a:p>
            <a:r>
              <a:t>the reactor method solved the one start B the direct solve did not.</a:t>
            </a:r>
          </a:p>
          <a:p>
            <a:r>
              <a:t>Doc Stage 4, "Choosing the method" and Diagram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set_state() lines 31-52; Model.new_surface() model.py lines 185-210</a:t>
            </a:r>
          </a:p>
          <a:p>
            <a:r>
              <a:t>(also applies optional rate multipliers and enthalpy shifts for Stages 10-11).</a:t>
            </a:r>
          </a:p>
          <a:p>
            <a:r>
              <a:t>The sum check (line 43) is np.isclose(total, 1.0, atol=1e-8) with NumPy's default rtol = 1e-5, so sums</a:t>
            </a:r>
          </a:p>
          <a:p>
            <a:r>
              <a:t>within about 1e-5 of 1 pass; 1.01 fails. (The docs' "1 ± 1e-8" is tighter than the code.)</a:t>
            </a:r>
          </a:p>
          <a:p>
            <a:r>
              <a:t>Doc Stage 4 "Setting the state" and the Important box "A fresh surface object for every solve".</a:t>
            </a:r>
          </a:p>
          <a:p>
            <a:r>
              <a:t>The θ⁰ example in the edge case is illustrative input, not from a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method_direct() lines 88-95. Cantera calls</a:t>
            </a:r>
          </a:p>
          <a:p>
            <a:r>
              <a:t>solvePseudoSteadyStateProblem: damped Newton with time stepping (doc section 2.6).</a:t>
            </a:r>
          </a:p>
          <a:p>
            <a:r>
              <a:t>Edge cases from doc Stage 4 checks table and section 10.2 (switched-off species).</a:t>
            </a:r>
          </a:p>
          <a:p>
            <a:r>
              <a:t>The Newton picture is schematic and one-dimensional.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fixed_gas_reactor() lines 98-107 and method_reactor() lines 110-136.</a:t>
            </a:r>
          </a:p>
          <a:p>
            <a:r>
              <a:t>n_checkpoints = round(2 (log10 1e8 + 8)) + 1 = 33. Settings in config.py SOLVER_DEFAULTS (lines 22-25):</a:t>
            </a:r>
          </a:p>
          <a:p>
            <a:r>
              <a:t>reactor_area_per_volume 1e-10, reactor_rtol 1e-10, reactor_atol 1e-22, reactor_t_max 1e8 s.</a:t>
            </a:r>
          </a:p>
          <a:p>
            <a:r>
              <a:t>"Method 2" (repeated advance_coverages) was dropped as too slow; numbering kept (doc Stage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method_reactor() lines 120-136; plateau_tof_rtol = 1e-4 and</a:t>
            </a:r>
          </a:p>
          <a:p>
            <a:r>
              <a:t>plateau_theta_atol = 1e-4 (config.py:26-27). Doc Stage 4: plateau criterion and Figure 4 (fig_convergence.png).</a:t>
            </a:r>
          </a:p>
          <a:p>
            <a:r>
              <a:t>Design choice in the doc: a small residual can occur while the surface still drifts slowly.</a:t>
            </a:r>
          </a:p>
          <a:p>
            <a:r>
              <a:t>The checkpoint plot is schematic. Planned in the doc: a separate "plateau" label for high-T cases</a:t>
            </a:r>
          </a:p>
          <a:p>
            <a:r>
              <a:t>where fast species keep residuals above the limit because of integrator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check_convergence() lines 55-85. Tolerances in config.py</a:t>
            </a:r>
          </a:p>
          <a:p>
            <a:r>
              <a:t>SOLVER_DEFAULTS (lines 16-20): abs_tol 1e-8 1/s, rel_gross_tol 1e-12, sum_tol 1e-8, neg_tol -1e-12,</a:t>
            </a:r>
          </a:p>
          <a:p>
            <a:r>
              <a:t>gas_tol 1e-9. G_k = σ_k (creation + destruction)/Γ (lines 60-61). Doc Stage 4 "Convergence test" and</a:t>
            </a:r>
          </a:p>
          <a:p>
            <a:r>
              <a:t>section 2.6 (residual scaling). A test relative to the probe TOF was tried and rejected (doc design choices).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analyses/convergence.py: docstring (lines 1-13); checkpoints() (26-30): per_decade x (log10 t_max + 8) + 1;</a:t>
            </a:r>
          </a:p>
          <a:p>
            <a:r>
              <a:t>trace() (32), default_conditions() (65), run() (75), plot_convergence() (112).</a:t>
            </a:r>
          </a:p>
          <a:p>
            <a:r>
              <a:t>Settings: config.py convergence (lines 77-82): conditions None (the failed main conditions, or the reference</a:t>
            </a:r>
          </a:p>
          <a:p>
            <a:r>
              <a:t>at the first point), max_conditions 6, per_decade 2 (the reactor method's own checkpoints).</a:t>
            </a:r>
          </a:p>
          <a:p>
            <a:r>
              <a:t>convergence.csv columns: t_s, tof_fwd, norm_residual, worst_species, residual_ok, plateau_ok, accepted_here,</a:t>
            </a:r>
          </a:p>
          <a:p>
            <a:r>
              <a:t>case, T_K, P_ref_bar, accepted_s, error.</a:t>
            </a:r>
          </a:p>
          <a:p>
            <a:r>
              <a:t>runs/try_2/Cu: every main condition converged, so the default traces "H2 only" at 650 K, 1 bar (output/convergence.csv).</a:t>
            </a:r>
          </a:p>
          <a:p>
            <a:r>
              <a:t>Docs: Stage 4 "On real data" and Table R2 (convergence). The three panels here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Stage 5, Figure 5 (fig_bistability.png) and Diagram 4.</a:t>
            </a:r>
          </a:p>
          <a:p>
            <a:r>
              <a:t>Agreement: max |θ_A − θ_B| ≤ 1e-3 and |TOF_A − TOF_B| / max ≤ 1e-2 (config.py:30-31, multi_ss_*).</a:t>
            </a:r>
          </a:p>
          <a:p>
            <a:r>
              <a:t>Start B: probe_covered_fraction 0.99 (config.py:28); pre_exposure_time 1 s (config.py:29); for try_2/Cu at</a:t>
            </a:r>
          </a:p>
          <a:p>
            <a:r>
              <a:t>1 bar the H2O case holds the surface in 0.0526 bar of H2O alone (impurity_ratio 10/190).</a:t>
            </a:r>
          </a:p>
          <a:p>
            <a:r>
              <a:t>Both are kept: start B's values go into the _B columns (tof_fwd_B, theta_free_B, poisoning_factor_B) and the</a:t>
            </a:r>
          </a:p>
          <a:p>
            <a:r>
              <a:t>poisoning curves draw its branch dashed (Part K).</a:t>
            </a:r>
          </a:p>
          <a:p>
            <a:r>
              <a:t>Agreement is evidence, not proof, of a unique steady state. One failed start: agreement unknown (None).</a:t>
            </a:r>
          </a:p>
          <a:p>
            <a:r>
              <a:t>The grids are schematic (the "steady state" grids are not computed results).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solver.py (lines unchanged since the first commit): solve_condition() 233-254,</a:t>
            </a:r>
          </a:p>
          <a:p>
            <a:r>
              <a:t>probe_covered_start() 186-188 (probe_covered_fraction 0.99), impurity_covered_start() 194-218</a:t>
            </a:r>
          </a:p>
          <a:p>
            <a:r>
              <a:t>(pre_exposure_time 1 s, probe gas removed, impurity partial pressures unchanged; cache key at line 202),</a:t>
            </a:r>
          </a:p>
          <a:p>
            <a:r>
              <a:t>compare_starts() 221-230. Doc Stage 5 design choice: pre-exposed rather than "steady state in the</a:t>
            </a:r>
          </a:p>
          <a:p>
            <a:r>
              <a:t>impurity alone", because some impurity-only systems never settle.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Hydrogen-Surface-kinetics runner.py run_jobs() lines 61-123: cache check 74-79 (a loaded result gets this</a:t>
            </a:r>
          </a:p>
          <a:p>
            <a:r>
              <a:t>run's job at line 78, so relabelled points need no new solve), fork context 71, workers started 86-91,</a:t>
            </a:r>
          </a:p>
          <a:p>
            <a:r>
              <a:t>error 102-103, timeout 104-107, saved 113-115, poll every 0.2 s at 121.</a:t>
            </a:r>
          </a:p>
          <a:p>
            <a:r>
              <a:t>cache_path() 42-45: MD5 of the job without its key and without fields starting with "_" (the labels</a:t>
            </a:r>
          </a:p>
          <a:p>
            <a:r>
              <a:t>P_ref_bar and series, line 43) plus the context; safe_name() 38-39 turns the key into the file name.</a:t>
            </a:r>
          </a:p>
          <a:p>
            <a:r>
              <a:t>Context: solver.py line 287 passes (model.fingerprint_context(), both_starts); model.py 220-223: mechanism</a:t>
            </a:r>
          </a:p>
          <a:p>
            <a:r>
              <a:t>SHA-256, phase names, solver settings, Cantera version. Defaults (config.py:34-38): workers = half the logical</a:t>
            </a:r>
          </a:p>
          <a:p>
            <a:r>
              <a:t>CPUs (16 on this Mac, so 8), job_timeout 1800 s, recompute False; run.sh options --workers, --timeout, --recompute.</a:t>
            </a:r>
          </a:p>
          <a:p>
            <a:r>
              <a:t>Real file: runs/try_2/Cu/output/cache/fixed_probe_CO_650_K_1_bar_9d1585270cd4.pkl.</a:t>
            </a:r>
          </a:p>
          <a:p>
            <a:r>
              <a:t>run.sh lines 54-55 (caffeinate -dims); doc Stage 6 and "Long runs and sleep" (line 1138): -i is not enough,</a:t>
            </a:r>
          </a:p>
          <a:p>
            <a:r>
              <a:t>because it does not stop maintenance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docs/simulation_workflow.md section 2.5 (forward vs net) and Stage 7 (line 733).</a:t>
            </a:r>
          </a:p>
          <a:p>
            <a:r>
              <a:t>Model.probe_rates() (model.py 212-218) swaps forward and reverse when the file writes R0 backwards</a:t>
            </a:r>
          </a:p>
          <a:p>
            <a:r>
              <a:t>(sign -1), so "forward" always means splitting. The columns are computed by analyses/common.py evaluate()</a:t>
            </a:r>
          </a:p>
          <a:p>
            <a:r>
              <a:t>(lines 136-161): tof_fwd, tof_rev, tof_net, tof_probe_consumed, and tof_molec_fwd / tof_molec_net for R1,</a:t>
            </a:r>
          </a:p>
          <a:p>
            <a:r>
              <a:t>H2(1) + vacantX(8) &lt;=&gt; [H][H].[Pt](34) in runs/try_2/Cu. The picture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analyses/common.py add_poisoning() (lines 217-233): the reference is matched by (basis, T_K, P_ref_bar);</a:t>
            </a:r>
          </a:p>
          <a:p>
            <a:r>
              <a:t>poisoning_factor = tof_fwd / tof_fwd_ref, slowdown_x = 1 / poisoning_factor, poisoning_factor_B for start B;</a:t>
            </a:r>
          </a:p>
          <a:p>
            <a:r>
              <a:t>blocking_from_theta = (θ_∗/θ_∗,ref)^n (p/p_ref); blocking_full = blocking_from_theta (f/f_ref)^n;</a:t>
            </a:r>
          </a:p>
          <a:p>
            <a:r>
              <a:t>blocking_check = poisoning_factor / blocking_full. n = Model.probe_sites (2, found by find_role_reaction).</a:t>
            </a:r>
          </a:p>
          <a:p>
            <a:r>
              <a:t>steady_state.py run(): lists conditions not converged, with starts that disagree, or |blocking_check - 1| &gt; 1e-6</a:t>
            </a:r>
          </a:p>
          <a:p>
            <a:r>
              <a:t>(line 38). Doc Stage 7: the site-blocking derivation, TOF_f = k_f C_A2 (f θ_∗ Γ)^n / Γ, and Figure 6.</a:t>
            </a:r>
          </a:p>
          <a:p>
            <a:r>
              <a:t>The two grids are illustrations (4/12 and 1/12 empty),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list: the header of runs/try_2/Cu/output/steady_state_results.csv (42 columns).</a:t>
            </a:r>
          </a:p>
          <a:p>
            <a:r>
              <a:t>analyses/steady_state.py build_summary() (lines 19-24) and run() (27-60); analyses/common.py results_frame()</a:t>
            </a:r>
          </a:p>
          <a:p>
            <a:r>
              <a:t>(lines 192-214, which also adds the Format 2 columns through per_area.add_columns) and add_poisoning()</a:t>
            </a:r>
          </a:p>
          <a:p>
            <a:r>
              <a:t>(217-233). Docs: Appendix C (output files and their columns) and Table R3.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analyses/composition.py: coverage_table() (line 20), surface_species() (30), species_palette() (39: a fixed</a:t>
            </a:r>
          </a:p>
          <a:p>
            <a:r>
              <a:t>colour per species), run() (63), plot_surface_composition() (88). Settings: config.py composition (lines</a:t>
            </a:r>
          </a:p>
          <a:p>
            <a:r>
              <a:t>63-67): min_listed 1e-3, min_plotted 0.02, max_named 7.</a:t>
            </a:r>
          </a:p>
          <a:p>
            <a:r>
              <a:t>Legend names are the runs/try_2/Cu/settings.py species_labels (lines 32-42): vacantX(8) "empty site",</a:t>
            </a:r>
          </a:p>
          <a:p>
            <a:r>
              <a:t>[PtH](33) "H*", O.[Pt](39) "H2O*", OCX(15) "CO* (1 site)". Docs: Stage 8 (line 789).</a:t>
            </a:r>
          </a:p>
          <a:p>
            <a:r>
              <a:t>The bar heights are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analyses/steady_state.py plot_rates() (lines 63-131): one row of panels per group of the series (the</a:t>
            </a:r>
          </a:p>
          <a:p>
            <a:r>
              <a:t>temperature series: one row, a marker per T; each pressure series: a row per pressure-series temperature,</a:t>
            </a:r>
          </a:p>
          <a:p>
            <a:r>
              <a:t>a marker per p), at most three rows per figure. slowdown_fixed_sites = slowdown_x (f/f_ref)^n (line 79).</a:t>
            </a:r>
          </a:p>
          <a:p>
            <a:r>
              <a:t>per_area=True: panel (a) is kd_eff = J_diss / p (Format 2). Files: rates_summary_vs_T.png, _vs_P.png and</a:t>
            </a:r>
          </a:p>
          <a:p>
            <a:r>
              <a:t>their _per_area copies. Docs: Stage 9 (line 807) and Table R2.</a:t>
            </a:r>
          </a:p>
          <a:p>
            <a:r>
              <a:t>The dots are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analyses/diagnostics.py: reaction_thermo() (lines 26-36: ΔH and ΔG from each species' NASA polynomials</a:t>
            </a:r>
          </a:p>
          <a:p>
            <a:r>
              <a:t>at T, reference states), binding_check() (39-58: OK if lo &lt;= ΔH298 &lt;= hi, TOO STRONG below, TOO WEAK above;</a:t>
            </a:r>
          </a:p>
          <a:p>
            <a:r>
              <a:t>ΔG at every main temperature), plot_binding_check() (61-91) -&gt; mechanism_binding_check.csv, binding_check.png.</a:t>
            </a:r>
          </a:p>
          <a:p>
            <a:r>
              <a:t>runs/try_2/Cu/settings.py lines 66-70: adsorption_checks = [] with the comment that Cu(111) ranges are needed.</a:t>
            </a:r>
          </a:p>
          <a:p>
            <a:r>
              <a:t>The entry format follows config.py diagnostics (line 69): (label, {reactants}, {products}, (lo, hi) kJ/mol,</a:t>
            </a:r>
          </a:p>
          <a:p>
            <a:r>
              <a:t>note); the names in the example are real try_2/Cu species, lo and hi are placeholders.</a:t>
            </a:r>
          </a:p>
          <a:p>
            <a:r>
              <a:t>exp(10e3 / (8.314 x 650)) = 6.4; at 1200 K, 2.7. Doc Stage 10.1 (line 853). The plot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analyses/diagnostics.py: switch_off_items() (lines 94-106: an entry is a species name, a reaction number, or</a:t>
            </a:r>
          </a:p>
          <a:p>
            <a:r>
              <a:t>a list of those), file_label() (109-112: H(16) -&gt; H_16), switch_off_reactions() (115-131: clear errors for an</a:t>
            </a:r>
          </a:p>
          <a:p>
            <a:r>
              <a:t>unknown species or number), switch_off() (134-195: multipliers 0, clean start, the main cases at the</a:t>
            </a:r>
          </a:p>
          <a:p>
            <a:r>
              <a:t>diagnostics points), plot_switch_off() (217-263: (a) rate ratio, (b) slowdown normal dot / switched-off ring,</a:t>
            </a:r>
          </a:p>
          <a:p>
            <a:r>
              <a:t>(c) the equilibrium check q). Multipliers: Model.new_surface(multipliers) -&gt; surf.set_multiplier (model.py</a:t>
            </a:r>
          </a:p>
          <a:p>
            <a:r>
              <a:t>207-208). runs/try_2/Cu: H(16) appears in exactly one surface reaction, #26 vacantX(8) + H(16) &lt;=&gt; [PtH](33).</a:t>
            </a:r>
          </a:p>
          <a:p>
            <a:r>
              <a:t>Defaults: config.py diagnostics (lines 68-76): switch_off [], switch_off_cases None (reference + every impurity).</a:t>
            </a:r>
          </a:p>
          <a:p>
            <a:r>
              <a:t>Docs: Stage 10.2 (line 867) and 10.5 (why thermochemistry is not edited in place).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analyses/diagnostics.py top_reactions() (lines 266-289): at a main steady state (P None = reference_pressure),</a:t>
            </a:r>
          </a:p>
          <a:p>
            <a:r>
              <a:t>q = net rates of progress / Γ; for each reaction with the species, the contribution ν q; sorted by |ν q|;</a:t>
            </a:r>
          </a:p>
          <a:p>
            <a:r>
              <a:t>the source is the second line of the reaction's YAML note. Columns of top_reactions.csv: case, T_K,</a:t>
            </a:r>
          </a:p>
          <a:p>
            <a:r>
              <a:t>P_ref_bar, species, label, coverage, rate_1_per_s, reaction, equation, source.</a:t>
            </a:r>
          </a:p>
          <a:p>
            <a:r>
              <a:t>runs/try_2/Cu/settings.py has no top_reactions entry; the example entry is illustrative (real species name).</a:t>
            </a:r>
          </a:p>
          <a:p>
            <a:r>
              <a:t>[PtH](33) appears in 126 surface reactions (YAML parse). Docs: Stage 10.3. The arrows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 Stage 10.4 (provenance; order of confidence) and section 1.4.</a:t>
            </a:r>
          </a:p>
          <a:p>
            <a:r>
              <a:t>Counts from runs/try_2/Cu/chem_annotated.yaml (YAML parser): "Library reaction: O2_dissociative_adsorption" 2 times</a:t>
            </a:r>
          </a:p>
          <a:p>
            <a:r>
              <a:t>(vacantX(8) + CO(4) &lt;=&gt; OCX(15), line 3526; 2 vacantX(8) + O2(6) &lt;=&gt; 2 OX(14), line 4204); "Template reaction:"</a:t>
            </a:r>
          </a:p>
          <a:p>
            <a:r>
              <a:t>1,632 times. Surface thermo: 61 surfaceThermoPt111 + LSR, 10 gas-phase thermo + adsorptionPt111 + LSR; none</a:t>
            </a:r>
          </a:p>
          <a:p>
            <a:r>
              <a:t>from a Cu library (input.py thermoLibraries: surfaceThermoPt111, primaryThermoLibrary, thermo_DFT_CCSDTF12_BAC,</a:t>
            </a:r>
          </a:p>
          <a:p>
            <a:r>
              <a:t>DFT_QCI_thermo, 'auto').</a:t>
            </a:r>
          </a:p>
          <a:p>
            <a:r>
              <a:t>O2_dissociative_adsorption: searched in all four local RMG-database copies (input/kinetics/libraries): not</a:t>
            </a:r>
          </a:p>
          <a:p>
            <a:r>
              <a:t>found; it was probably a library on the cluster that ran try_2/Cu. Ask for its source before trusting it.</a:t>
            </a:r>
          </a:p>
          <a:p>
            <a:r>
              <a:t>R0: training entry 1 of Surface_Adsorption_Dissociative, shortDesc "Deutschmann Ni", metal "Ni" (slide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analyses/curves.py: curve_conditions (lines 22-30: per point a "curve r=0" reference and each impurity at</a:t>
            </a:r>
          </a:p>
          <a:p>
            <a:r>
              <a:t>each ratio, on the fixed-probe basis), half_poisoning_ratio (33-44: log-log interpolation and its two</a:t>
            </a:r>
          </a:p>
          <a:p>
            <a:r>
              <a:t>bounds), run (47-71: poisoning_curves.csv and poisoning_tolerance.csv with ppm_of_probe),</a:t>
            </a:r>
          </a:p>
          <a:p>
            <a:r>
              <a:t>plot_poisoning_curves / _poisoning_curves_page (74-141: per point a column, Π on top and θ_imp below,</a:t>
            </a:r>
          </a:p>
          <a:p>
            <a:r>
              <a:t>log-log; a ring where the starts disagree, the start-B branch dashed and the window shaded, an open</a:t>
            </a:r>
          </a:p>
          <a:p>
            <a:r>
              <a:t>diamond at each interpolated r½). θ_imp = 1 - θ* - θ_H - θ_H2* (common.role_coverages, line 164).</a:t>
            </a:r>
          </a:p>
          <a:p>
            <a:r>
              <a:t>Settings: config.py curves (line 83): ratios 1e-6 ... 0.25 (12), impurities None = every impurity (not</a:t>
            </a:r>
          </a:p>
          <a:p>
            <a:r>
              <a:t>the mixture). Figures hold at most 4 columns (plotting.py:24), so the 6 pressure points make _vs_P_1/_2.</a:t>
            </a:r>
          </a:p>
          <a:p>
            <a:r>
              <a:t>runs/try_2/Cu check (run.log line 8720): curves, 8 points, 680 solves; poisoning_tolerance.csv has 56 rows</a:t>
            </a:r>
          </a:p>
          <a:p>
            <a:r>
              <a:t>(7 impurities x 8 points). Docs: Stage 11.1 (line 933). The figure is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analyses/curves.py: blocking_rows (lines 143-153: the curves at curves["blocking_point"], default the</a:t>
            </a:r>
          </a:p>
          <a:p>
            <a:r>
              <a:t>first series point, here 650 K and 1 bar; impurities with min Π &lt; 0.99 or max θ_imp &gt; 0.01 there),</a:t>
            </a:r>
          </a:p>
          <a:p>
            <a:r>
              <a:t>plot_site_blocking / _site_blocking_page (156-191: one row per impurity, at most three per figure:</a:t>
            </a:r>
          </a:p>
          <a:p>
            <a:r>
              <a:t>(a) empty and impurity-held sites, (b) site_count_factor, (c) blocking_full as a line, blocking_from_theta</a:t>
            </a:r>
          </a:p>
          <a:p>
            <a:r>
              <a:t>dashed, the poisoning factor as dots).</a:t>
            </a:r>
          </a:p>
          <a:p>
            <a:r>
              <a:t>The predictions: analyses/common.py add_poisoning (lines 217-233): blocking_from_theta = (θ*/θ*_ref)^n</a:t>
            </a:r>
          </a:p>
          <a:p>
            <a:r>
              <a:t>(p/p_ref), blocking_full = that x (f/f_ref)^n, blocking_check = Π / blocking_full; n = 2 empty sites</a:t>
            </a:r>
          </a:p>
          <a:p>
            <a:r>
              <a:t>for R0; p = p_ref on the fixed-probe basis. Docs: Stage 7 and Stage 11.1. Output: site_blocking.png.</a:t>
            </a:r>
          </a:p>
          <a:p>
            <a:r>
              <a:t>The panels are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analyses/sweep.py: sweep_temperatures (lines 20-25: None = from the lowest to the highest main temperature</a:t>
            </a:r>
          </a:p>
          <a:p>
            <a:r>
              <a:t>in steps of sweep["step"], 50 K), sweep_conditions (28-33: every case of sweep_cases, the reference, each</a:t>
            </a:r>
          </a:p>
          <a:p>
            <a:r>
              <a:t>impurity and the mixture, at impurity_ratio and reference_pressure), apparent_activation_energy (36-43:</a:t>
            </a:r>
          </a:p>
          <a:p>
            <a:r>
              <a:t>np.gradient in 1/T, cases with &gt;= 3 converged points), release_temperature (46-60), run (63-86),</a:t>
            </a:r>
          </a:p>
          <a:p>
            <a:r>
              <a:t>plot_temperature_sweep (89-137: (a) Arrhenius plot, (b) E_app, (c) Π with release diamonds; per_area: (a)</a:t>
            </a:r>
          </a:p>
          <a:p>
            <a:r>
              <a:t>as kd_eff), plot_sweep_coverages (140-145). Settings: config.py sweep (line 89).</a:t>
            </a:r>
          </a:p>
          <a:p>
            <a:r>
              <a:t>runs/try_2/Cu check (run.log line 8721): sweep, 12 points, 108 solves, "temperature only, at reference_pressure".</a:t>
            </a:r>
          </a:p>
          <a:p>
            <a:r>
              <a:t>Docs: Stage 11.2 (line 947). The panels are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analyses/arrhenius.py: fit (lines 47-62: ln y = ln A - Ea/RT by least squares; R² left empty for a flat</a:t>
            </a:r>
          </a:p>
          <a:p>
            <a:r>
              <a:t>quantity), local_ea (65-72), intrinsic_table (75-108: on fresh surfaces at reference_pressure, k_diss on</a:t>
            </a:r>
          </a:p>
          <a:p>
            <a:r>
              <a:t>theta* = 1 and k_rec on theta_H = 1; K = k_diss/k_rec x P0/p; ΔS from the thermo converted from 1 atm to</a:t>
            </a:r>
          </a:p>
          <a:p>
            <a:r>
              <a:t>1 bar; check_K_thermo), run (145-206: fits, dEa_vs_reference and A_over_reference, curved = R² &lt; min_r2 =</a:t>
            </a:r>
          </a:p>
          <a:p>
            <a:r>
              <a:t>0.99), intrinsic_quantities (216-228), surface_coefficients (237-257). Settings: config.py arrhenius</a:t>
            </a:r>
          </a:p>
          <a:p>
            <a:r>
              <a:t>(line 95): temperatures None = the sweep temperatures.</a:t>
            </a:r>
          </a:p>
          <a:p>
            <a:r>
              <a:t>runs/try_2/Cu (output/arrhenius_intrinsic.csv, arrhenius_fits.csv): check_K_thermo = 1.0 at 650 ... 1200 K;</a:t>
            </a:r>
          </a:p>
          <a:p>
            <a:r>
              <a:t>sticking probability fit A = 0.03, Ea = 5.000 kJ/mol, R² = 1 (R0 in the YAML: sticking-coefficient</a:t>
            </a:r>
          </a:p>
          <a:p>
            <a:r>
              <a:t>A 0.03, b 0, Ea 5000 J/mol); k_diss fit Ea = 1.37 kJ/mol, R² = 0.951, so "curved". k_diss = γ x the</a:t>
            </a:r>
          </a:p>
          <a:p>
            <a:r>
              <a:t>collision rate p/sqrt(2 pi M R T) per site, so ∝ γ/√T and the local Ea = 5.0 - RT/2 kJ/mol: 2.30 at 650 K,</a:t>
            </a:r>
          </a:p>
          <a:p>
            <a:r>
              <a:t>0.01 at 1200 K (RT/2 = 2.70 and 4.99 kJ/mol).</a:t>
            </a:r>
          </a:p>
          <a:p>
            <a:r>
              <a:t>surface_coefficients.csv: 10 rows. Docs: Stage 11.2a (line 968).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analyses/pressure_sweep.py: sweep_pressures (lines 29-41: a log grid with per_decade = 2 points per decade</a:t>
            </a:r>
          </a:p>
          <a:p>
            <a:r>
              <a:t>spanning the pressure series and reference_pressure: 1e3 to 1e7 Pa, 9 pressures), sweep_temperatures (44-46:</a:t>
            </a:r>
          </a:p>
          <a:p>
            <a:r>
              <a:t>pressure_temperatures, 650 and 1200 K), sweep_conditions (49-58), local_slope (61-69: np.gradient of ln TOF</a:t>
            </a:r>
          </a:p>
          <a:p>
            <a:r>
              <a:t>in ln p), half_rate_pressure (72-87: first crossing of Π = 0.5 going up, with "recovers above half" or</a:t>
            </a:r>
          </a:p>
          <a:p>
            <a:r>
              <a:t>"falls below half"), run (90-121), plot_pressure_sweep (124-179: one row per temperature).</a:t>
            </a:r>
          </a:p>
          <a:p>
            <a:r>
              <a:t>Settings: config.py pressure_sweep (line 99). The slope is the order in H2 for the H2-only case, and the</a:t>
            </a:r>
          </a:p>
          <a:p>
            <a:r>
              <a:t>order in the total pressure at fixed purity for an impurity case.</a:t>
            </a:r>
          </a:p>
          <a:p>
            <a:r>
              <a:t>runs/try_2/Cu check (run.log line 8723): pressure_sweep, 18 points, 162 solves; half_rate_pressure.csv 16 rows.</a:t>
            </a:r>
          </a:p>
          <a:p>
            <a:r>
              <a:t>Docs: Stage 11.2b (line 1004). The panels are a layout sketch,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analyses/equilibrium.py: K_thermo (lines 39-45: exp(-ΔG/RT) of H2 + 2* &lt;=&gt; 2 H*, converted from the thermo</a:t>
            </a:r>
          </a:p>
          <a:p>
            <a:r>
              <a:t>reference pressure to P0 = 1 bar), coverage (48-51), half_coverage_temperature (54-73: scan 200-3000 K in 10 K</a:t>
            </a:r>
          </a:p>
          <a:p>
            <a:r>
              <a:t>steps, then bisection), grid (76-87: temperatures = the temperature series and pressure_temperatures;</a:t>
            </a:r>
          </a:p>
          <a:p>
            <a:r>
              <a:t>pressures = a log grid spanning the pressure series with per_decade = 4), check_table (102-117: q for every</a:t>
            </a:r>
          </a:p>
          <a:p>
            <a:r>
              <a:t>converged steady state of steady_state, sweep and pressure_sweep), run (120-152), plot_equilibrium (155-218).</a:t>
            </a:r>
          </a:p>
          <a:p>
            <a:r>
              <a:t>J0 uses kd from per_area.clean_surface (per_area.py line 88). Settings: config.py equilibrium (line 106).</a:t>
            </a:r>
          </a:p>
          <a:p>
            <a:r>
              <a:t>runs/try_2/Cu: equilibrium_coverage.csv 68 rows (4 x 17); half_coverage_temperature.csv at 0.01, 1 and 100 bar;</a:t>
            </a:r>
          </a:p>
          <a:p>
            <a:r>
              <a:t>equilibrium_check.csv 342 rows. Worked example: K = 5.5e-4 at 650 K (slide 16), x = sqrt(5.5e-4) = 0.0235,</a:t>
            </a:r>
          </a:p>
          <a:p>
            <a:r>
              <a:t>θ_H,eq = 0.0229 (arrhenius_intrinsic.csv theta_H_eq at 650 K: 0.02295). Docs: Stage 11.2c (line 1015).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analyses/orders.py: order_conditions (lines 17-35: per point and case, base and probe +/- delta, and for an</a:t>
            </a:r>
          </a:p>
          <a:p>
            <a:r>
              <a:t>impurity case also impurity +/- delta; cases = the reference and each impurity, not the mixture), run</a:t>
            </a:r>
          </a:p>
          <a:p>
            <a:r>
              <a:t>(38-68: n = (ln TOF+ - ln TOF-) / (ln(1+δ) - ln(1-δ)); all_starts_agree), plot_orders (71-116: one panel per</a:t>
            </a:r>
          </a:p>
          <a:p>
            <a:r>
              <a:t>point, the same y scale everywhere, values labelled where |n| &gt;= 0.1). Settings: config.py orders (line</a:t>
            </a:r>
          </a:p>
          <a:p>
            <a:r>
              <a:t>111): delta 0.10. Error estimate: docs Stage 11.3 (line 1040), with the reactor-method TOF tolerance 1e-4.</a:t>
            </a:r>
          </a:p>
          <a:p>
            <a:r>
              <a:t>runs/try_2/Cu check (run.log line 8726): orders, 8 points, 304 solves = 8 x (3 + 7 x 5); reaction_orders.csv 64</a:t>
            </a:r>
          </a:p>
          <a:p>
            <a:r>
              <a:t>rows (8 cases x 8 points). The two-site readings follow from TOF_f ∝ p_H2 θ*^2 (docs 11.3).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analyses/rate_control.py: _solve (lines 29-37: every solve from S.clean_surface, with the job's multipliers</a:t>
            </a:r>
          </a:p>
          <a:p>
            <a:r>
              <a:t>and h_shifts), drc_reactions (40-46: the probe and molecular-adsorption reactions plus the drc_top_n = 20</a:t>
            </a:r>
          </a:p>
          <a:p>
            <a:r>
              <a:t>largest |net rates of progress| at the base), run (63-141: cases = reference + each impurity; 2 jobs per</a:t>
            </a:r>
          </a:p>
          <a:p>
            <a:r>
              <a:t>screened reaction (1 +/- drc_delta = 0.05) and per screened species; X_probe_consumed left NaN where the net</a:t>
            </a:r>
          </a:p>
          <a:p>
            <a:r>
              <a:t>consumption is below 1e-6 of the forward TOF), drc_nontrivial (144-152), plot_rate_control (168-241).</a:t>
            </a:r>
          </a:p>
          <a:p>
            <a:r>
              <a:t>Multipliers: surf.set_multiplier scales forward and reverse together (model.py new_surface, 185-211).</a:t>
            </a:r>
          </a:p>
          <a:p>
            <a:r>
              <a:t>runs/try_2/Cu run.log: "64 to solve" for the base states (line 1849), then "2992 perturbed solves" (line 1915);</a:t>
            </a:r>
          </a:p>
          <a:p>
            <a:r>
              <a:t>check (line 8727): rate_control, 8 points, 3392, "about 53 solves per case and point; estimate".</a:t>
            </a:r>
          </a:p>
          <a:p>
            <a:r>
              <a:t>sensitivity.csv: 1,496 rows (DRC and TRC). Warm-start finding: docs Stage 11.4 (line 1057), "Why a warm</a:t>
            </a:r>
          </a:p>
          <a:p>
            <a:r>
              <a:t>start failed". R0 = #0 and the molecular adsorption #1 H2(1) + vacantX(8) &lt;=&gt; [H][H].[Pt](34) (run.log l. 6-7).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analyses/rate_control.py: trc_species (lines 49-53: the empty site, H*, H2* and every species with coverage</a:t>
            </a:r>
          </a:p>
          <a:p>
            <a:r>
              <a:t>&gt;= trc_min_coverage = 1e-3 at the base), trc_multipliers (56-60: each reaction with the species as a reactant</a:t>
            </a:r>
          </a:p>
          <a:p>
            <a:r>
              <a:t>x exp(nu' dG / RT), so the transition state stays where it was), run (63-141: X = (ln r+ - ln r-) / span,</a:t>
            </a:r>
          </a:p>
          <a:p>
            <a:r>
              <a:t>span = -2 trc_delta / RT, trc_delta = 1e6 J/kmol = 1 kJ/mol), _trc_page (185-210).</a:t>
            </a:r>
          </a:p>
          <a:p>
            <a:r>
              <a:t>The enthalpy shift: model.py new_surface (lines 185-211): a6 of both NASA7 ranges += dh/R (h0 for constant cp),</a:t>
            </a:r>
          </a:p>
          <a:p>
            <a:r>
              <a:t>then modify_species. Settings: config.py rate_control (line 112). Docs: Stage 11.4 (line 1057), the</a:t>
            </a:r>
          </a:p>
          <a:p>
            <a:r>
              <a:t>reading X_TRC,i ≈ -n θ_i with n = 2 for R0; why a 1 kJ/mol shift is safe, unlike editing thermo in place</a:t>
            </a:r>
          </a:p>
          <a:p>
            <a:r>
              <a:t>(Stage 10.5). The energy diagram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analyses/paths.py: default_conditions (lines 22-24: every case at every point of the series), raw_dot</a:t>
            </a:r>
          </a:p>
          <a:p>
            <a:r>
              <a:t>(137-158: common.load_state, ct.ReactionPathDiagram(surf, element), threshold, flow_type; amounts = coverage</a:t>
            </a:r>
          </a:p>
          <a:p>
            <a:r>
              <a:t>or mole fraction), style_dot (75-134), render (161-171: Graphviz dot), diagram (174-183), run (186-203:</a:t>
            </a:r>
          </a:p>
          <a:p>
            <a:r>
              <a:t>elements None = those of the probe gas). Settings: config.py paths (line 121): threshold 1e-8, flow_type</a:t>
            </a:r>
          </a:p>
          <a:p>
            <a:r>
              <a:t>"OneWayFlow", style "rmg", species_images None = species/ next to settings.py, edge_labels True.</a:t>
            </a:r>
          </a:p>
          <a:p>
            <a:r>
              <a:t>runs/try_2/Cu run.log line 10171: structure images from runs/try_2/Cu/species; output/reaction_paths holds 144</a:t>
            </a:r>
          </a:p>
          <a:p>
            <a:r>
              <a:t>files = 72 diagrams x (.dot, .png), path_H_&lt;case&gt;_&lt;T&gt;K_&lt;P&gt;bar_OneWayFlow. The "Scale" under each diagram</a:t>
            </a:r>
          </a:p>
          <a:p>
            <a:r>
              <a:t>is the largest flux in kmol m-2 s-1. Docs: Stage 11.5 (line 1096). The diagram on the slide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analyses/transients.py: times (lines 24-27: logspace from t_start 1e-9 to t_stop 1e8 s, per_decade 4: 69</a:t>
            </a:r>
          </a:p>
          <a:p>
            <a:r>
              <a:t>times), run_transient (30-56: set_state, solver.fixed_gas_reactor with the gas multiplier 0, tof0 at t = 0</a:t>
            </a:r>
          </a:p>
          <a:p>
            <a:r>
              <a:t>before integration, then net.advance through the times), crossing_time (59-69), settle_time (72-79: within</a:t>
            </a:r>
          </a:p>
          <a:p>
            <a:r>
              <a:t>10 % of the final value), reference_start (82-94: the reference steady state of the main run at the point),</a:t>
            </a:r>
          </a:p>
          <a:p>
            <a:r>
              <a:t>run (97-150: poisoning_over_time.csv with t_half_s, t_tenth_s, min_over_t0, t_min_s, end_over_t0,</a:t>
            </a:r>
          </a:p>
          <a:p>
            <a:r>
              <a:t>t_settle_s), plot_poisoning_over_time (153-206: one figure per point, at most 4 impurities each: _1, _2).</a:t>
            </a:r>
          </a:p>
          <a:p>
            <a:r>
              <a:t>Settings: config.py transients (line 136): ratios [1e-6, 1e-4, 1e-2, 0.25], impurities None = each one.</a:t>
            </a:r>
          </a:p>
          <a:p>
            <a:r>
              <a:t>runs/try_2/Cu check (run.log line 8728): transients, 8 points, 224 = 8 x 7 x 4; poisoning_over_time.csv 224 rows.</a:t>
            </a:r>
          </a:p>
          <a:p>
            <a:r>
              <a:t>Precision: docs Stage 11.6 (line 1116), "Precision of the times". The curve is a layout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run.sh: usage lines 2-19; run folders or settings files first (26-36: a folder needs settings.py, so an RMG</a:t>
            </a:r>
          </a:p>
          <a:p>
            <a:r>
              <a:t>input.py is refused), then check, status or report (38-41, default run), then the options for every run.</a:t>
            </a:r>
          </a:p>
          <a:p>
            <a:r>
              <a:t>PYTHON defaults to the rmg4.0 env (43-44); one thread per worker (47); caffeinate -dims for run only (53-56,</a:t>
            </a:r>
          </a:p>
          <a:p>
            <a:r>
              <a:t>slide 38); Ctrl-C stops every run (58-60); each run is teed to &lt;run folder&gt;/run.log (64-80); "N of M runs OK"</a:t>
            </a:r>
          </a:p>
          <a:p>
            <a:r>
              <a:t>with several runs (82-87); the exit status is that of the last failed run.</a:t>
            </a:r>
          </a:p>
          <a:p>
            <a:r>
              <a:t>cli.py: cmd_check (lines 26-59: the conditions and analyses.plan counts; nothing solved), cmd_run (62-69:</a:t>
            </a:r>
          </a:p>
          <a:p>
            <a:r>
              <a:t>unknown analysis names refused), cmd_report (72-74), cmd_status (77-97), main (100-125: --only, --workers,</a:t>
            </a:r>
          </a:p>
          <a:p>
            <a:r>
              <a:t>--timeout, --recompute, --no-report; report --tex-only). status on try_2/Cu (2026-10-20, read-only, 8 min</a:t>
            </a:r>
          </a:p>
          <a:p>
            <a:r>
              <a:t>to open 4,679 cached files): 0 not converged in each of the 5 caches.</a:t>
            </a:r>
          </a:p>
          <a:p>
            <a:r>
              <a:t>analyses/__init__.py run (lines 14-40): analyses always run in ANALYSIS_ORDER; the report only after the</a:t>
            </a:r>
          </a:p>
          <a:p>
            <a:r>
              <a:t>full list (line 37), so --only skips it; build_report (43-53) logs a failed report instead of raising.</a:t>
            </a:r>
          </a:p>
          <a:p>
            <a:r>
              <a:t>Docs: "Running an analysis" (line 1159).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and sizes of runs/try_2/Cu/output (ls and du, 2026-10-20): 21 .csv, 61 .png and 61 .pdf in the folder itself;</a:t>
            </a:r>
          </a:p>
          <a:p>
            <a:r>
              <a:t>reaction_paths/ 144 files (72 diagrams x .dot, .png), 23 MB; report/ try_2_Cu_report.pdf, .tex and</a:t>
            </a:r>
          </a:p>
          <a:p>
            <a:r>
              <a:t>settings_listing.py, 21 MB; caches 9.1 MB + 12 MB + 2.6 MB + 0.3 MB + 24 kB; 94 MB in all.</a:t>
            </a:r>
          </a:p>
          <a:p>
            <a:r>
              <a:t>cache/ 1,326 = 72 main + 680 curves + 108 sweep + 162 pressure sweep + 304 orders; cache_sensitivity/</a:t>
            </a:r>
          </a:p>
          <a:p>
            <a:r>
              <a:t>3,056 = 64 base + 2,992 perturbed; cache_transients/ 224; cache_convergence/ 1 trace.</a:t>
            </a:r>
          </a:p>
          <a:p>
            <a:r>
              <a:t>cache_diagnostics/: 72 files switch_off_H_H_._Pt_34_&lt;case&gt;_&lt;T&gt;_K_&lt;P&gt;_bar_&lt;hash&gt;.pkl, all dated 2026-10-13</a:t>
            </a:r>
          </a:p>
          <a:p>
            <a:r>
              <a:t>20:34, from the old default that switched off the molecular adsorbate [H][H].[Pt](34); settings.py now has</a:t>
            </a:r>
          </a:p>
          <a:p>
            <a:r>
              <a:t>'switch_off': [] (line 75), so diagnostics solves nothing and the files are unused (a cache hit if the</a:t>
            </a:r>
          </a:p>
          <a:p>
            <a:r>
              <a:t>what-if ['[H][H].[Pt](34)'] is set again with the same mechanism and solver settings).</a:t>
            </a:r>
          </a:p>
          <a:p>
            <a:r>
              <a:t>File names: runner.py cache_path (lines 42-45). Docs: Appendix C, Output files (line 1600).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report.py: write_tex (lines 1621-1639: title page, contents, run summary, one section per analysis with</a:t>
            </a:r>
          </a:p>
          <a:p>
            <a:r>
              <a:t>outputs, in ANALYSIS_ORDER, and the appendices), Report.section (442-475: Goal, the parts, "How to read the</a:t>
            </a:r>
          </a:p>
          <a:p>
            <a:r>
              <a:t>tables" from column_list 438-440, "How to read the figures" from how_to_read 424-436: per panel what it</a:t>
            </a:r>
          </a:p>
          <a:p>
            <a:r>
              <a:t>shows, how to read it, and trend =&gt; meaning), title_page (574-603: run, settings, output folder, mechanism</a:t>
            </a:r>
          </a:p>
          <a:p>
            <a:r>
              <a:t>and its SHA-256, the catalyst from input.py, build time, package commit, Cantera version), run_summary</a:t>
            </a:r>
          </a:p>
          <a:p>
            <a:r>
              <a:t>(604-726: the system, conditions, analyses, settings that differ from the defaults, mechanism warnings,</a:t>
            </a:r>
          </a:p>
          <a:p>
            <a:r>
              <a:t>convergence), build (1641-1670: latexmk -pdf, 900 s limit; ReportError with the LaTeX errors).</a:t>
            </a:r>
          </a:p>
          <a:p>
            <a:r>
              <a:t>The texts of every section: report_text.py SECTIONS (title, goal, columns, figure specs).</a:t>
            </a:r>
          </a:p>
          <a:p>
            <a:r>
              <a:t>Settings: config.py REPORT_DEFAULTS (lines 42-48): enabled True, max_rows 60, path_diagrams</a:t>
            </a:r>
          </a:p>
          <a:p>
            <a:r>
              <a:t>'reference+appendix', latexmk None = on PATH or /Library/TeX/texbin.</a:t>
            </a:r>
          </a:p>
          <a:p>
            <a:r>
              <a:t>runs/try_2/Cu/output/report/try_2_Cu_report.pdf: 133 pages, "H2 on Cu111: surface kinetics report", built</a:t>
            </a:r>
          </a:p>
          <a:p>
            <a:r>
              <a:t>2026-10-15 23:49, after the last report.py commit (7d4ac3f, 22:09). Its sections are listed from the .tex</a:t>
            </a:r>
          </a:p>
          <a:p>
            <a:r>
              <a:t>(no diagnostics section: switch_off = []). Docs: "The run report" (line 1333).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 section 1.4 "Model assumptions and limits" (simulation_workflow.md line 173): mean field, ideal surface,</a:t>
            </a:r>
          </a:p>
          <a:p>
            <a:r>
              <a:t>isothermal, intrinsic kinetics, fixed gas means negligible conversion, parameters as given, Cantera's site</a:t>
            </a:r>
          </a:p>
          <a:p>
            <a:r>
              <a:t>counting (section 2.1).</a:t>
            </a:r>
          </a:p>
          <a:p>
            <a:r>
              <a:t>For try_2/Cu: grep "coverage-dependencies" finds 0 in each of the 12 runs/try_*/*/chem_annotated.yaml.</a:t>
            </a:r>
          </a:p>
          <a:p>
            <a:r>
              <a:t>Site density: runs/try_2/Cu/chem_annotated.yaml line 42 (site-density 2.943e-05, mol/m2 as on slide 9). Energy off:</a:t>
            </a:r>
          </a:p>
          <a:p>
            <a:r>
              <a:t>solver.py fixed_gas_reactor (lines 98-107, IdealGasReactor energy="off") and analyses/flux.py simulate.</a:t>
            </a:r>
          </a:p>
          <a:p>
            <a:r>
              <a:t>Fixed gas: config.py reactor_area_per_volume 1e-10 m2 per m3 (line 22), gas multiplier 0 (slide 5).</a:t>
            </a:r>
          </a:p>
          <a:p>
            <a:r>
              <a:t>Provenance: slide 47 (chem_annotated.yaml notes). Site counting: slide 13; Π with f: slide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implemented in the package (no flow-reactor, ramp, uncertainty or lateral-interaction code in</a:t>
            </a:r>
          </a:p>
          <a:p>
            <a:r>
              <a:t>hydrogen_surface_kinetics/).</a:t>
            </a:r>
          </a:p>
          <a:p>
            <a:r>
              <a:t>Flow reactor: docs section 1.2 (line 108): the fixed gas represents a differential reactor or the inlet of</a:t>
            </a:r>
          </a:p>
          <a:p>
            <a:r>
              <a:t>a flow reactor; section 1.4: fixed gas means negligible conversion.</a:t>
            </a:r>
          </a:p>
          <a:p>
            <a:r>
              <a:t>TPD: would reuse transients.run_transient (lines 30-56: set_state, fixed_gas_reactor, net.advance) with T</a:t>
            </a:r>
          </a:p>
          <a:p>
            <a:r>
              <a:t>stepped in time and the gas emptied; compare peak temperatures with the binding check of Stage 10.1.</a:t>
            </a:r>
          </a:p>
          <a:p>
            <a:r>
              <a:t>Uncertainty: Stage 10 judges parameters but propagates nothing; sensitivity.csv (Stage 11.4) ranks reactions</a:t>
            </a:r>
          </a:p>
          <a:p>
            <a:r>
              <a:t>(DRC) and species (TRC).</a:t>
            </a:r>
          </a:p>
          <a:p>
            <a:r>
              <a:t>Coverage effects: docs section 1.4 (lateral interactions only through coverage-dependent parameters) and</a:t>
            </a:r>
          </a:p>
          <a:p>
            <a:r>
              <a:t>section 2.2 (line 249: Cantera applies them if the YAML has them); none of the 12 YAMLs has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from runs/try_*/*/run.log and output/report/ on 2026-10-20:</a:t>
            </a:r>
          </a:p>
          <a:p>
            <a:r>
              <a:t>Cu: reports built 2026-10-15 23:49 (try_2, 133 pages), 10-16 00:05 (try_3, 134), 10-15 22:07 (try_4, 139),</a:t>
            </a:r>
          </a:p>
          <a:p>
            <a:r>
              <a:t>10-16 00:21 (try_5, 134). The update batch "bash run.sh runs/try_2/Cu runs/try_3/Cu runs/try_4/Cu</a:t>
            </a:r>
          </a:p>
          <a:p>
            <a:r>
              <a:t>runs/try_5/Cu" started 2026-10-18 23:02:07 is stopped (ps state T, 0.1 s CPU in 37 h): resume it with fg in</a:t>
            </a:r>
          </a:p>
          <a:p>
            <a:r>
              <a:t>its terminal. try_2/Ni: exit 0 on 2026-10-18 21:54, report 136 pages.</a:t>
            </a:r>
          </a:p>
          <a:p>
            <a:r>
              <a:t>try_2/Fe: running since 2026-10-18 23:02:20; at curves 636/680 on 2026-10-20 (one TIMEOUT after 1800 s).</a:t>
            </a:r>
          </a:p>
          <a:p>
            <a:r>
              <a:t>try_3/Fe, try_4/Fe, try_5/Fe (2026-10-15) and try_5/Ni (2026-10-18): exit 1 at load, CanteraError from</a:t>
            </a:r>
          </a:p>
          <a:p>
            <a:r>
              <a:t>PlogRate::validate: "Invalid rate coefficient for reaction C2H3(145) + CH2O(83) &lt;=&gt; C2H4(12) + HCO(89)" (try_3/Fe,</a:t>
            </a:r>
          </a:p>
          <a:p>
            <a:r>
              <a:t>chem_annotated.yaml line 4659; try_5/Ni: C2H3(156) + CH2O(94) &lt;=&gt; C2H4(12) + HCO(100), line 3825). RMG's own</a:t>
            </a:r>
          </a:p>
          <a:p>
            <a:r>
              <a:t>Cantera check flagged the same reaction (Surface-Impurity-Effect commits 19b3ebb and 76d0cf1).</a:t>
            </a:r>
          </a:p>
          <a:p>
            <a:r>
              <a:t>try_3/Ni and try_4/Ni (2026-10-18): exit 137 (killed) 3.5 and 2.7 min after starting, before the model summary;</a:t>
            </a:r>
          </a:p>
          <a:p>
            <a:r>
              <a:t>the system log shows no memory kill. Sizes: surface reactions from each YAML (surface-reactions list); gas</a:t>
            </a:r>
          </a:p>
          <a:p>
            <a:r>
              <a:t>reactions 17,430 and 28,532. All 12 settings.py use the same 8 points (temperatures, pressures,</a:t>
            </a:r>
          </a:p>
          <a:p>
            <a:r>
              <a:t>pressure_temperatures).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for runs/try_2/Cu: input.py 15 reactors at 650-1200 K (slide 6); chem_annotated.yaml 71 surface species and</a:t>
            </a:r>
          </a:p>
          <a:p>
            <a:r>
              <a:t>1,395 surface reactions (slide 9); 7 impurities (slide 21); 72 main conditions (slide 27); two starts and the</a:t>
            </a:r>
          </a:p>
          <a:p>
            <a:r>
              <a:t>fingerprint cache (slides 36-38); Format 2 (slide 18); Stage 10 not set for Cu (slides 44-46).</a:t>
            </a:r>
          </a:p>
          <a:p>
            <a:r>
              <a:t>Stage 11: curves 680 + sweep 108 + pressure sweep 162 + orders 304 + rate control 3,056 + transients 224 =</a:t>
            </a:r>
          </a:p>
          <a:p>
            <a:r>
              <a:t>4,534 solves (arrhenius, equilibrium and paths solve nothing); with the 72 main ones, 4,606 saved solves =</a:t>
            </a:r>
          </a:p>
          <a:p>
            <a:r>
              <a:t>cache/ 1,326 + cache_sensitivity/ 3,056 + cache_transients/ 224; status: 0 not converged.</a:t>
            </a:r>
          </a:p>
          <a:p>
            <a:r>
              <a:t>Stage 2 is optional and not run for any try_* mechanism (slide 24). 21 tables and 61 figures in output/,</a:t>
            </a:r>
          </a:p>
          <a:p>
            <a:r>
              <a:t>report 133 pages (slides 60-61).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HYDROGEN-SURFACE-KINETICS · HOW THE WORKFLOW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3400" b="0" i="0">
                <a:solidFill>
                  <a:srgbClr val="1F2328"/>
                </a:solidFill>
                <a:latin typeface="Cambria"/>
              </a:rPr>
              <a:t>From an RMG mechanism to H₂ kinetics on Cu(111)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200" b="0" i="0">
                <a:solidFill>
                  <a:srgbClr val="4E5661"/>
                </a:solidFill>
                <a:latin typeface="Calibri"/>
              </a:rPr>
              <a:t>What each step of the workflow does, and why. Running example: try_2/Cu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800600"/>
            <a:ext cx="10204704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Cu(111)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9344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76272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77056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43984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10912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78624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5552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46336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80192" y="43708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199" y="43708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3310127" y="43708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Oval 20"/>
          <p:cNvSpPr/>
          <p:nvPr/>
        </p:nvSpPr>
        <p:spPr>
          <a:xfrm>
            <a:off x="6711696" y="437083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22" name="Oval 21"/>
          <p:cNvSpPr/>
          <p:nvPr/>
        </p:nvSpPr>
        <p:spPr>
          <a:xfrm>
            <a:off x="8979408" y="43708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3" name="Oval 22"/>
          <p:cNvSpPr/>
          <p:nvPr/>
        </p:nvSpPr>
        <p:spPr>
          <a:xfrm>
            <a:off x="10113264" y="4370832"/>
            <a:ext cx="402336" cy="402336"/>
          </a:xfrm>
          <a:prstGeom prst="ellipse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24" name="Oval 23"/>
          <p:cNvSpPr/>
          <p:nvPr/>
        </p:nvSpPr>
        <p:spPr>
          <a:xfrm>
            <a:off x="5182819" y="3081527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5" name="Oval 24"/>
          <p:cNvSpPr/>
          <p:nvPr/>
        </p:nvSpPr>
        <p:spPr>
          <a:xfrm>
            <a:off x="5479084" y="3081527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95544" y="3474720"/>
            <a:ext cx="0" cy="749808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497787" y="3355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Oval 27"/>
          <p:cNvSpPr/>
          <p:nvPr/>
        </p:nvSpPr>
        <p:spPr>
          <a:xfrm>
            <a:off x="1794052" y="3355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127248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22992" y="3264408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4E5661"/>
                </a:solidFill>
                <a:latin typeface="Calibri"/>
              </a:rPr>
              <a:t>Azeez Akinyemi · October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alibri"/>
              </a:rPr>
              <a:t>Built from docs/simulation_workflow.md, runs/try_2/Cu (RMG input.py, chem_annotated.yaml, settings.py) and the package Hydrogen-Surface-kinetics (commit 51f05c2)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A · THE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 question: do gas impurities slow H₂ splitting on copper?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H₂ needs two empty neighbouring sites to split. Anything sitting on the surface can take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H₂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69080"/>
            <a:ext cx="4535424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Cu(111)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6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09344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76272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199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0127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10912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77056" y="363931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Oval 17"/>
          <p:cNvSpPr/>
          <p:nvPr/>
        </p:nvSpPr>
        <p:spPr>
          <a:xfrm>
            <a:off x="4443984" y="363931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9" name="Oval 18"/>
          <p:cNvSpPr/>
          <p:nvPr/>
        </p:nvSpPr>
        <p:spPr>
          <a:xfrm>
            <a:off x="2348179" y="223113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2644444" y="223113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60904" y="2606040"/>
            <a:ext cx="0" cy="923544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9504" y="2697480"/>
            <a:ext cx="2651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lands on two empty neighbours and splits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5" y="4443984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H∗ + H∗ from an earlier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1517904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H₂ with an impurity, here 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2552" y="4069080"/>
            <a:ext cx="4535424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Cu(111)</a:t>
            </a:r>
          </a:p>
        </p:txBody>
      </p:sp>
      <p:sp>
        <p:nvSpPr>
          <p:cNvPr id="27" name="Oval 26"/>
          <p:cNvSpPr/>
          <p:nvPr/>
        </p:nvSpPr>
        <p:spPr>
          <a:xfrm>
            <a:off x="7351775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85632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19488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53344" y="36393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84848" y="363931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Oval 31"/>
          <p:cNvSpPr/>
          <p:nvPr/>
        </p:nvSpPr>
        <p:spPr>
          <a:xfrm>
            <a:off x="7918704" y="363931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3" name="Oval 32"/>
          <p:cNvSpPr/>
          <p:nvPr/>
        </p:nvSpPr>
        <p:spPr>
          <a:xfrm>
            <a:off x="9052560" y="363931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4" name="Oval 33"/>
          <p:cNvSpPr/>
          <p:nvPr/>
        </p:nvSpPr>
        <p:spPr>
          <a:xfrm>
            <a:off x="10186415" y="363931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5" name="Oval 34"/>
          <p:cNvSpPr/>
          <p:nvPr/>
        </p:nvSpPr>
        <p:spPr>
          <a:xfrm>
            <a:off x="8657539" y="223113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6" name="Oval 35"/>
          <p:cNvSpPr/>
          <p:nvPr/>
        </p:nvSpPr>
        <p:spPr>
          <a:xfrm>
            <a:off x="8953804" y="223113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70264" y="2606040"/>
            <a:ext cx="0" cy="521208"/>
          </a:xfrm>
          <a:prstGeom prst="line">
            <a:avLst/>
          </a:prstGeom>
          <a:ln w="25400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69096" y="3154680"/>
            <a:ext cx="402336" cy="0"/>
          </a:xfrm>
          <a:prstGeom prst="line">
            <a:avLst/>
          </a:prstGeom>
          <a:ln w="381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244584" y="2852928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no two empty neighbours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24344" y="2075688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50424" y="2350008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3136" y="4443984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CO∗ holds every other 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983480"/>
            <a:ext cx="11185855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600" b="0" i="0">
                <a:solidFill>
                  <a:srgbClr val="1F2328"/>
                </a:solidFill>
                <a:latin typeface="Calibri"/>
              </a:rPr>
              <a:t>R0 in the mechanism:  H₂ + 2 ∗ ⇌ 2 H∗      written there as  </a:t>
            </a:r>
            <a:r>
              <a:rPr sz="1600" b="0" i="0">
                <a:solidFill>
                  <a:srgbClr val="1F2328"/>
                </a:solidFill>
                <a:latin typeface="Courier New"/>
              </a:rPr>
              <a:t>H2(1) + 2 vacantX(8) &lt;=&gt; 2 [PtH](33)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An H₂ molecule from the gas lands on the surface.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To split, it needs two empty neighbouring sites.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An impurity such as CO sits on sites.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Fewer empty pairs means fewer splitting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A · THE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 workflow answers four questions about the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Each later stage exists to answer one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24328" cy="4572000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How fast does H₂ split?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86784"/>
            <a:ext cx="2350008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forward, reverse and net turnover frequency (TOF) of R0, per site, and the same per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50992"/>
            <a:ext cx="2350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4E5661"/>
                </a:solidFill>
                <a:latin typeface="Calibri"/>
              </a:rPr>
              <a:t>Stages 4–7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517904"/>
            <a:ext cx="2624328" cy="4572000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covers the surface?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986784"/>
            <a:ext cx="2350008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steady-state coverage θ of every surface species, and θ at equilibrium with the gas.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5650992"/>
            <a:ext cx="2350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4E5661"/>
                </a:solidFill>
                <a:latin typeface="Calibri"/>
              </a:rPr>
              <a:t>Stage 8 and 11.2c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17904"/>
            <a:ext cx="2624328" cy="4572000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do impurities 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986784"/>
            <a:ext cx="2350008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same numbers with each impurity, and whether lost empty sites explain the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650992"/>
            <a:ext cx="2350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4E5661"/>
                </a:solidFill>
                <a:latin typeface="Calibri"/>
              </a:rPr>
              <a:t>Stages 7 and 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517904"/>
            <a:ext cx="2624328" cy="4572000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Can it be trusted?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3986784"/>
            <a:ext cx="2350008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Where each number in the mechanism came from, and whether conclusions survive a what-if.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5650992"/>
            <a:ext cx="2350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4E5661"/>
                </a:solidFill>
                <a:latin typeface="Calibri"/>
              </a:rPr>
              <a:t>Stage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" y="3008376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" y="26517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6464" y="26517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83664" y="26517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40864" y="26517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59052" y="196596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0" name="Oval 29"/>
          <p:cNvSpPr/>
          <p:nvPr/>
        </p:nvSpPr>
        <p:spPr>
          <a:xfrm>
            <a:off x="1805940" y="196596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19656" y="2286000"/>
            <a:ext cx="0" cy="301752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3364992"/>
            <a:ext cx="2350008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per site: events per second</a:t>
            </a:r>
          </a:p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per area: mol H₂ m⁻² s⁻¹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0168" y="1993391"/>
            <a:ext cx="2240280" cy="1177254"/>
          </a:xfrm>
          <a:prstGeom prst="roundRect">
            <a:avLst>
              <a:gd name="adj" fmla="val 7767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23944" y="2103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76088" y="2103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31920" y="24357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00016" y="24357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84064" y="24357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23944" y="276831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92040" y="276831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76088" y="276831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39896" y="2103120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3" name="Oval 42"/>
          <p:cNvSpPr/>
          <p:nvPr/>
        </p:nvSpPr>
        <p:spPr>
          <a:xfrm>
            <a:off x="4507992" y="2103120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4" name="Oval 43"/>
          <p:cNvSpPr/>
          <p:nvPr/>
        </p:nvSpPr>
        <p:spPr>
          <a:xfrm>
            <a:off x="4892040" y="2103120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5" name="Oval 44"/>
          <p:cNvSpPr/>
          <p:nvPr/>
        </p:nvSpPr>
        <p:spPr>
          <a:xfrm>
            <a:off x="4315968" y="2435715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6" name="Oval 45"/>
          <p:cNvSpPr/>
          <p:nvPr/>
        </p:nvSpPr>
        <p:spPr>
          <a:xfrm>
            <a:off x="5468112" y="2435715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7" name="Oval 46"/>
          <p:cNvSpPr/>
          <p:nvPr/>
        </p:nvSpPr>
        <p:spPr>
          <a:xfrm>
            <a:off x="3739896" y="2768310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8" name="Oval 47"/>
          <p:cNvSpPr/>
          <p:nvPr/>
        </p:nvSpPr>
        <p:spPr>
          <a:xfrm>
            <a:off x="4507992" y="2768310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93008" y="3364992"/>
            <a:ext cx="2350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θ = share of sites</a:t>
            </a:r>
          </a:p>
        </p:txBody>
      </p:sp>
      <p:sp>
        <p:nvSpPr>
          <p:cNvPr id="50" name="Oval 49"/>
          <p:cNvSpPr/>
          <p:nvPr/>
        </p:nvSpPr>
        <p:spPr>
          <a:xfrm>
            <a:off x="6702552" y="21945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31736" y="21945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37959" y="247964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96327" y="247964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73368" y="27647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02552" y="27647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73368" y="219456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57" name="Oval 56"/>
          <p:cNvSpPr/>
          <p:nvPr/>
        </p:nvSpPr>
        <p:spPr>
          <a:xfrm>
            <a:off x="6867144" y="2479641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58" name="Oval 57"/>
          <p:cNvSpPr/>
          <p:nvPr/>
        </p:nvSpPr>
        <p:spPr>
          <a:xfrm>
            <a:off x="7031736" y="2764723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498079" y="2617012"/>
            <a:ext cx="310896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348472" y="21945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183879" y="247964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90104" y="27647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690104" y="2194560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4" name="Oval 63"/>
          <p:cNvSpPr/>
          <p:nvPr/>
        </p:nvSpPr>
        <p:spPr>
          <a:xfrm>
            <a:off x="8019288" y="2194560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5" name="Oval 64"/>
          <p:cNvSpPr/>
          <p:nvPr/>
        </p:nvSpPr>
        <p:spPr>
          <a:xfrm>
            <a:off x="7854696" y="2479641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6" name="Oval 65"/>
          <p:cNvSpPr/>
          <p:nvPr/>
        </p:nvSpPr>
        <p:spPr>
          <a:xfrm>
            <a:off x="8513064" y="2479641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7" name="Oval 66"/>
          <p:cNvSpPr/>
          <p:nvPr/>
        </p:nvSpPr>
        <p:spPr>
          <a:xfrm>
            <a:off x="8019288" y="2764723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8" name="Oval 67"/>
          <p:cNvSpPr/>
          <p:nvPr/>
        </p:nvSpPr>
        <p:spPr>
          <a:xfrm>
            <a:off x="8348472" y="2764723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3364992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0375" y="3364992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with CO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44584" y="2011680"/>
            <a:ext cx="22585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Library reaction: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O2_dissociative_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adsorption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44584" y="2779776"/>
            <a:ext cx="22585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Template reaction: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Surface_Adsorption_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Dissociative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A · THE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The pipeline: RMG writes the mechanism, Cantera runs it, a report collects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Two branches share the first stages and meet again in the diagnostics.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RMG job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input.py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15 reactors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Exports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chem_annotated.yaml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, seed, species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5544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 0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check the files belong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 1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load in Cantera, name the roles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920240"/>
            <a:ext cx="36576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40680" y="1920240"/>
            <a:ext cx="36576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1920240"/>
            <a:ext cx="36576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cument 14"/>
          <p:cNvSpPr/>
          <p:nvPr/>
        </p:nvSpPr>
        <p:spPr>
          <a:xfrm>
            <a:off x="10424160" y="1554480"/>
            <a:ext cx="1261872" cy="777240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settings.py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roles, series,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analyses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0104120" y="1920240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9768" y="2743200"/>
            <a:ext cx="5605272" cy="1161288"/>
          </a:xfrm>
          <a:prstGeom prst="roundRect">
            <a:avLst>
              <a:gd name="adj" fmla="val 629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39312"/>
            <a:ext cx="54589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Branch B · steady state at fixed 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 3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two series: T and 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4015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Stages 4–6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solve, two starts, parallel, cached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Stages 7–9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rates per site and per area, coverages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 10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can it be trusted?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Stage 11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further analyses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852928"/>
            <a:ext cx="1636776" cy="731520"/>
          </a:xfrm>
          <a:prstGeom prst="roundRect">
            <a:avLst>
              <a:gd name="adj" fmla="val 10000"/>
            </a:avLst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Report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one PDF: every table and figure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39696" y="3218688"/>
            <a:ext cx="274319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50791" y="3218688"/>
            <a:ext cx="274321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61888" y="3218688"/>
            <a:ext cx="274319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72983" y="3218688"/>
            <a:ext cx="274321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84080" y="3218688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301752" y="2286000"/>
            <a:ext cx="8819388" cy="2240280"/>
          </a:xfrm>
          <a:custGeom>
            <a:avLst/>
            <a:gdLst/>
            <a:ahLst/>
            <a:cxnLst/>
            <a:rect l="l" t="t" r="r" b="b"/>
            <a:pathLst>
              <a:path w="8819388" h="2240280">
                <a:moveTo>
                  <a:pt x="8819388" y="0"/>
                </a:moveTo>
                <a:lnTo>
                  <a:pt x="8819388" y="228600"/>
                </a:lnTo>
                <a:lnTo>
                  <a:pt x="0" y="228600"/>
                </a:lnTo>
                <a:lnTo>
                  <a:pt x="0" y="2240280"/>
                </a:lnTo>
                <a:lnTo>
                  <a:pt x="265176" y="224028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321308" y="2514600"/>
            <a:ext cx="0" cy="33832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66928" y="4160520"/>
            <a:ext cx="37307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Branch A · Stage 2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(optional)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replay RMG's 15 reactors, draw flux diagrams</a:t>
            </a:r>
          </a:p>
        </p:txBody>
      </p:sp>
      <p:sp>
        <p:nvSpPr>
          <p:cNvPr id="33" name="Freeform 32"/>
          <p:cNvSpPr/>
          <p:nvPr/>
        </p:nvSpPr>
        <p:spPr>
          <a:xfrm>
            <a:off x="4297680" y="3584448"/>
            <a:ext cx="2756916" cy="941832"/>
          </a:xfrm>
          <a:custGeom>
            <a:avLst/>
            <a:gdLst/>
            <a:ahLst/>
            <a:cxnLst/>
            <a:rect l="l" t="t" r="r" b="b"/>
            <a:pathLst>
              <a:path w="2756916" h="941832">
                <a:moveTo>
                  <a:pt x="0" y="941832"/>
                </a:moveTo>
                <a:lnTo>
                  <a:pt x="2756916" y="941832"/>
                </a:lnTo>
                <a:lnTo>
                  <a:pt x="2756916" y="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82880" y="1920240"/>
            <a:ext cx="7415783" cy="3182112"/>
          </a:xfrm>
          <a:custGeom>
            <a:avLst/>
            <a:gdLst/>
            <a:ahLst/>
            <a:cxnLst/>
            <a:rect l="l" t="t" r="r" b="b"/>
            <a:pathLst>
              <a:path w="7415783" h="3182112">
                <a:moveTo>
                  <a:pt x="7415783" y="1664208"/>
                </a:moveTo>
                <a:lnTo>
                  <a:pt x="7415783" y="3182112"/>
                </a:lnTo>
                <a:lnTo>
                  <a:pt x="0" y="3182112"/>
                </a:lnTo>
                <a:lnTo>
                  <a:pt x="0" y="0"/>
                </a:lnTo>
                <a:lnTo>
                  <a:pt x="320040" y="0"/>
                </a:lnTo>
              </a:path>
            </a:pathLst>
          </a:custGeom>
          <a:noFill/>
          <a:ln w="19050">
            <a:solidFill>
              <a:srgbClr val="B7791F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138928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1">
                <a:solidFill>
                  <a:srgbClr val="B7791F"/>
                </a:solidFill>
                <a:latin typeface="Calibri"/>
              </a:rPr>
              <a:t>if not trustworthy: regenerate the mechanism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RMG builds the mechanism from its input.py.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Stages 0–1 check the files and load them, with the roles from settings.py.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Branch B solves the surface at fixed gas; branch A replays RMG's reactors.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Stage 10 judges, Stage 11 extends, and the report collects every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A · THE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Two ways to simulate: a closed box, or a gas that never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In a closed box the surface uses up the gas, so "the rate at 20 % CO" has no single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Closed batch reactor · Stage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4023360"/>
            <a:ext cx="1261872" cy="164592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" y="224028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36775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65176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36775" y="27889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30632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36775" y="320040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" y="34747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36775" y="3611879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1481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t = 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95144" y="3154680"/>
            <a:ext cx="1828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14600" y="205740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4328" y="4023360"/>
            <a:ext cx="1261872" cy="164592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60904" y="224028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4136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60904" y="265176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27889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0904" y="30632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4136" y="320040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334256"/>
            <a:ext cx="1481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later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32504" y="3154680"/>
            <a:ext cx="182879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51959" y="205740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61688" y="4023360"/>
            <a:ext cx="1261872" cy="164592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98264" y="224028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11496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8264" y="265176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11496" y="27889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4334256"/>
            <a:ext cx="1481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much 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736592"/>
            <a:ext cx="51206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gas and the surface both change: H₂ is used 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Fixed gas · Stages 3–11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205740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65976" y="228600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97496" y="221284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29015" y="23317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94576" y="27889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71816" y="272491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03336" y="288036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0256" y="32918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51775" y="324612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9015" y="338328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0296" y="3749039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17536" y="3767327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16952" y="4133087"/>
            <a:ext cx="365760" cy="91440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343400"/>
            <a:ext cx="2606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gas held at T, P, x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89720" y="3154680"/>
            <a:ext cx="36576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628632" y="2404872"/>
            <a:ext cx="1938528" cy="1227218"/>
          </a:xfrm>
          <a:prstGeom prst="roundRect">
            <a:avLst>
              <a:gd name="adj" fmla="val 745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738360" y="25146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3032" y="25146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41864" y="286303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146536" y="286303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38360" y="32114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3032" y="321146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40696" y="2514600"/>
            <a:ext cx="310896" cy="3108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5" name="Oval 64"/>
          <p:cNvSpPr/>
          <p:nvPr/>
        </p:nvSpPr>
        <p:spPr>
          <a:xfrm>
            <a:off x="10945368" y="2514600"/>
            <a:ext cx="310896" cy="3108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6" name="Oval 65"/>
          <p:cNvSpPr/>
          <p:nvPr/>
        </p:nvSpPr>
        <p:spPr>
          <a:xfrm>
            <a:off x="9939528" y="2863033"/>
            <a:ext cx="310896" cy="31089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7" name="Oval 66"/>
          <p:cNvSpPr/>
          <p:nvPr/>
        </p:nvSpPr>
        <p:spPr>
          <a:xfrm>
            <a:off x="10744200" y="2863033"/>
            <a:ext cx="310896" cy="3108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8" name="Oval 67"/>
          <p:cNvSpPr/>
          <p:nvPr/>
        </p:nvSpPr>
        <p:spPr>
          <a:xfrm>
            <a:off x="10140696" y="3211466"/>
            <a:ext cx="310896" cy="3108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9" name="Oval 68"/>
          <p:cNvSpPr/>
          <p:nvPr/>
        </p:nvSpPr>
        <p:spPr>
          <a:xfrm>
            <a:off x="10945368" y="3211466"/>
            <a:ext cx="310896" cy="31089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3703320"/>
            <a:ext cx="21945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only the surface evolves, to its steady state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28232" y="4736592"/>
            <a:ext cx="51206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Steady-state rates and coverages at exactly that gas.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 a closed box, adsorption uses up H₂: the gas drifts.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 "the rate at this impurity level" has no single value.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Holding T, P and the gas composition fixed leaves only the surface to change.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Its steady state gives the rate at exactly that 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B · RMG BUILDS 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76864" y="100584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RMG input.py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RMG starts from what input.py asks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catalyst, the starting molecules, the reactors to simulate, and when to stop.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24328" cy="3877056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Catalyst: Cu(111)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17904"/>
            <a:ext cx="2624328" cy="3877056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Starting molecules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517904"/>
            <a:ext cx="2624328" cy="3877056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15 reactors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517904"/>
            <a:ext cx="2624328" cy="3877056"/>
          </a:xfrm>
          <a:prstGeom prst="roundRect">
            <a:avLst>
              <a:gd name="adj" fmla="val 348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Limits and stopping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catalystProperties(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    metal="Cu111")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site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2377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2.943 × 10</a:t>
            </a:r>
            <a:r>
              <a:rPr sz="1600" b="1" i="0" baseline="30000">
                <a:solidFill>
                  <a:srgbClr val="1F2328"/>
                </a:solidFill>
                <a:latin typeface="Calibri"/>
              </a:rPr>
              <a:t>−9</a:t>
            </a:r>
            <a:r>
              <a:rPr sz="1600" b="1" i="0">
                <a:solidFill>
                  <a:srgbClr val="1F2328"/>
                </a:solidFill>
                <a:latin typeface="Calibri"/>
              </a:rPr>
              <a:t> mol/cm²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72384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binding energies, eV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34670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346704"/>
            <a:ext cx="1463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−2.584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675888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675888"/>
            <a:ext cx="1463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−4.960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005072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005072"/>
            <a:ext cx="1463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−3.584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334256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334256"/>
            <a:ext cx="1463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−4.208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81728"/>
            <a:ext cx="23774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From RMG's metal library; used to shift Pt(111) values to Cu(111).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1901952"/>
            <a:ext cx="2377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fed by the reactors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38728" y="21762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21762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38728" y="25603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81728" y="25603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38728" y="29443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81728" y="29443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38728" y="3328415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81728" y="3328415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NH₃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3730752"/>
            <a:ext cx="2377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listed, but no reactor feeds them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38728" y="40050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N₂O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81728" y="40050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C₂H₆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38728" y="4389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C₂H₄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81728" y="4389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C₂H₂</a:t>
            </a:r>
          </a:p>
        </p:txBody>
      </p:sp>
      <p:sp>
        <p:nvSpPr>
          <p:cNvPr id="43" name="Oval 42"/>
          <p:cNvSpPr/>
          <p:nvPr/>
        </p:nvSpPr>
        <p:spPr>
          <a:xfrm>
            <a:off x="3557015" y="4809744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2776" y="481888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vacantX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the empty site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1901952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 (bar):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07224" y="1901952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0.01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91272" y="1901952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901952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8504" y="219456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full mix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0375" y="2194560"/>
            <a:ext cx="310896" cy="310896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64423" y="2194560"/>
            <a:ext cx="310896" cy="310896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1" y="2194560"/>
            <a:ext cx="310896" cy="310896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256032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H₂ : CO = 8 :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0375" y="2560320"/>
            <a:ext cx="310896" cy="310896"/>
          </a:xfrm>
          <a:prstGeom prst="rect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64423" y="2560320"/>
            <a:ext cx="310896" cy="310896"/>
          </a:xfrm>
          <a:prstGeom prst="rect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48471" y="2560320"/>
            <a:ext cx="310896" cy="310896"/>
          </a:xfrm>
          <a:prstGeom prst="rect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8504" y="292608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H₂ : CO₂ = 8 :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0375" y="2926080"/>
            <a:ext cx="310896" cy="31089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64423" y="2926080"/>
            <a:ext cx="310896" cy="31089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48471" y="2926080"/>
            <a:ext cx="310896" cy="31089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18504" y="329184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H₂ : CH₄ = 9 :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0375" y="3291840"/>
            <a:ext cx="310896" cy="310896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64423" y="3291840"/>
            <a:ext cx="310896" cy="310896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8471" y="3291840"/>
            <a:ext cx="310896" cy="310896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8504" y="365760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H₂ : NH₃ = 9 :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0375" y="3657600"/>
            <a:ext cx="310896" cy="310896"/>
          </a:xfrm>
          <a:prstGeom prst="rect">
            <a:avLst/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64423" y="3657600"/>
            <a:ext cx="310896" cy="310896"/>
          </a:xfrm>
          <a:prstGeom prst="rect">
            <a:avLst/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48471" y="3657600"/>
            <a:ext cx="310896" cy="310896"/>
          </a:xfrm>
          <a:prstGeom prst="rect">
            <a:avLst/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8504" y="4087368"/>
            <a:ext cx="24231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Every reactor spans 650–1200 K, with 5 simulations each.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8504" y="4626864"/>
            <a:ext cx="24231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full mix = reactor 1: H₂ 190, H₂O 10, CO 1, N₂ 0.85, CH₄ 0.8, O₂ 0.15, NH₃ 0.1, CO₂ 0.05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1920240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≤ 2 C, O and N atoms, and ≤ 2 sites, per species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2487168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 surface singlet carbenes (forbidden)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98864" y="3054096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stop at 1000 s, or once 99 % of the H₂ is converted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98864" y="3621024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reaction families: surface and default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98864" y="4187952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thermo: the Pt(111) surface library and 3 gas libraries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98864" y="4754880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one reaction library: O₂ dissociative adsorption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Name the catalyst; RMG looks up its site density and binding energies.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List the molecules RMG starts from.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Define the 15 reactors RMG must simulate.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Limit species size and say when each simulation stops.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B · RMG BUILDS 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969" y="100584"/>
            <a:ext cx="1187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RMG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RMG grows the mechanism: react what it has, keep what carries flux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core is the mechanism. The edge holds candidates that have not earned a place yet.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3931920" cy="3154680"/>
          </a:xfrm>
          <a:prstGeom prst="ellipse">
            <a:avLst/>
          </a:prstGeom>
          <a:noFill/>
          <a:ln w="15875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3080" y="2286000"/>
            <a:ext cx="2194560" cy="1783080"/>
          </a:xfrm>
          <a:prstGeom prst="ellipse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1" i="0">
                <a:solidFill>
                  <a:srgbClr val="4E5661"/>
                </a:solidFill>
                <a:latin typeface="Calibri"/>
              </a:rPr>
              <a:t>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0824" y="26974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6664" y="26974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9384" y="31546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31546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23744" y="3593591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481328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4E5661"/>
                </a:solidFill>
                <a:latin typeface="Calibri"/>
              </a:rPr>
              <a:t>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1762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735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4233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1305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233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29992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new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67328" y="3154680"/>
            <a:ext cx="274320" cy="0"/>
          </a:xfrm>
          <a:prstGeom prst="line">
            <a:avLst/>
          </a:prstGeom>
          <a:ln w="317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5072" y="2761488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moves 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64608"/>
            <a:ext cx="5166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characteristic rate  R = √( Σ r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k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2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)  over the core species 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57276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1 · React the core species with each other, using the reaction families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25856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2 · New products go to the edge, not to the 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94436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3 · Simulate each reactor with the core reactions only,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5 temperatures in 650–1200 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0" y="2103120"/>
            <a:ext cx="0" cy="15544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12480" y="2788920"/>
            <a:ext cx="0" cy="15544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6720840" y="3639312"/>
            <a:ext cx="3383280" cy="98755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rate of an edge species &gt; 0.5 R 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0" y="3474720"/>
            <a:ext cx="0" cy="164592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87000" y="385876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move it into the core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20" y="4133087"/>
            <a:ext cx="1828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966960" y="3840480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36" name="Freeform 35"/>
          <p:cNvSpPr/>
          <p:nvPr/>
        </p:nvSpPr>
        <p:spPr>
          <a:xfrm>
            <a:off x="10515600" y="1837943"/>
            <a:ext cx="457200" cy="2020825"/>
          </a:xfrm>
          <a:custGeom>
            <a:avLst/>
            <a:gdLst/>
            <a:ahLst/>
            <a:cxnLst/>
            <a:rect l="l" t="t" r="r" b="b"/>
            <a:pathLst>
              <a:path w="457200" h="2020825">
                <a:moveTo>
                  <a:pt x="457200" y="2020825"/>
                </a:moveTo>
                <a:lnTo>
                  <a:pt x="4572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484632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no: done. The core is the mechanism: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111 species and 1,634 reactions.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0" y="4626864"/>
            <a:ext cx="0" cy="219456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503920" y="4590288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Apply reaction families to the core species.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New products land in the edge, not in the core.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Simulate the 15 reactors and compare each edge rate with 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Move species above 0.5 R into the core; repeat until none.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B · RMG BUILDS 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45598" y="100584"/>
            <a:ext cx="16431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chem_annotated.yaml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RMG estimates almost every number: only 2 of 1,634 reactions come from a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Rates come from reaction templates; adsorbate thermochemistry is borrowed from Pt(111) and shifted to Cu.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273552"/>
          </a:xfrm>
          <a:prstGeom prst="roundRect">
            <a:avLst>
              <a:gd name="adj" fmla="val 279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Rate constants of 1,634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914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4000" b="1" i="0">
                <a:solidFill>
                  <a:srgbClr val="1F2328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11680"/>
            <a:ext cx="43891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from the library O2_dissociative_adsorption: CO and O₂ adsorption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4630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4000" b="1" i="0">
                <a:solidFill>
                  <a:srgbClr val="1F2328"/>
                </a:solidFill>
                <a:latin typeface="Cambria"/>
              </a:rPr>
              <a:t>1,632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06624"/>
            <a:ext cx="35661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estimated from reaction templates and rate rules: 239 gas, 1,393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64992"/>
            <a:ext cx="5120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R0, H₂ + 2 ∗ ⇌ 2 H∗: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02736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Template reaction: Surface_Adsorption_Dissociative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5120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R1, H₂ + ∗ ⇌ H₂∗ (physisorbed H₂):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Template reaction: Surface_Adsorption_vdW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40680" cy="3273552"/>
          </a:xfrm>
          <a:prstGeom prst="roundRect">
            <a:avLst>
              <a:gd name="adj" fmla="val 279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Thermochemistry of 71 surface species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1965960"/>
            <a:ext cx="4281581" cy="420624"/>
          </a:xfrm>
          <a:prstGeom prst="rect">
            <a:avLst/>
          </a:prstGeom>
          <a:solidFill>
            <a:srgbClr val="8C93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55533" y="1965960"/>
            <a:ext cx="701898" cy="420624"/>
          </a:xfrm>
          <a:prstGeom prst="rect">
            <a:avLst/>
          </a:prstGeom>
          <a:solidFill>
            <a:srgbClr val="D0D4D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46888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8C939D"/>
                </a:solidFill>
                <a:latin typeface="Calibri"/>
              </a:rPr>
              <a:t>■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 61  from the Pt(111) surface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74320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D0D4DA"/>
                </a:solidFill>
                <a:latin typeface="Calibri"/>
              </a:rPr>
              <a:t>■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 10  gas-phase thermo plus an adsorption 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90672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All shifted to Cu(111), in kJ/mol per bond to the surface: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410712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401568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+16</a:t>
            </a:r>
          </a:p>
        </p:txBody>
      </p:sp>
      <p:sp>
        <p:nvSpPr>
          <p:cNvPr id="27" name="Oval 26"/>
          <p:cNvSpPr/>
          <p:nvPr/>
        </p:nvSpPr>
        <p:spPr>
          <a:xfrm>
            <a:off x="7763256" y="3410712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01568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+199</a:t>
            </a:r>
          </a:p>
        </p:txBody>
      </p:sp>
      <p:sp>
        <p:nvSpPr>
          <p:cNvPr id="29" name="Oval 28"/>
          <p:cNvSpPr/>
          <p:nvPr/>
        </p:nvSpPr>
        <p:spPr>
          <a:xfrm>
            <a:off x="9025128" y="3410712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401568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+101</a:t>
            </a:r>
          </a:p>
        </p:txBody>
      </p:sp>
      <p:sp>
        <p:nvSpPr>
          <p:cNvPr id="31" name="Oval 30"/>
          <p:cNvSpPr/>
          <p:nvPr/>
        </p:nvSpPr>
        <p:spPr>
          <a:xfrm>
            <a:off x="10286999" y="3410712"/>
            <a:ext cx="274320" cy="27432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3401568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−38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803904"/>
            <a:ext cx="5029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Cu binds C and N far more weakly than Pt, H a little more weakly, O more strongly.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297680"/>
            <a:ext cx="5029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No shift for the empty site and 17 physisorbed species.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882896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4360" y="4974336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4919472"/>
            <a:ext cx="10710367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R0 itself carries a nickel value: its rate matched RMG training reaction 1, "Deutschmann Ni" (A = 0.03, Ea = 5 kJ/mol, metal = Ni). Stage 10 checks the numbers that matter.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Use a library value when one exists.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Otherwise estimate the rate from templates and rate rules.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Take adsorbate thermo from Pt(111), or from the gas plus an adsorption estimate.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Shift it to Cu(111) with the binding energies.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B · RMG BUILDS 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45598" y="100584"/>
            <a:ext cx="16431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chem_annotated.yaml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What comes out: one YAML file with 111 species and 1,634 reactions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chem_annotated.yaml holds everything Cantera needs: phases, species and reactions.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24328" cy="1664208"/>
          </a:xfrm>
          <a:prstGeom prst="roundRect">
            <a:avLst>
              <a:gd name="adj" fmla="val 549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Gas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Calibri"/>
              </a:rPr>
              <a:t>40</a:t>
            </a:r>
            <a:r>
              <a:rPr sz="1800" b="0" i="0">
                <a:solidFill>
                  <a:srgbClr val="1F2328"/>
                </a:solidFill>
                <a:latin typeface="Calibri"/>
              </a:rPr>
              <a:t> species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Calibri"/>
              </a:rPr>
              <a:t>239</a:t>
            </a:r>
            <a:r>
              <a:rPr sz="1800" b="0" i="0">
                <a:solidFill>
                  <a:srgbClr val="1F2328"/>
                </a:solidFill>
                <a:latin typeface="Calibri"/>
              </a:rPr>
              <a:t> gas 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ideal gas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517904"/>
            <a:ext cx="2624328" cy="1664208"/>
          </a:xfrm>
          <a:prstGeom prst="roundRect">
            <a:avLst>
              <a:gd name="adj" fmla="val 549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Surface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883664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71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 species:</a:t>
            </a:r>
          </a:p>
          <a:p>
            <a:pPr algn="l"/>
            <a:r>
              <a:rPr sz="1500" b="0" i="0">
                <a:solidFill>
                  <a:srgbClr val="1F2328"/>
                </a:solidFill>
                <a:latin typeface="Calibri"/>
              </a:rPr>
              <a:t>53 one-site, 18 two-site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468880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1,395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 reactions:</a:t>
            </a:r>
          </a:p>
          <a:p>
            <a:pPr algn="l"/>
            <a:r>
              <a:rPr sz="1500" b="0" i="0">
                <a:solidFill>
                  <a:srgbClr val="1F2328"/>
                </a:solidFill>
                <a:latin typeface="Calibri"/>
              </a:rPr>
              <a:t>76 sticking, 1,319 Arrhenius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517904"/>
            <a:ext cx="2624328" cy="1664208"/>
          </a:xfrm>
          <a:prstGeom prst="roundRect">
            <a:avLst>
              <a:gd name="adj" fmla="val 549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Surface 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90195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site density 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176272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2.943 × 10</a:t>
            </a:r>
            <a:r>
              <a:rPr sz="1700" b="1" i="0" baseline="30000">
                <a:solidFill>
                  <a:srgbClr val="1F2328"/>
                </a:solidFill>
                <a:latin typeface="Calibri"/>
              </a:rPr>
              <a:t>−5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 mol/m²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578608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libri"/>
              </a:rPr>
              <a:t>= 2.943 × 10</a:t>
            </a:r>
            <a:r>
              <a:rPr sz="1500" b="0" i="0" baseline="30000">
                <a:solidFill>
                  <a:srgbClr val="1F2328"/>
                </a:solidFill>
                <a:latin typeface="Calibri"/>
              </a:rPr>
              <a:t>−8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 kmol/m²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517904"/>
            <a:ext cx="2624328" cy="1664208"/>
          </a:xfrm>
          <a:prstGeom prst="roundRect">
            <a:avLst>
              <a:gd name="adj" fmla="val 549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609344"/>
            <a:ext cx="23500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Also exported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1901952"/>
            <a:ext cx="23774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seed/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RMG's own copy of the core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468880"/>
            <a:ext cx="23774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species/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111 pictures (path diagrams)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10128"/>
            <a:ext cx="7086600" cy="1874519"/>
          </a:xfrm>
          <a:prstGeom prst="roundRect">
            <a:avLst>
              <a:gd name="adj" fmla="val 2926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64992"/>
            <a:ext cx="6903720" cy="17647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- equation: vacantX(8) + vacantX(8) + H2(1) &lt;=&gt; [PtH](33) + [PtH](33)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type: sticking-Arrhenius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sticking-coefficient: {A: 0.03, b: 0.0, Ea: 5000.0}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note: |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Reaction index: Chemkin #240; RMG #22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Template reaction: Surface_Adsorption_Dissociative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Flux pairs: H2(1), [PtH](33); vacantX(8), [PtH](33); …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Matched reaction 1 H2 + Ni_3 + Ni_4 &lt;=&gt; HX_3 + HX_4 in …/training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This reaction matched rate rule [H2;VacantSite1;VacantSite2]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662672" y="3483864"/>
            <a:ext cx="521207" cy="0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0" y="3346704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the reaction, as RMG wrote it (R0)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662672" y="3831336"/>
            <a:ext cx="521207" cy="18288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0" y="3694176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its rate: a sticking probability (J/mol)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662672" y="4178808"/>
            <a:ext cx="521207" cy="219456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0" y="4041648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where the number came from: a template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662672" y="4526280"/>
            <a:ext cx="521207" cy="54864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0" y="438912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species that swap atoms (used in Stage 2)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7662672" y="4764024"/>
            <a:ext cx="521207" cy="109728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0" y="4736592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B7791F"/>
                </a:solidFill>
                <a:latin typeface="Calibri"/>
              </a:rPr>
              <a:t>matched to training reaction 1, on Ni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gas phase lists 40 species and 239 gas reactions.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surface phase lists 71 adsorbates and the site density Γ.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Each species carries NASA polynomials for H, S and c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p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Each reaction carries its rate parameters and where they came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B · RMG BUILDS 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45598" y="100584"/>
            <a:ext cx="16431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chem_annotated.yaml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Reading RMG's names: X and [Pt] mean a surface site, even on copper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name is an RMG label plus its RMG index. SMILES-style labels write the site atom as Pt, whatever the metal.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1185855" cy="6400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H2(1)</a:t>
            </a:r>
          </a:p>
        </p:txBody>
      </p:sp>
      <p:sp>
        <p:nvSpPr>
          <p:cNvPr id="10" name="Oval 9"/>
          <p:cNvSpPr/>
          <p:nvPr/>
        </p:nvSpPr>
        <p:spPr>
          <a:xfrm>
            <a:off x="4842662" y="1746504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1" name="Oval 10"/>
          <p:cNvSpPr/>
          <p:nvPr/>
        </p:nvSpPr>
        <p:spPr>
          <a:xfrm>
            <a:off x="5106009" y="1746504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H₂ in the gas. (1) is its RMG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vacantX(8)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2688336"/>
            <a:ext cx="822960" cy="109728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74336" y="236829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212848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An empty surface site; vacantX is the label input.py gave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52928"/>
            <a:ext cx="11185855" cy="6400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52928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[PtH](33)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3328416"/>
            <a:ext cx="822960" cy="109728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74336" y="3008376"/>
            <a:ext cx="292608" cy="29260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852928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H on one site: H∗. The site atom is written Pt, even on Cu.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7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[H][H].[Pt](34)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3995927"/>
            <a:ext cx="822960" cy="91440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01768" y="3749039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29530" y="3529583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6" name="Oval 25"/>
          <p:cNvSpPr/>
          <p:nvPr/>
        </p:nvSpPr>
        <p:spPr>
          <a:xfrm>
            <a:off x="5110581" y="3529583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493007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H₂ resting on a site, not bonded to it (the dot): physisorbed H₂∗.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33087"/>
            <a:ext cx="11185855" cy="6400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33087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OCX(15)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4608575"/>
            <a:ext cx="822960" cy="109728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74336" y="4288536"/>
            <a:ext cx="292608" cy="29260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133087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CO bonded to one site. X is RMG’s symbol for a site.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73168"/>
            <a:ext cx="36576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ourier New"/>
              </a:rPr>
              <a:t>[Pt]N=N[Pt](57)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5248655"/>
            <a:ext cx="1097280" cy="109728"/>
          </a:xfrm>
          <a:prstGeom prst="rect">
            <a:avLst/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45736" y="4928616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773168"/>
            <a:ext cx="55778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N₂ bonded to two sites (two site atoms). keteneXX(434): XX means the same.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Drop the trailing (index) to get the base label.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X, or Pt in a SMILES label, marks a bond to a site.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dot means "on the site, but not bonded".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Two site marks mean the species takes two sites.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21493" y="100584"/>
            <a:ext cx="156728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model.py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Cantera loads two phases: the gas above and the sites below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Surface reactions connect them: adsorption takes gas, desorption gives it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6949440" cy="18288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91056"/>
            <a:ext cx="5486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gas phase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T, P and mole fractions x</a:t>
            </a:r>
          </a:p>
        </p:txBody>
      </p:sp>
      <p:sp>
        <p:nvSpPr>
          <p:cNvPr id="10" name="Oval 9"/>
          <p:cNvSpPr/>
          <p:nvPr/>
        </p:nvSpPr>
        <p:spPr>
          <a:xfrm>
            <a:off x="967435" y="2167127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1" name="Oval 10"/>
          <p:cNvSpPr/>
          <p:nvPr/>
        </p:nvSpPr>
        <p:spPr>
          <a:xfrm>
            <a:off x="1263700" y="2167127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Oval 11"/>
          <p:cNvSpPr/>
          <p:nvPr/>
        </p:nvSpPr>
        <p:spPr>
          <a:xfrm>
            <a:off x="2613355" y="24414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Oval 12"/>
          <p:cNvSpPr/>
          <p:nvPr/>
        </p:nvSpPr>
        <p:spPr>
          <a:xfrm>
            <a:off x="2909620" y="24414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4" name="Oval 13"/>
          <p:cNvSpPr/>
          <p:nvPr/>
        </p:nvSpPr>
        <p:spPr>
          <a:xfrm>
            <a:off x="4350715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Oval 14"/>
          <p:cNvSpPr/>
          <p:nvPr/>
        </p:nvSpPr>
        <p:spPr>
          <a:xfrm>
            <a:off x="4646980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6042355" y="25328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6338620" y="25328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2852927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898648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6803136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Cu(111)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89304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0088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57016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23944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7800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58584" y="41422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56231" y="41422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0" name="Oval 29"/>
          <p:cNvSpPr/>
          <p:nvPr/>
        </p:nvSpPr>
        <p:spPr>
          <a:xfrm>
            <a:off x="2423160" y="41422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1" name="Oval 30"/>
          <p:cNvSpPr/>
          <p:nvPr/>
        </p:nvSpPr>
        <p:spPr>
          <a:xfrm>
            <a:off x="4690872" y="4142232"/>
            <a:ext cx="402336" cy="402336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Oval 31"/>
          <p:cNvSpPr/>
          <p:nvPr/>
        </p:nvSpPr>
        <p:spPr>
          <a:xfrm>
            <a:off x="5824728" y="414223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01184"/>
            <a:ext cx="6766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surface phase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sites, each empty or held, with coverages θ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40864" y="2788920"/>
            <a:ext cx="585216" cy="1216152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25880" y="3429000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  <a:latin typeface="Calibri"/>
              </a:rPr>
              <a:t>adsorption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025896" y="2880360"/>
            <a:ext cx="329184" cy="1124712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352044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  <a:latin typeface="Calibri"/>
              </a:rPr>
              <a:t>desorption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1572768"/>
            <a:ext cx="3867912" cy="13716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1627632"/>
            <a:ext cx="3685032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self.gas = ct.Solution(path,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   self.cfg.gas_phase,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   transport_model=None)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self.surf = ct.Interface(path,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   self.cfg.surface_phase,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   [self.gas])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9718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model.py:166–167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364992"/>
            <a:ext cx="38679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Interface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the surface phase plus its reactions with the gas.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005072"/>
            <a:ext cx="38679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transport_model=None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a uniform gas needs no transport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4645152"/>
            <a:ext cx="38679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Phase names: "gas" and "surface", the settings defaults.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Load the gas phase: species, T, P and composition.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Load the surface phase, with the gas as its neighbour.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Surface reactions move species between the two phases.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Skip transport: nothing flows through space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A coverage is the share of sites a species holds; the shares add to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Ten sites, counted one by one. A species that sits on two sites counts twice.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47672"/>
            <a:ext cx="4581144" cy="1590528"/>
          </a:xfrm>
          <a:prstGeom prst="roundRect">
            <a:avLst>
              <a:gd name="adj" fmla="val 574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399" y="205740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205740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77010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2057400"/>
            <a:ext cx="658368" cy="65836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57400"/>
            <a:ext cx="1481328" cy="65836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14" name="Oval 13"/>
          <p:cNvSpPr/>
          <p:nvPr/>
        </p:nvSpPr>
        <p:spPr>
          <a:xfrm>
            <a:off x="1325879" y="2770104"/>
            <a:ext cx="658368" cy="65836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770104"/>
            <a:ext cx="1481328" cy="65836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16" name="Oval 15"/>
          <p:cNvSpPr/>
          <p:nvPr/>
        </p:nvSpPr>
        <p:spPr>
          <a:xfrm>
            <a:off x="3794760" y="2770104"/>
            <a:ext cx="658368" cy="65836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1">
                <a:solidFill>
                  <a:srgbClr val="4E5661"/>
                </a:solidFill>
                <a:latin typeface="Calibri"/>
              </a:rPr>
              <a:t>example surface with 10 sites (not a result)</a:t>
            </a:r>
          </a:p>
        </p:txBody>
      </p:sp>
      <p:sp>
        <p:nvSpPr>
          <p:cNvPr id="18" name="Oval 17"/>
          <p:cNvSpPr/>
          <p:nvPr/>
        </p:nvSpPr>
        <p:spPr>
          <a:xfrm>
            <a:off x="6163056" y="181965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828800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empty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8288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3 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801368"/>
            <a:ext cx="1463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0.3</a:t>
            </a:r>
          </a:p>
        </p:txBody>
      </p:sp>
      <p:sp>
        <p:nvSpPr>
          <p:cNvPr id="22" name="Oval 21"/>
          <p:cNvSpPr/>
          <p:nvPr/>
        </p:nvSpPr>
        <p:spPr>
          <a:xfrm>
            <a:off x="6163056" y="2423160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432303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H∗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32303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3 sites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404872"/>
            <a:ext cx="1463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H∗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0.3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79" y="3026664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35808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N₂∗∗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035808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2 molecules × 2 sites =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008376"/>
            <a:ext cx="1463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N₂∗∗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0.4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0" y="3639312"/>
            <a:ext cx="5532120" cy="0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03720" y="3703320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70332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libri"/>
              </a:rPr>
              <a:t>10 sites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685032"/>
            <a:ext cx="1463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Σ θ =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343400"/>
            <a:ext cx="11185855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20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(sites held by species k) / (all sites)          Σ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θ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1, empty sites included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 the sites each species holds.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Divide by the total number of sites.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Empty sites count too, so the shares add to 1.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two-site species such as N₂∗∗ counts twice.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Cantera counts entities, so two-site species make the surface look bigger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same ten sites hold 8 entities. Cantera sets those 8 to Γ, which implies 1.25 Γ sites.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901952"/>
            <a:ext cx="3995928" cy="1404061"/>
          </a:xfrm>
          <a:prstGeom prst="roundRect">
            <a:avLst>
              <a:gd name="adj" fmla="val 6512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39" y="2011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03703" y="2011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86784" y="2629357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90472" y="2011680"/>
            <a:ext cx="566928" cy="56692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6" y="20116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14" name="Oval 13"/>
          <p:cNvSpPr/>
          <p:nvPr/>
        </p:nvSpPr>
        <p:spPr>
          <a:xfrm>
            <a:off x="1133855" y="2629357"/>
            <a:ext cx="566928" cy="56692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2629357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16" name="Oval 15"/>
          <p:cNvSpPr/>
          <p:nvPr/>
        </p:nvSpPr>
        <p:spPr>
          <a:xfrm>
            <a:off x="3273552" y="2629357"/>
            <a:ext cx="566928" cy="566928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1207007" y="1874520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1920239" y="1874520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633471" y="1874520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3703320" y="1874520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563624" y="2492197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2633472" y="2492197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3703320" y="2492197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4416552" y="2492197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66160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8 entities: 3 empty sites, 3 H∗, 2 N₂∗∗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1783080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S = Σ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θ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/ σ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286000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   = 0.3 + 0.3 + 0.4 / 2 = 0.8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788920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f = 1 / S = 1.25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291840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C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f θ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1645920"/>
            <a:ext cx="3227832" cy="2468880"/>
          </a:xfrm>
          <a:prstGeom prst="roundRect">
            <a:avLst>
              <a:gd name="adj" fmla="val 370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1737360"/>
            <a:ext cx="29535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it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057400"/>
            <a:ext cx="297180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step that needs n empty sites runs f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n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times faster than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alone suggests.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154680"/>
            <a:ext cx="29718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R0 needs n = 2:  1.25² ≈ 1.56 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34840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452628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4471416"/>
            <a:ext cx="10710367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18 of the 71 surface species here take two sites; where they dominate, f approaches 2. The workflow reports f for every condition (site_count_factor, Stage 7), and Stage 9 shows a fixed-site-count estimate.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Divide each coverage by its species’ site count σ.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Cantera holds these entities at Γ in total.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implied number of sites is f Γ, here 1.25 Γ.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Rates that need n empty sites pick up f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n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Rates follow mass action: a rate constant times concentrations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For R0 the forward rate needs one H₂ and two empty sites; the reverse needs two H∗.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83280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9535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6463" y="295351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1443" y="212140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Oval 11"/>
          <p:cNvSpPr/>
          <p:nvPr/>
        </p:nvSpPr>
        <p:spPr>
          <a:xfrm>
            <a:off x="1327708" y="212140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383280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295351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Oval 14"/>
          <p:cNvSpPr/>
          <p:nvPr/>
        </p:nvSpPr>
        <p:spPr>
          <a:xfrm>
            <a:off x="5175504" y="295351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8840" y="2697480"/>
            <a:ext cx="2194560" cy="0"/>
          </a:xfrm>
          <a:prstGeom prst="line">
            <a:avLst/>
          </a:prstGeom>
          <a:ln w="317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148840" y="3246120"/>
            <a:ext cx="2194560" cy="0"/>
          </a:xfrm>
          <a:prstGeom prst="line">
            <a:avLst/>
          </a:prstGeom>
          <a:ln w="317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219456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800" b="0" i="0">
                <a:solidFill>
                  <a:srgbClr val="1F2328"/>
                </a:solidFill>
                <a:latin typeface="Cambria"/>
              </a:rPr>
              <a:t>q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H₂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3756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800" b="0" i="0">
                <a:solidFill>
                  <a:srgbClr val="1F2328"/>
                </a:solidFill>
                <a:latin typeface="Cambria"/>
              </a:rPr>
              <a:t>q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H∗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120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net rate of progress:  q = q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− q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units: kmol per m² of surface per second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517904"/>
            <a:ext cx="5440680" cy="3794760"/>
          </a:xfrm>
          <a:prstGeom prst="roundRect">
            <a:avLst>
              <a:gd name="adj" fmla="val 240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Every reaction 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212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q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i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k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f,i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Π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C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 baseline="30000">
                <a:solidFill>
                  <a:srgbClr val="1F2328"/>
                </a:solidFill>
                <a:latin typeface="Cambria"/>
              </a:rPr>
              <a:t>ν′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− k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r,i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Π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C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 baseline="30000">
                <a:solidFill>
                  <a:srgbClr val="1F2328"/>
                </a:solidFill>
                <a:latin typeface="Cambria"/>
              </a:rPr>
              <a:t>ν″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5212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A T</a:t>
            </a:r>
            <a:r>
              <a:rPr sz="2000" b="0" i="0" baseline="30000">
                <a:solidFill>
                  <a:srgbClr val="1F2328"/>
                </a:solidFill>
                <a:latin typeface="Cambria"/>
              </a:rPr>
              <a:t>b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exp(−E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a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/ 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5212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surface:  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Γ θ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/ (σ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S)   kmol/m²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69080"/>
            <a:ext cx="5212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gas:  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x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P / RT   kmol/m³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5120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ν′ and ν″: how many of species k react and form.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Multiply the forward rate constant by each reactant’s concentration.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Surface concentrations come from coverages, gas ones from pressure.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Do the same for the products, with the reverse constant.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net rate is forward minus reverse.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45598" y="100584"/>
            <a:ext cx="16431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chem_annotated.yaml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Adsorption uses a sticking probability: about 1 % of H₂ hits split on bare Cu at 650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At 650 K and 1 bar, each site is hit by H₂ about 4.1 × 10⁸ times per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H₂ collisions per site per second (kinetic theory)</a:t>
            </a:r>
          </a:p>
          <a:p>
            <a:pPr algn="ctr"/>
            <a:r>
              <a:rPr sz="1800" b="1" i="0">
                <a:solidFill>
                  <a:srgbClr val="1F2328"/>
                </a:solidFill>
                <a:latin typeface="Calibri"/>
              </a:rPr>
              <a:t>4.1 × 10</a:t>
            </a:r>
            <a:r>
              <a:rPr sz="1800" b="1" i="0" baseline="30000">
                <a:solidFill>
                  <a:srgbClr val="1F2328"/>
                </a:solidFill>
                <a:latin typeface="Calibri"/>
              </a:rPr>
              <a:t>8</a:t>
            </a:r>
            <a:r>
              <a:rPr sz="1800" b="1" i="0">
                <a:solidFill>
                  <a:srgbClr val="1F2328"/>
                </a:solidFill>
                <a:latin typeface="Calibri"/>
              </a:rPr>
              <a:t> s</a:t>
            </a:r>
            <a:r>
              <a:rPr sz="1800" b="1" i="0" baseline="30000">
                <a:solidFill>
                  <a:srgbClr val="1F2328"/>
                </a:solidFill>
                <a:latin typeface="Calibri"/>
              </a:rPr>
              <a:t>−1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514600"/>
            <a:ext cx="0" cy="33832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48840" y="2852928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× γ = 0.0119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310128"/>
            <a:ext cx="0" cy="329184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3639312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splitting events per site per second (R0, bare surface)</a:t>
            </a:r>
          </a:p>
          <a:p>
            <a:pPr algn="ctr"/>
            <a:r>
              <a:rPr sz="1800" b="1" i="0">
                <a:solidFill>
                  <a:srgbClr val="1F2328"/>
                </a:solidFill>
                <a:latin typeface="Calibri"/>
              </a:rPr>
              <a:t>4.9 × 10</a:t>
            </a:r>
            <a:r>
              <a:rPr sz="1800" b="1" i="0" baseline="30000">
                <a:solidFill>
                  <a:srgbClr val="1F2328"/>
                </a:solidFill>
                <a:latin typeface="Calibri"/>
              </a:rPr>
              <a:t>6</a:t>
            </a:r>
            <a:r>
              <a:rPr sz="1800" b="1" i="0">
                <a:solidFill>
                  <a:srgbClr val="1F2328"/>
                </a:solidFill>
                <a:latin typeface="Calibri"/>
              </a:rPr>
              <a:t> s</a:t>
            </a:r>
            <a:r>
              <a:rPr sz="1800" b="1" i="0" baseline="30000">
                <a:solidFill>
                  <a:srgbClr val="1F2328"/>
                </a:solidFill>
                <a:latin typeface="Calibri"/>
              </a:rPr>
              <a:t>−1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60" y="3081528"/>
            <a:ext cx="960120" cy="0"/>
          </a:xfrm>
          <a:prstGeom prst="line">
            <a:avLst/>
          </a:prstGeom>
          <a:ln w="1905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9160" y="281635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98.8 % bounce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517904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From γ to a rate constant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38528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γ = a T</a:t>
            </a:r>
            <a:r>
              <a:rPr sz="2000" b="0" i="0" baseline="30000">
                <a:solidFill>
                  <a:srgbClr val="1F2328"/>
                </a:solidFill>
                <a:latin typeface="Cambria"/>
              </a:rPr>
              <a:t>b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exp(−c / 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k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= (γ / Γ</a:t>
            </a:r>
            <a:r>
              <a:rPr sz="2000" b="0" i="0" baseline="30000">
                <a:solidFill>
                  <a:srgbClr val="1F2328"/>
                </a:solidFill>
                <a:latin typeface="Cambria"/>
              </a:rPr>
              <a:t>m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) √(RT / 2πW)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52928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 = number of surface reactants: 2 for R0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82112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W = molar mass of the gas: 2.016 kg/kmol for H₂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11296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R0: a = 0.03, b = 0, c = 5 kJ/mol, so γ grows with 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0.0119 at 650 K, 0.0182 at 1200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9664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R1, H₂ + site ⇌ H₂∗: a = 0.008 (vdW template)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475488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700016"/>
            <a:ext cx="10710367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Cantera warns when γ exceeds 1 at some temperature: 6 reactions in this mechanism do, e.g. N₂ + 2 ∗ ⇌ N₂∗∗ with a = 1.66. The package records these warnings at load (model.py:91–94).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Kinetic theory gives how often H₂ hits each site.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fraction γ of hits on a bare surface reacts.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γ becomes a rate constant through Γ and the molar mass 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Cantera flags any γ above 1 when it loads the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Reverse rates come from thermodynamics, so equilibrium is always respected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Cantera never reads a reverse rate from the file: it divides the forward rate constant by 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977639"/>
            <a:ext cx="1371600" cy="0"/>
          </a:xfrm>
          <a:prstGeom prst="line">
            <a:avLst/>
          </a:prstGeom>
          <a:ln w="31750">
            <a:solidFill>
              <a:srgbClr val="1F23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4014215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H₂(g) + 2 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514600"/>
            <a:ext cx="1371601" cy="0"/>
          </a:xfrm>
          <a:prstGeom prst="line">
            <a:avLst/>
          </a:prstGeom>
          <a:ln w="31750">
            <a:solidFill>
              <a:srgbClr val="1F23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3320" y="2203704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2 H∗</a:t>
            </a:r>
          </a:p>
        </p:txBody>
      </p:sp>
      <p:sp>
        <p:nvSpPr>
          <p:cNvPr id="12" name="Freeform 11"/>
          <p:cNvSpPr/>
          <p:nvPr/>
        </p:nvSpPr>
        <p:spPr>
          <a:xfrm>
            <a:off x="2148840" y="2512631"/>
            <a:ext cx="1828799" cy="1465008"/>
          </a:xfrm>
          <a:custGeom>
            <a:avLst/>
            <a:gdLst/>
            <a:ahLst/>
            <a:cxnLst/>
            <a:rect l="l" t="t" r="r" b="b"/>
            <a:pathLst>
              <a:path w="1828799" h="1465008">
                <a:moveTo>
                  <a:pt x="0" y="1465008"/>
                </a:moveTo>
                <a:lnTo>
                  <a:pt x="45720" y="1457645"/>
                </a:lnTo>
                <a:lnTo>
                  <a:pt x="91440" y="1442142"/>
                </a:lnTo>
                <a:lnTo>
                  <a:pt x="137160" y="1420082"/>
                </a:lnTo>
                <a:lnTo>
                  <a:pt x="182880" y="1392247"/>
                </a:lnTo>
                <a:lnTo>
                  <a:pt x="228600" y="1359251"/>
                </a:lnTo>
                <a:lnTo>
                  <a:pt x="274320" y="1321644"/>
                </a:lnTo>
                <a:lnTo>
                  <a:pt x="320040" y="1279941"/>
                </a:lnTo>
                <a:lnTo>
                  <a:pt x="365760" y="1234633"/>
                </a:lnTo>
                <a:lnTo>
                  <a:pt x="411480" y="1186195"/>
                </a:lnTo>
                <a:lnTo>
                  <a:pt x="457200" y="1135090"/>
                </a:lnTo>
                <a:lnTo>
                  <a:pt x="502920" y="1081766"/>
                </a:lnTo>
                <a:lnTo>
                  <a:pt x="548640" y="1026657"/>
                </a:lnTo>
                <a:lnTo>
                  <a:pt x="594360" y="970186"/>
                </a:lnTo>
                <a:lnTo>
                  <a:pt x="640080" y="912760"/>
                </a:lnTo>
                <a:lnTo>
                  <a:pt x="685799" y="854771"/>
                </a:lnTo>
                <a:lnTo>
                  <a:pt x="731520" y="796593"/>
                </a:lnTo>
                <a:lnTo>
                  <a:pt x="777239" y="738585"/>
                </a:lnTo>
                <a:lnTo>
                  <a:pt x="822960" y="681089"/>
                </a:lnTo>
                <a:lnTo>
                  <a:pt x="868680" y="624425"/>
                </a:lnTo>
                <a:lnTo>
                  <a:pt x="914399" y="568896"/>
                </a:lnTo>
                <a:lnTo>
                  <a:pt x="960120" y="514788"/>
                </a:lnTo>
                <a:lnTo>
                  <a:pt x="1005840" y="462364"/>
                </a:lnTo>
                <a:lnTo>
                  <a:pt x="1051560" y="411870"/>
                </a:lnTo>
                <a:lnTo>
                  <a:pt x="1097280" y="363533"/>
                </a:lnTo>
                <a:lnTo>
                  <a:pt x="1142999" y="317561"/>
                </a:lnTo>
                <a:lnTo>
                  <a:pt x="1188720" y="274143"/>
                </a:lnTo>
                <a:lnTo>
                  <a:pt x="1234440" y="233454"/>
                </a:lnTo>
                <a:lnTo>
                  <a:pt x="1280160" y="195651"/>
                </a:lnTo>
                <a:lnTo>
                  <a:pt x="1325880" y="160873"/>
                </a:lnTo>
                <a:lnTo>
                  <a:pt x="1371599" y="129250"/>
                </a:lnTo>
                <a:lnTo>
                  <a:pt x="1417319" y="100894"/>
                </a:lnTo>
                <a:lnTo>
                  <a:pt x="1463039" y="75905"/>
                </a:lnTo>
                <a:lnTo>
                  <a:pt x="1508759" y="54371"/>
                </a:lnTo>
                <a:lnTo>
                  <a:pt x="1554480" y="36364"/>
                </a:lnTo>
                <a:lnTo>
                  <a:pt x="1600199" y="21941"/>
                </a:lnTo>
                <a:lnTo>
                  <a:pt x="1645919" y="11137"/>
                </a:lnTo>
                <a:lnTo>
                  <a:pt x="1691639" y="3951"/>
                </a:lnTo>
                <a:lnTo>
                  <a:pt x="1737360" y="316"/>
                </a:lnTo>
                <a:lnTo>
                  <a:pt x="1783080" y="0"/>
                </a:lnTo>
                <a:lnTo>
                  <a:pt x="1828799" y="1969"/>
                </a:lnTo>
              </a:path>
            </a:pathLst>
          </a:custGeom>
          <a:noFill/>
          <a:ln w="222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148840" y="3977639"/>
            <a:ext cx="3611880" cy="0"/>
          </a:xfrm>
          <a:prstGeom prst="line">
            <a:avLst/>
          </a:prstGeom>
          <a:ln w="12700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49240" y="2514600"/>
            <a:ext cx="411480" cy="0"/>
          </a:xfrm>
          <a:prstGeom prst="line">
            <a:avLst/>
          </a:prstGeom>
          <a:ln w="12700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23560" y="2560320"/>
            <a:ext cx="0" cy="1371600"/>
          </a:xfrm>
          <a:prstGeom prst="line">
            <a:avLst/>
          </a:prstGeom>
          <a:ln w="19050">
            <a:solidFill>
              <a:srgbClr val="1F232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1880" y="301752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600" b="0" i="0">
                <a:solidFill>
                  <a:srgbClr val="1F2328"/>
                </a:solidFill>
                <a:latin typeface="Cambria"/>
              </a:rPr>
              <a:t>ΔG° = +40.5 kJ/mol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572768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650 K for R0 on Cu: ΔH° = −38 kJ/mol, but H₂ loses its gas entropy (ΔS° = −121 J mol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K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), so ΔG° &gt; 0 and K = 5.5 ×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−4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 free-energy diagram, 650 K, 1 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517904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Cantera computes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H°/RT =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1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+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2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T/2 + … +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6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/T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95728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S°/R =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1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ln T +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2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T + … + a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6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G° = H° − T S°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46704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c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exp(−ΔG°/RT) Π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(C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°)</a:t>
            </a:r>
            <a:r>
              <a:rPr sz="1800" b="0" i="0" baseline="30000">
                <a:solidFill>
                  <a:srgbClr val="1F2328"/>
                </a:solidFill>
                <a:latin typeface="Cambria"/>
              </a:rPr>
              <a:t>ν(k)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22191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/ K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6344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75488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700016"/>
            <a:ext cx="10710367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Shift one species’ enthalpy by δH and every reverse rate it appears in changes by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δH/RT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50 kJ/mol at 650 K is a factor of 1 ×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4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 Forward rates stay as they were.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Each species’ H and S come from its NASA polynomials.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ΔG° of the reaction gives its equilibrium constant 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reverse rate constant is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divided by 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 editing an energy changes reverse rates, not forward 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Coverages change at their net production rates; steady state is when all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 reaction adds to or takes from each species. At steady state the sums are all zero.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2400300" y="2811779"/>
            <a:ext cx="868680" cy="8686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03654" y="2560320"/>
            <a:ext cx="656082" cy="365759"/>
          </a:xfrm>
          <a:prstGeom prst="line">
            <a:avLst/>
          </a:prstGeom>
          <a:ln w="19050">
            <a:solidFill>
              <a:srgbClr val="2B6CB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3494" y="2176272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#0  H₂ + 2 ∗ ⇌ 2 H∗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17520" y="2505456"/>
            <a:ext cx="320040" cy="395020"/>
          </a:xfrm>
          <a:prstGeom prst="line">
            <a:avLst/>
          </a:prstGeom>
          <a:ln w="19050">
            <a:solidFill>
              <a:srgbClr val="2B6CB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54680" y="212140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#19  CH₄ + 2 ∗ ⇌ H∗ + CH₃∗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728216" y="3566160"/>
            <a:ext cx="704088" cy="365760"/>
          </a:xfrm>
          <a:prstGeom prst="line">
            <a:avLst/>
          </a:prstGeom>
          <a:ln w="19050">
            <a:solidFill>
              <a:srgbClr val="2B6CB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" y="3950207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#26  H + ∗ ⇌ H∗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3026664" y="3553358"/>
            <a:ext cx="336042" cy="351129"/>
          </a:xfrm>
          <a:prstGeom prst="line">
            <a:avLst/>
          </a:prstGeom>
          <a:ln w="19050">
            <a:solidFill>
              <a:srgbClr val="2B6CB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79826" y="3922775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#37  NH₃ + 2 ∗ ⇌ H∗ + NH₂∗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H∗ appears in 126 surface reactions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874519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2200" b="0" i="0">
                <a:solidFill>
                  <a:srgbClr val="1F2328"/>
                </a:solidFill>
                <a:latin typeface="Cambria"/>
              </a:rPr>
              <a:t>ṡ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 = Σ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i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 ν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k,i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 q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514600"/>
            <a:ext cx="3291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2200" b="0" i="0">
                <a:solidFill>
                  <a:srgbClr val="1F2328"/>
                </a:solidFill>
                <a:latin typeface="Cambria"/>
              </a:rPr>
              <a:t>dθ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/dt = σ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 ṡ</a:t>
            </a:r>
            <a:r>
              <a:rPr sz="22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2200" b="0" i="0">
                <a:solidFill>
                  <a:srgbClr val="1F2328"/>
                </a:solidFill>
                <a:latin typeface="Cambria"/>
              </a:rPr>
              <a:t> / 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200400"/>
            <a:ext cx="329184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for every surface species k. Σ θ stays 1, because every reaction conserves sites.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4160520"/>
            <a:ext cx="27432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778240" y="1737360"/>
            <a:ext cx="0" cy="242316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78240" y="4197096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time (log scale)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2697480"/>
            <a:ext cx="9144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400" b="0" i="0">
                <a:solidFill>
                  <a:srgbClr val="4E5661"/>
                </a:solidFill>
                <a:latin typeface="Calibri"/>
              </a:rPr>
              <a:t>coverage</a:t>
            </a:r>
          </a:p>
        </p:txBody>
      </p:sp>
      <p:sp>
        <p:nvSpPr>
          <p:cNvPr id="25" name="Freeform 24"/>
          <p:cNvSpPr/>
          <p:nvPr/>
        </p:nvSpPr>
        <p:spPr>
          <a:xfrm>
            <a:off x="8778240" y="1875650"/>
            <a:ext cx="2743200" cy="2087953"/>
          </a:xfrm>
          <a:custGeom>
            <a:avLst/>
            <a:gdLst/>
            <a:ahLst/>
            <a:cxnLst/>
            <a:rect l="l" t="t" r="r" b="b"/>
            <a:pathLst>
              <a:path w="2743200" h="2087953">
                <a:moveTo>
                  <a:pt x="0" y="0"/>
                </a:moveTo>
                <a:lnTo>
                  <a:pt x="45720" y="7620"/>
                </a:lnTo>
                <a:lnTo>
                  <a:pt x="91440" y="16491"/>
                </a:lnTo>
                <a:lnTo>
                  <a:pt x="137160" y="26806"/>
                </a:lnTo>
                <a:lnTo>
                  <a:pt x="182879" y="38781"/>
                </a:lnTo>
                <a:lnTo>
                  <a:pt x="228600" y="52658"/>
                </a:lnTo>
                <a:lnTo>
                  <a:pt x="274320" y="68706"/>
                </a:lnTo>
                <a:lnTo>
                  <a:pt x="320040" y="87219"/>
                </a:lnTo>
                <a:lnTo>
                  <a:pt x="365760" y="108518"/>
                </a:lnTo>
                <a:lnTo>
                  <a:pt x="411479" y="132943"/>
                </a:lnTo>
                <a:lnTo>
                  <a:pt x="457200" y="160850"/>
                </a:lnTo>
                <a:lnTo>
                  <a:pt x="502920" y="192604"/>
                </a:lnTo>
                <a:lnTo>
                  <a:pt x="548640" y="228563"/>
                </a:lnTo>
                <a:lnTo>
                  <a:pt x="594360" y="269065"/>
                </a:lnTo>
                <a:lnTo>
                  <a:pt x="640079" y="314408"/>
                </a:lnTo>
                <a:lnTo>
                  <a:pt x="685800" y="364827"/>
                </a:lnTo>
                <a:lnTo>
                  <a:pt x="731520" y="420470"/>
                </a:lnTo>
                <a:lnTo>
                  <a:pt x="777240" y="481368"/>
                </a:lnTo>
                <a:lnTo>
                  <a:pt x="822960" y="547413"/>
                </a:lnTo>
                <a:lnTo>
                  <a:pt x="868679" y="618339"/>
                </a:lnTo>
                <a:lnTo>
                  <a:pt x="914400" y="693701"/>
                </a:lnTo>
                <a:lnTo>
                  <a:pt x="960120" y="772882"/>
                </a:lnTo>
                <a:lnTo>
                  <a:pt x="1005840" y="855097"/>
                </a:lnTo>
                <a:lnTo>
                  <a:pt x="1051560" y="939421"/>
                </a:lnTo>
                <a:lnTo>
                  <a:pt x="1097279" y="1024826"/>
                </a:lnTo>
                <a:lnTo>
                  <a:pt x="1143000" y="1110232"/>
                </a:lnTo>
                <a:lnTo>
                  <a:pt x="1188720" y="1194556"/>
                </a:lnTo>
                <a:lnTo>
                  <a:pt x="1234440" y="1276771"/>
                </a:lnTo>
                <a:lnTo>
                  <a:pt x="1280160" y="1355952"/>
                </a:lnTo>
                <a:lnTo>
                  <a:pt x="1325879" y="1431314"/>
                </a:lnTo>
                <a:lnTo>
                  <a:pt x="1371600" y="1502239"/>
                </a:lnTo>
                <a:lnTo>
                  <a:pt x="1417320" y="1568285"/>
                </a:lnTo>
                <a:lnTo>
                  <a:pt x="1463040" y="1629183"/>
                </a:lnTo>
                <a:lnTo>
                  <a:pt x="1508760" y="1684825"/>
                </a:lnTo>
                <a:lnTo>
                  <a:pt x="1554479" y="1735245"/>
                </a:lnTo>
                <a:lnTo>
                  <a:pt x="1600200" y="1780588"/>
                </a:lnTo>
                <a:lnTo>
                  <a:pt x="1645920" y="1821089"/>
                </a:lnTo>
                <a:lnTo>
                  <a:pt x="1691640" y="1857048"/>
                </a:lnTo>
                <a:lnTo>
                  <a:pt x="1737360" y="1888802"/>
                </a:lnTo>
                <a:lnTo>
                  <a:pt x="1783079" y="1916710"/>
                </a:lnTo>
                <a:lnTo>
                  <a:pt x="1828800" y="1941135"/>
                </a:lnTo>
                <a:lnTo>
                  <a:pt x="1874519" y="1962434"/>
                </a:lnTo>
                <a:lnTo>
                  <a:pt x="1920240" y="1980947"/>
                </a:lnTo>
                <a:lnTo>
                  <a:pt x="1965960" y="1996995"/>
                </a:lnTo>
                <a:lnTo>
                  <a:pt x="2011680" y="2010872"/>
                </a:lnTo>
                <a:lnTo>
                  <a:pt x="2057400" y="2022846"/>
                </a:lnTo>
                <a:lnTo>
                  <a:pt x="2103119" y="2033161"/>
                </a:lnTo>
                <a:lnTo>
                  <a:pt x="2148840" y="2042033"/>
                </a:lnTo>
                <a:lnTo>
                  <a:pt x="2194560" y="2049652"/>
                </a:lnTo>
                <a:lnTo>
                  <a:pt x="2240280" y="2056189"/>
                </a:lnTo>
                <a:lnTo>
                  <a:pt x="2286000" y="2061792"/>
                </a:lnTo>
                <a:lnTo>
                  <a:pt x="2331719" y="2066590"/>
                </a:lnTo>
                <a:lnTo>
                  <a:pt x="2377440" y="2070696"/>
                </a:lnTo>
                <a:lnTo>
                  <a:pt x="2423160" y="2074207"/>
                </a:lnTo>
                <a:lnTo>
                  <a:pt x="2468880" y="2077209"/>
                </a:lnTo>
                <a:lnTo>
                  <a:pt x="2514600" y="2079773"/>
                </a:lnTo>
                <a:lnTo>
                  <a:pt x="2560319" y="2081963"/>
                </a:lnTo>
                <a:lnTo>
                  <a:pt x="2606040" y="2083833"/>
                </a:lnTo>
                <a:lnTo>
                  <a:pt x="2651760" y="2085429"/>
                </a:lnTo>
                <a:lnTo>
                  <a:pt x="2697480" y="2086791"/>
                </a:lnTo>
                <a:lnTo>
                  <a:pt x="2743200" y="2087953"/>
                </a:lnTo>
              </a:path>
            </a:pathLst>
          </a:custGeom>
          <a:noFill/>
          <a:ln w="254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778240" y="2169743"/>
            <a:ext cx="2743200" cy="1948756"/>
          </a:xfrm>
          <a:custGeom>
            <a:avLst/>
            <a:gdLst/>
            <a:ahLst/>
            <a:cxnLst/>
            <a:rect l="l" t="t" r="r" b="b"/>
            <a:pathLst>
              <a:path w="2743200" h="1948756">
                <a:moveTo>
                  <a:pt x="0" y="1948756"/>
                </a:moveTo>
                <a:lnTo>
                  <a:pt x="45720" y="1941644"/>
                </a:lnTo>
                <a:lnTo>
                  <a:pt x="91440" y="1933364"/>
                </a:lnTo>
                <a:lnTo>
                  <a:pt x="137160" y="1923737"/>
                </a:lnTo>
                <a:lnTo>
                  <a:pt x="182879" y="1912561"/>
                </a:lnTo>
                <a:lnTo>
                  <a:pt x="228600" y="1899609"/>
                </a:lnTo>
                <a:lnTo>
                  <a:pt x="274320" y="1884631"/>
                </a:lnTo>
                <a:lnTo>
                  <a:pt x="320040" y="1867352"/>
                </a:lnTo>
                <a:lnTo>
                  <a:pt x="365760" y="1847473"/>
                </a:lnTo>
                <a:lnTo>
                  <a:pt x="411479" y="1824676"/>
                </a:lnTo>
                <a:lnTo>
                  <a:pt x="457200" y="1798629"/>
                </a:lnTo>
                <a:lnTo>
                  <a:pt x="502920" y="1768992"/>
                </a:lnTo>
                <a:lnTo>
                  <a:pt x="548640" y="1735431"/>
                </a:lnTo>
                <a:lnTo>
                  <a:pt x="594360" y="1697629"/>
                </a:lnTo>
                <a:lnTo>
                  <a:pt x="640079" y="1655309"/>
                </a:lnTo>
                <a:lnTo>
                  <a:pt x="685800" y="1608251"/>
                </a:lnTo>
                <a:lnTo>
                  <a:pt x="731520" y="1556318"/>
                </a:lnTo>
                <a:lnTo>
                  <a:pt x="777240" y="1499480"/>
                </a:lnTo>
                <a:lnTo>
                  <a:pt x="822960" y="1437837"/>
                </a:lnTo>
                <a:lnTo>
                  <a:pt x="868679" y="1371640"/>
                </a:lnTo>
                <a:lnTo>
                  <a:pt x="914400" y="1301302"/>
                </a:lnTo>
                <a:lnTo>
                  <a:pt x="960120" y="1227400"/>
                </a:lnTo>
                <a:lnTo>
                  <a:pt x="1005840" y="1150666"/>
                </a:lnTo>
                <a:lnTo>
                  <a:pt x="1051560" y="1071964"/>
                </a:lnTo>
                <a:lnTo>
                  <a:pt x="1097279" y="992252"/>
                </a:lnTo>
                <a:lnTo>
                  <a:pt x="1143000" y="912540"/>
                </a:lnTo>
                <a:lnTo>
                  <a:pt x="1188720" y="833837"/>
                </a:lnTo>
                <a:lnTo>
                  <a:pt x="1234440" y="757103"/>
                </a:lnTo>
                <a:lnTo>
                  <a:pt x="1280160" y="683201"/>
                </a:lnTo>
                <a:lnTo>
                  <a:pt x="1325879" y="612863"/>
                </a:lnTo>
                <a:lnTo>
                  <a:pt x="1371600" y="546666"/>
                </a:lnTo>
                <a:lnTo>
                  <a:pt x="1417320" y="485024"/>
                </a:lnTo>
                <a:lnTo>
                  <a:pt x="1463040" y="428185"/>
                </a:lnTo>
                <a:lnTo>
                  <a:pt x="1508760" y="376252"/>
                </a:lnTo>
                <a:lnTo>
                  <a:pt x="1554479" y="329195"/>
                </a:lnTo>
                <a:lnTo>
                  <a:pt x="1600200" y="286874"/>
                </a:lnTo>
                <a:lnTo>
                  <a:pt x="1645920" y="249073"/>
                </a:lnTo>
                <a:lnTo>
                  <a:pt x="1691640" y="215511"/>
                </a:lnTo>
                <a:lnTo>
                  <a:pt x="1737360" y="185874"/>
                </a:lnTo>
                <a:lnTo>
                  <a:pt x="1783079" y="159827"/>
                </a:lnTo>
                <a:lnTo>
                  <a:pt x="1828800" y="137030"/>
                </a:lnTo>
                <a:lnTo>
                  <a:pt x="1874519" y="117151"/>
                </a:lnTo>
                <a:lnTo>
                  <a:pt x="1920240" y="99872"/>
                </a:lnTo>
                <a:lnTo>
                  <a:pt x="1965960" y="84895"/>
                </a:lnTo>
                <a:lnTo>
                  <a:pt x="2011680" y="71943"/>
                </a:lnTo>
                <a:lnTo>
                  <a:pt x="2057400" y="60766"/>
                </a:lnTo>
                <a:lnTo>
                  <a:pt x="2103119" y="51139"/>
                </a:lnTo>
                <a:lnTo>
                  <a:pt x="2148840" y="42859"/>
                </a:lnTo>
                <a:lnTo>
                  <a:pt x="2194560" y="35748"/>
                </a:lnTo>
                <a:lnTo>
                  <a:pt x="2240280" y="29646"/>
                </a:lnTo>
                <a:lnTo>
                  <a:pt x="2286000" y="24417"/>
                </a:lnTo>
                <a:lnTo>
                  <a:pt x="2331719" y="19939"/>
                </a:lnTo>
                <a:lnTo>
                  <a:pt x="2377440" y="16107"/>
                </a:lnTo>
                <a:lnTo>
                  <a:pt x="2423160" y="12829"/>
                </a:lnTo>
                <a:lnTo>
                  <a:pt x="2468880" y="10028"/>
                </a:lnTo>
                <a:lnTo>
                  <a:pt x="2514600" y="7635"/>
                </a:lnTo>
                <a:lnTo>
                  <a:pt x="2560319" y="5590"/>
                </a:lnTo>
                <a:lnTo>
                  <a:pt x="2606040" y="3845"/>
                </a:lnTo>
                <a:lnTo>
                  <a:pt x="2651760" y="2356"/>
                </a:lnTo>
                <a:lnTo>
                  <a:pt x="2697480" y="1085"/>
                </a:lnTo>
                <a:lnTo>
                  <a:pt x="2743200" y="0"/>
                </a:lnTo>
              </a:path>
            </a:pathLst>
          </a:custGeom>
          <a:noFill/>
          <a:ln w="317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8288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  <a:latin typeface="Cambria"/>
              </a:rPr>
              <a:t>θ</a:t>
            </a:r>
            <a:r>
              <a:rPr sz="1400" b="0" i="0" baseline="-25000">
                <a:solidFill>
                  <a:srgbClr val="2B6CB0"/>
                </a:solidFill>
                <a:latin typeface="Cambria"/>
              </a:rPr>
              <a:t>H∗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59" y="3611880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mbria"/>
              </a:rPr>
              <a:t>θ</a:t>
            </a:r>
            <a:r>
              <a:rPr sz="1400" b="0" i="0" baseline="-25000">
                <a:solidFill>
                  <a:srgbClr val="4E5661"/>
                </a:solidFill>
                <a:latin typeface="Cambria"/>
              </a:rPr>
              <a:t>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52759" y="1783080"/>
            <a:ext cx="0" cy="2377440"/>
          </a:xfrm>
          <a:prstGeom prst="line">
            <a:avLst/>
          </a:prstGeom>
          <a:ln w="19050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6880" y="4453128"/>
            <a:ext cx="2377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2F855A"/>
                </a:solidFill>
                <a:latin typeface="Calibri"/>
              </a:rPr>
              <a:t>steady state: every ṡ</a:t>
            </a:r>
            <a:r>
              <a:rPr sz="1400" b="1" i="0" baseline="-25000">
                <a:solidFill>
                  <a:srgbClr val="2F855A"/>
                </a:solidFill>
                <a:latin typeface="Calibri"/>
              </a:rPr>
              <a:t>k</a:t>
            </a:r>
            <a:r>
              <a:rPr sz="1400" b="1" i="0">
                <a:solidFill>
                  <a:srgbClr val="2F855A"/>
                </a:solidFill>
                <a:latin typeface="Calibri"/>
              </a:rPr>
              <a:t>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490472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Add up what every reaction makes and uses of one species.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That sum is its net production rate ṡ.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Its coverage changes at σ ṡ / Γ.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Steady state: every ṡ is zero, and the coverages still add to 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C · INTO CANTERA: THE THEORY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93808" y="100584"/>
            <a:ext cx="179496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per_area.py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Every rate in two units: per site (TOF) and per area (the literature’s)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site density Γ converts one into the other. Nothing is solved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1F2328"/>
                </a:solidFill>
                <a:latin typeface="Calibri"/>
              </a:rPr>
              <a:t>per site</a:t>
            </a:r>
          </a:p>
          <a:p>
            <a:pPr algn="ctr"/>
            <a:r>
              <a:rPr sz="1500" b="0" i="0">
                <a:solidFill>
                  <a:srgbClr val="1F2328"/>
                </a:solidFill>
                <a:latin typeface="Calibri"/>
              </a:rPr>
              <a:t>TOF, s</a:t>
            </a:r>
            <a:r>
              <a:rPr sz="1500" b="0" i="0" baseline="30000">
                <a:solidFill>
                  <a:srgbClr val="1F2328"/>
                </a:solidFill>
                <a:latin typeface="Calibri"/>
              </a:rPr>
              <a:t>−1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6916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1F2328"/>
                </a:solidFill>
                <a:latin typeface="Calibri"/>
              </a:rPr>
              <a:t>per area</a:t>
            </a:r>
          </a:p>
          <a:p>
            <a:pPr algn="ctr"/>
            <a:r>
              <a:rPr sz="1500" b="0" i="0">
                <a:solidFill>
                  <a:srgbClr val="1F2328"/>
                </a:solidFill>
                <a:latin typeface="Calibri"/>
              </a:rPr>
              <a:t>J, mol H₂ m</a:t>
            </a:r>
            <a:r>
              <a:rPr sz="1500" b="0" i="0" baseline="30000">
                <a:solidFill>
                  <a:srgbClr val="1F2328"/>
                </a:solidFill>
                <a:latin typeface="Calibri"/>
              </a:rPr>
              <a:t>−2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 s</a:t>
            </a:r>
            <a:r>
              <a:rPr sz="1500" b="0" i="0" baseline="30000">
                <a:solidFill>
                  <a:srgbClr val="1F2328"/>
                </a:solidFill>
                <a:latin typeface="Calibri"/>
              </a:rPr>
              <a:t>−1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148840"/>
            <a:ext cx="777240" cy="0"/>
          </a:xfrm>
          <a:prstGeom prst="line">
            <a:avLst/>
          </a:prstGeom>
          <a:ln w="2540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16352" y="1755648"/>
            <a:ext cx="1005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600" b="1" i="0">
                <a:solidFill>
                  <a:srgbClr val="1F2328"/>
                </a:solidFill>
                <a:latin typeface="Cambria"/>
              </a:rPr>
              <a:t>× 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5257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Γ = 2.943 ×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−5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mol sites per m² of Cu(111), from the 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0128"/>
            <a:ext cx="52578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Clean surface at 650 K: k</a:t>
            </a:r>
            <a:r>
              <a:rPr sz="1400" b="0" i="0" baseline="-25000">
                <a:solidFill>
                  <a:srgbClr val="4E5661"/>
                </a:solidFill>
                <a:latin typeface="Calibri"/>
              </a:rPr>
              <a:t>d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 = γ Z / p = 1.44 × 10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−3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 mol H₂ m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−2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 s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−1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 Pa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−1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, a property of the mechanism.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517904"/>
            <a:ext cx="5440680" cy="2980944"/>
          </a:xfrm>
          <a:prstGeom prst="roundRect">
            <a:avLst>
              <a:gd name="adj" fmla="val 3067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Format 2: added to every results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920240"/>
            <a:ext cx="5257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56816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, 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rec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, 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956816"/>
            <a:ext cx="1691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TOF × 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956816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mol H₂ m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−2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s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14016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414016"/>
            <a:ext cx="1691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min(J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, 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rec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414016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mol H₂ m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−2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s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2834640"/>
            <a:ext cx="5257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871216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k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d,eff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871216"/>
            <a:ext cx="1691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 / 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871216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mol H₂ m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−2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s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−1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Pa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28416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γ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eff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328416"/>
            <a:ext cx="1691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J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 / 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328416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36792" y="3749040"/>
            <a:ext cx="5257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85616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85616"/>
            <a:ext cx="1691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H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 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785616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mol H m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24528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Z = p / √(2π M R T): H₂ hitting each m² per second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6344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4360" y="475488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4700016"/>
            <a:ext cx="10710367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Per atomic area of an ideal Cu(111) facet: literature values per geometric area can be higher by a roughness factor. Converting the units does not change any activation energy.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 events per site: the TOF.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Multiply by Γ: the same events per m².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Divide by p, or by Z: the literature’s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d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and the sticking probability.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Keep both: per-site tables and figures, and their _per_area copies.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D · SETTINGS AND LOADING · STAGES 0–1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52759" y="100584"/>
            <a:ext cx="10360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settings.py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A run is one folder: RMG’s files plus one settings.py the package 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RMG’s files stay as RMG wrote them. settings.py says what the package should do with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394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ourier New"/>
              </a:rPr>
              <a:t>runs/try_2/Cu/</a:t>
            </a:r>
          </a:p>
        </p:txBody>
      </p:sp>
      <p:sp>
        <p:nvSpPr>
          <p:cNvPr id="9" name="Document 8"/>
          <p:cNvSpPr/>
          <p:nvPr/>
        </p:nvSpPr>
        <p:spPr>
          <a:xfrm>
            <a:off x="685800" y="1847088"/>
            <a:ext cx="2240280" cy="512064"/>
          </a:xfrm>
          <a:prstGeom prst="flowChartDocument">
            <a:avLst/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input.py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920240"/>
            <a:ext cx="2926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RMG's input: catalyst, molecules, 15 reactors</a:t>
            </a:r>
          </a:p>
        </p:txBody>
      </p:sp>
      <p:sp>
        <p:nvSpPr>
          <p:cNvPr id="11" name="Document 10"/>
          <p:cNvSpPr/>
          <p:nvPr/>
        </p:nvSpPr>
        <p:spPr>
          <a:xfrm>
            <a:off x="685800" y="2450592"/>
            <a:ext cx="2240280" cy="512064"/>
          </a:xfrm>
          <a:prstGeom prst="flowChartDocument">
            <a:avLst/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chem_annotated.yaml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23744"/>
            <a:ext cx="2926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the mechanism Cantera loads</a:t>
            </a:r>
          </a:p>
        </p:txBody>
      </p:sp>
      <p:sp>
        <p:nvSpPr>
          <p:cNvPr id="13" name="Document 12"/>
          <p:cNvSpPr/>
          <p:nvPr/>
        </p:nvSpPr>
        <p:spPr>
          <a:xfrm>
            <a:off x="685800" y="3054096"/>
            <a:ext cx="2240280" cy="512064"/>
          </a:xfrm>
          <a:prstGeom prst="flowChartDocument">
            <a:avLst/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seed/   species/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27248"/>
            <a:ext cx="2926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RMG's copy of the core; structure pictures</a:t>
            </a:r>
          </a:p>
        </p:txBody>
      </p:sp>
      <p:sp>
        <p:nvSpPr>
          <p:cNvPr id="15" name="Document 14"/>
          <p:cNvSpPr/>
          <p:nvPr/>
        </p:nvSpPr>
        <p:spPr>
          <a:xfrm>
            <a:off x="685800" y="3657600"/>
            <a:ext cx="2240280" cy="512064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settings.py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730752"/>
            <a:ext cx="2926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package's: roles, series, analyses</a:t>
            </a:r>
          </a:p>
        </p:txBody>
      </p:sp>
      <p:sp>
        <p:nvSpPr>
          <p:cNvPr id="17" name="Document 16"/>
          <p:cNvSpPr/>
          <p:nvPr/>
        </p:nvSpPr>
        <p:spPr>
          <a:xfrm>
            <a:off x="685800" y="4261104"/>
            <a:ext cx="2240280" cy="512064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output/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334256"/>
            <a:ext cx="2926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tables, figures, the PDF report (written by the package)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53949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Anything settings.py leaves out takes its default (docs, Appendix B).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517904"/>
            <a:ext cx="5559552" cy="3090672"/>
          </a:xfrm>
          <a:prstGeom prst="roundRect">
            <a:avLst>
              <a:gd name="adj" fmla="val 177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72768"/>
            <a:ext cx="5376672" cy="2980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9  mechanism = 'chem_annotated.yaml'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11  expected_site_density = (2.943e-09, 'mol/cm2')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14  probe_gas = 'H2(1)'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15  empty_site = 'vacantX(8)'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16  probe_adsorbate = '[PtH](33)'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17  molecular_adsorbate = '[H][H].[Pt](34)'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21  impurities = {'H2O': 'H2O(2)', …}   # 7, by name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45  temperatures = [650.0, 800.0, 1000.0, 1200.0]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46  reference_pressure = 1.0e5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47  pressures = [1.0e3, 1.0e5, 1.0e7]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48  pressure_temperatures = [650.0, 1200.0]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51  impurity_ratio = {'H2O': 10 / 190, …}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57  analyses = ['steady_state', …]   # 13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66  diagnostics = {…, 'switch_off': []}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645152"/>
            <a:ext cx="55595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runs/try_2/Cu/settings.py (excerpt)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919472"/>
            <a:ext cx="5559552" cy="457200"/>
          </a:xfrm>
          <a:prstGeom prst="roundRect">
            <a:avLst>
              <a:gd name="adj" fmla="val 1600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5010912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956048"/>
            <a:ext cx="508406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loader refuses a file that looks like an RMG input (config.py:246–248).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Keep RMG’s files as RMG wrote them.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Write one settings.py: roles, series and analyses.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Leave everything else to the defaults.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Every result goes to output/.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D · SETTINGS AND LOADING · STAGES 0–1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21493" y="100584"/>
            <a:ext cx="156728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Stage 0 · model.py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0: one number catches a mis-converted file; broken duplicate flags are repaired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Both checks run every time the package loads a mechanism, before anything is solved.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Site density: one number, two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expected_site_density = (2.943e-09, 'mol/cm2')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in settings.py, copied from RMG’s metal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expected Γ (× 10)</a:t>
            </a:r>
          </a:p>
          <a:p>
            <a:pPr algn="ctr"/>
            <a:r>
              <a:rPr sz="1500" b="1" i="0">
                <a:solidFill>
                  <a:srgbClr val="1F2328"/>
                </a:solidFill>
                <a:latin typeface="Calibri"/>
              </a:rPr>
              <a:t>2.943 × 10</a:t>
            </a:r>
            <a:r>
              <a:rPr sz="1500" b="1" i="0" baseline="30000">
                <a:solidFill>
                  <a:srgbClr val="1F2328"/>
                </a:solidFill>
                <a:latin typeface="Calibri"/>
              </a:rPr>
              <a:t>−8</a:t>
            </a:r>
            <a:r>
              <a:rPr sz="1500" b="1" i="0">
                <a:solidFill>
                  <a:srgbClr val="1F2328"/>
                </a:solidFill>
                <a:latin typeface="Calibri"/>
              </a:rPr>
              <a:t> kmol/m²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560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the YAML’s Γ (mol, m)</a:t>
            </a:r>
          </a:p>
          <a:p>
            <a:pPr algn="ctr"/>
            <a:r>
              <a:rPr sz="1500" b="1" i="0">
                <a:solidFill>
                  <a:srgbClr val="1F2328"/>
                </a:solidFill>
                <a:latin typeface="Calibri"/>
              </a:rPr>
              <a:t>2.943 × 10</a:t>
            </a:r>
            <a:r>
              <a:rPr sz="1500" b="1" i="0" baseline="30000">
                <a:solidFill>
                  <a:srgbClr val="1F2328"/>
                </a:solidFill>
                <a:latin typeface="Calibri"/>
              </a:rPr>
              <a:t>−8</a:t>
            </a:r>
            <a:r>
              <a:rPr sz="1500" b="1" i="0">
                <a:solidFill>
                  <a:srgbClr val="1F2328"/>
                </a:solidFill>
                <a:latin typeface="Calibri"/>
              </a:rPr>
              <a:t> kmol/m²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10128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site-density: 2.943e-05</a:t>
            </a:r>
          </a:p>
        </p:txBody>
      </p:sp>
      <p:sp>
        <p:nvSpPr>
          <p:cNvPr id="15" name="Oval 14"/>
          <p:cNvSpPr/>
          <p:nvPr/>
        </p:nvSpPr>
        <p:spPr>
          <a:xfrm>
            <a:off x="3081528" y="2788920"/>
            <a:ext cx="274320" cy="27432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7"/>
            <a:ext cx="512064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They must agree within 0.1 %. If not, the load stops: "wrong or mis-converted file?" (model.py:96–102).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17904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Duplicate flags without a partner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193852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Cantera refuses the whole file: “No duplicate found for declared duplicate reaction”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505456"/>
            <a:ext cx="0" cy="146304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28232" y="265176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package copies it without those flags: output/&lt;stem&gt;.duplicates_fixed.yaml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3218688"/>
            <a:ext cx="0" cy="146303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28232" y="336499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and loads the copy. The flag changes no rate; a warning says how many.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06908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try_2/Cu: none needed.  try_2/Fe: 17 flags.  try_2/Ni: 1.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45152"/>
            <a:ext cx="11185855" cy="731520"/>
          </a:xfrm>
          <a:prstGeom prst="roundRect">
            <a:avLst>
              <a:gd name="adj" fmla="val 1000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4736592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681728"/>
            <a:ext cx="10710367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trap it catches: an export in kmol units that copies the mol/cm² number would read 2.943 ×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−9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kmol/m² here, 10× too small. The load stops before anything is solved.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Convert the expected site density to kmol/m² (× 10).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it with the YAML’s own value, within 0.1 %.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Cantera refuses only duplicate flags, load a copy without them.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Stop on anything else: the file is wrong.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D · SETTINGS AND LOADING · STAGES 0–1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7912" y="100584"/>
            <a:ext cx="187086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settings.py · model.py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Stage 1: name the roles, so the code knows what to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 role is given by its name in the mechanism. The model checks that each one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Roles, given by name</a:t>
            </a:r>
          </a:p>
        </p:txBody>
      </p:sp>
      <p:sp>
        <p:nvSpPr>
          <p:cNvPr id="10" name="Oval 9"/>
          <p:cNvSpPr/>
          <p:nvPr/>
        </p:nvSpPr>
        <p:spPr>
          <a:xfrm>
            <a:off x="699516" y="215798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1" name="Oval 10"/>
          <p:cNvSpPr/>
          <p:nvPr/>
        </p:nvSpPr>
        <p:spPr>
          <a:xfrm>
            <a:off x="946404" y="215798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65960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ourier New"/>
              </a:rPr>
              <a:t>H2(1)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95144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probe gas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2944368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788920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ourier New"/>
              </a:rPr>
              <a:t>vacantX(8)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18103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empty site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3767328"/>
            <a:ext cx="347472" cy="34747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11880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ourier New"/>
              </a:rPr>
              <a:t>[PtH](33)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41064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dissociated adsorbate, H∗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7365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1636" y="4489704"/>
            <a:ext cx="219456" cy="21945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Oval 21"/>
          <p:cNvSpPr/>
          <p:nvPr/>
        </p:nvSpPr>
        <p:spPr>
          <a:xfrm>
            <a:off x="949147" y="4489704"/>
            <a:ext cx="219456" cy="21945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34840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ourier New"/>
              </a:rPr>
              <a:t>[H][H].[Pt](34)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64024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molecular adsorbate, H₂∗ (optional)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Impurities, given by 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385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80" y="2093976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0" y="1938528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H2O(2)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938528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31" name="Oval 30"/>
          <p:cNvSpPr/>
          <p:nvPr/>
        </p:nvSpPr>
        <p:spPr>
          <a:xfrm>
            <a:off x="11210544" y="1965960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32257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NH₃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69480" y="2478024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0" y="2322576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NH3(9)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322576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36" name="Oval 35"/>
          <p:cNvSpPr/>
          <p:nvPr/>
        </p:nvSpPr>
        <p:spPr>
          <a:xfrm>
            <a:off x="11210544" y="2350008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70662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69480" y="2862072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0" y="2706624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CH4(5)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706624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41" name="Oval 40"/>
          <p:cNvSpPr/>
          <p:nvPr/>
        </p:nvSpPr>
        <p:spPr>
          <a:xfrm>
            <a:off x="11210544" y="2734056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09067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69480" y="3246120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0" y="3090672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CO(4)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090672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46" name="Oval 45"/>
          <p:cNvSpPr/>
          <p:nvPr/>
        </p:nvSpPr>
        <p:spPr>
          <a:xfrm>
            <a:off x="11210544" y="3118103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4747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269480" y="3630168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72400" y="3474720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CO2(3)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474720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51" name="Oval 50"/>
          <p:cNvSpPr/>
          <p:nvPr/>
        </p:nvSpPr>
        <p:spPr>
          <a:xfrm>
            <a:off x="11210544" y="3502151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85876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69480" y="4014216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72400" y="3858768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O2(6)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3858768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56" name="Oval 55"/>
          <p:cNvSpPr/>
          <p:nvPr/>
        </p:nvSpPr>
        <p:spPr>
          <a:xfrm>
            <a:off x="11210544" y="3886200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2428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269480" y="4398264"/>
            <a:ext cx="4114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72400" y="4242816"/>
            <a:ext cx="1645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N2(7)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4242816"/>
            <a:ext cx="1554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gas species</a:t>
            </a:r>
          </a:p>
        </p:txBody>
      </p:sp>
      <p:sp>
        <p:nvSpPr>
          <p:cNvPr id="61" name="Oval 60"/>
          <p:cNvSpPr/>
          <p:nvPr/>
        </p:nvSpPr>
        <p:spPr>
          <a:xfrm>
            <a:off x="11210544" y="4270248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663440"/>
            <a:ext cx="512064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Or by composition, e.g. {'C': 1, 'O': 1}: exactly one gas species must match, or the load stops: “give the species name instead”.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Name the probe gas, the empty site and the adsorbates.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Check that each name exists in the mechanism.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Resolve each impurity: a name, or a composition with one match.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Stop with a clear message if anything is missing.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D · SETTINGS AND LOADING · STAGES 0–1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66122" y="100584"/>
            <a:ext cx="20226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model.py:69–82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find_role_reaction(): find R0 by what it does, not where it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Reaction numbers change between exports and RMG runs. Species and stoichiometry do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6675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libri"/>
              </a:rPr>
              <a:t>looking for:  </a:t>
            </a:r>
            <a:r>
              <a:rPr sz="1500" b="0" i="0">
                <a:solidFill>
                  <a:srgbClr val="1F2328"/>
                </a:solidFill>
                <a:latin typeface="Courier New"/>
              </a:rPr>
              <a:t>{H2(1), vacantX(8)}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  ⇌  </a:t>
            </a:r>
            <a:r>
              <a:rPr sz="1500" b="0" i="0">
                <a:solidFill>
                  <a:srgbClr val="1F2328"/>
                </a:solidFill>
                <a:latin typeface="Courier New"/>
              </a:rPr>
              <a:t>{[PtH](33)}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6675120" cy="4297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74519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#0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H2(1) + 2 vacantX(8) &lt;=&gt; 2 [PtH](33)</a:t>
            </a:r>
          </a:p>
        </p:txBody>
      </p:sp>
      <p:sp>
        <p:nvSpPr>
          <p:cNvPr id="12" name="Oval 11"/>
          <p:cNvSpPr/>
          <p:nvPr/>
        </p:nvSpPr>
        <p:spPr>
          <a:xfrm>
            <a:off x="5340096" y="1929384"/>
            <a:ext cx="256032" cy="256032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874519"/>
            <a:ext cx="1490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hit: sign +1, n = 2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31720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3172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H2(1) + vacantX(8) &lt;=&gt; [H][H].[Pt](34)</a:t>
            </a:r>
          </a:p>
        </p:txBody>
      </p:sp>
      <p:sp>
        <p:nvSpPr>
          <p:cNvPr id="16" name="Oval 15"/>
          <p:cNvSpPr/>
          <p:nvPr/>
        </p:nvSpPr>
        <p:spPr>
          <a:xfrm>
            <a:off x="5340096" y="2386584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31720"/>
            <a:ext cx="1490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products differ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61488"/>
            <a:ext cx="6675120" cy="4297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88920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78892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H2O(2) + vacantX(8) &lt;=&gt; O.[Pt](39)</a:t>
            </a:r>
          </a:p>
        </p:txBody>
      </p:sp>
      <p:sp>
        <p:nvSpPr>
          <p:cNvPr id="21" name="Oval 20"/>
          <p:cNvSpPr/>
          <p:nvPr/>
        </p:nvSpPr>
        <p:spPr>
          <a:xfrm>
            <a:off x="5340096" y="2843784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788920"/>
            <a:ext cx="1490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no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46120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24612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CO(4) + vacantX(8) &lt;=&gt; OCX(15)</a:t>
            </a:r>
          </a:p>
        </p:txBody>
      </p:sp>
      <p:sp>
        <p:nvSpPr>
          <p:cNvPr id="25" name="Oval 24"/>
          <p:cNvSpPr/>
          <p:nvPr/>
        </p:nvSpPr>
        <p:spPr>
          <a:xfrm>
            <a:off x="5340096" y="3300984"/>
            <a:ext cx="256032" cy="25603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3246120"/>
            <a:ext cx="1490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no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75887"/>
            <a:ext cx="6675120" cy="4297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703320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ourier New"/>
              </a:rPr>
              <a:t>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70332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… 1,391 more, up to #1394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3703320"/>
            <a:ext cx="1490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no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60520"/>
            <a:ext cx="6675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loop over every surface reaction: lines 74–78, either direction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69480" y="2926080"/>
            <a:ext cx="411480" cy="0"/>
          </a:xfrm>
          <a:prstGeom prst="line">
            <a:avLst/>
          </a:prstGeom>
          <a:ln w="22225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26679" y="2514600"/>
            <a:ext cx="150876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hits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[(0, +1, 2)]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40" y="2926080"/>
            <a:ext cx="18288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9418320" y="2331720"/>
            <a:ext cx="2240280" cy="11887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exactly one hit? (line 79)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33888" y="3520440"/>
            <a:ext cx="0" cy="33832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07040" y="3547872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3858768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return (0, +1,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931920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R0 = reaction 0, forward, 2 empty sites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1645920"/>
            <a:ext cx="22402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no: ModelError (lines 80–81)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10533888" y="2057400"/>
            <a:ext cx="0" cy="274320"/>
          </a:xfrm>
          <a:prstGeom prst="line">
            <a:avLst/>
          </a:prstGeom>
          <a:ln w="19050">
            <a:solidFill>
              <a:srgbClr val="3A40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2920" y="4526280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553712"/>
            <a:ext cx="3447288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Written the other way round: sign −1. probe_rates() then swaps forward and reverse (lines 216–217).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526280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1" y="4553712"/>
            <a:ext cx="3447288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Two matches, e.g. a duplicate reaction: ModelError. RMG can make the same reaction twice.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55864" y="4526280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4553712"/>
            <a:ext cx="3447288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Other reactions using H₂ directly: a warning. None here; try_3–5/Cu each have one (CX + H₂ ⇌ CH₂X).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each reaction’s species sets with the wanted ones.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Accept either direction, and remember which (the sign).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the number of empty sites from the stoichiometry.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Insist on exactly one match.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D · SETTINGS AND LOADING · STAGES 0–1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07170" y="100584"/>
            <a:ext cx="27816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cli.py, analyses/plan.py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check: see the roles, both series and every solve before running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ourier New"/>
              </a:rPr>
              <a:t>bash run.sh runs/try_2/Cu check</a:t>
            </a:r>
            <a:r>
              <a:rPr sz="1700" b="0" i="0">
                <a:solidFill>
                  <a:srgbClr val="4E5661"/>
                </a:solidFill>
                <a:latin typeface="Calibri"/>
              </a:rPr>
              <a:t> loads the settings and the mechanism, and solves nothing.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7086600" cy="3383280"/>
          </a:xfrm>
          <a:prstGeom prst="roundRect">
            <a:avLst>
              <a:gd name="adj" fmla="val 162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6903720" cy="3273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$ bash run.sh runs/try_2/Cu check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probe reaction #0: H2(1) + 2 vacantX(8) &lt;=&gt; 2 [PtH](33)  (+1, 2 sites)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molecular adsorption #1: H2(1) + vacantX(8) &lt;=&gt; [H][H].[Pt](34)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6 sticking coefficients exceed 1 at some temperature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temperature series: 650, 800, 1000, 1200 K at 1 bar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pressure series:    0.01, 1, 100 bar at 650 K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pressure series:    0.01, 1, 100 bar at 1200 K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72 main conditions (8 points x cases)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solves per analysis (nothing is solved by check):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  analysis  points  solves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steady_state       8      72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    curves       8     680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     sweep      12     108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pressure_sweep      18     162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    orders       8     304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rate_control       8    3392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328"/>
                </a:solidFill>
                <a:latin typeface="Courier New"/>
              </a:rPr>
              <a:t>    transients       8     224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662672" y="1837944"/>
            <a:ext cx="521207" cy="0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1700784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roles and reactions found (Stage 1)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662672" y="2532888"/>
            <a:ext cx="521207" cy="36576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2395728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both series (Stage 3)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7662672" y="2935224"/>
            <a:ext cx="521207" cy="18288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0" y="2816352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every case at every point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662672" y="3300984"/>
            <a:ext cx="521207" cy="73152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3236976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solves needed, and how many are cached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62672" y="4361688"/>
            <a:ext cx="521207" cy="36576"/>
          </a:xfrm>
          <a:prstGeom prst="line">
            <a:avLst/>
          </a:prstGeom>
          <a:ln w="12700">
            <a:solidFill>
              <a:srgbClr val="8C939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0" y="4224528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B7791F"/>
                </a:solidFill>
                <a:latin typeface="Calibri"/>
              </a:rPr>
              <a:t>rate control dominates: narrow it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Load the settings and the mechanism.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Show the roles, the series and every main condition.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 the solves each analysis needs, and how many are cached.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Narrow an expensive analysis before running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E · REPLAYING RMG'S REACTORS · STAGE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14332" y="100584"/>
            <a:ext cx="21744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analyses/flux.py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Stage 2 replays RMG's reactors in Cantera and draws where flux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closed box like RMG’s, integrated from 10⁻⁸ to 1000 s, with one flux diagram per moment.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468880" cy="804672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ourier New"/>
              </a:rPr>
              <a:t>input.py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15 reactors, read by RMG's parser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002536"/>
            <a:ext cx="320040" cy="987552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587752"/>
            <a:ext cx="2468880" cy="804672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ourier New"/>
              </a:rPr>
              <a:t>seed/seed/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RMG's species and reactions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990088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575304"/>
            <a:ext cx="2468880" cy="804672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ourier New"/>
              </a:rPr>
              <a:t>chem_annotated.yaml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the model Cantera runs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2990088"/>
            <a:ext cx="320040" cy="987551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10128" y="2560320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match species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by label, then by structure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84648" y="2990088"/>
            <a:ext cx="256032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2560320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closed batch reactor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10⁻⁸ to 1000 s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100 time 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2990088"/>
            <a:ext cx="256032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71232" y="2560320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one flux diagram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per time 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45752" y="2990088"/>
            <a:ext cx="256032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01784" y="2560320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E6E9ED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one video per run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flux/&lt;n&gt;_&lt;T&gt;K/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572768"/>
            <a:ext cx="832104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Optional. Run with </a:t>
            </a:r>
            <a:r>
              <a:rPr sz="1400" b="0" i="0">
                <a:solidFill>
                  <a:srgbClr val="4E5661"/>
                </a:solidFill>
                <a:latin typeface="Courier New"/>
              </a:rPr>
              <a:t>bash run.sh runs/try_2/Cu --only flux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. Needs RMG-Py (flux['rmg_path'] in settings.py), RDKit, Graphviz and ffmpeg; one reactor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611880"/>
            <a:ext cx="83210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The reactor is sized like RMG’s: V = RT/P for 1 mol of gas, and catalyst area A = V × 10⁵ m⁻¹ from input.py.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4370832"/>
            <a:ext cx="8375904" cy="914400"/>
          </a:xfrm>
          <a:prstGeom prst="roundRect">
            <a:avLst>
              <a:gd name="adj" fmla="val 800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01568" y="4462272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4407408"/>
            <a:ext cx="7900416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Not run yet for any try_* mechanism. Every try_2/Cu reactor spans 650–1200 K, so it has no single T (RMG samples the range): each runs at both ends, 650 and 1200 K, 30 runs in all, or at flux['temperatures'].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the 15 reactors with RMG’s own input parser.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Match RMG’s species and reactions to Cantera’s.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Run each reactor at 650 and 1200 K, 10⁻⁸ to 1000 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Draw a flux diagram at each time and stitch a video.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E · REPLAYING RMG'S REACTORS · STAGE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Reading a flux diagram: arrow width is flux, on a log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Arrows join species that swap atoms. The thinnest arrow drawn is 10⁻⁶ of the largest.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76072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947672"/>
            <a:ext cx="91440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254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2B6CB0"/>
                </a:solidFill>
                <a:latin typeface="Calibri"/>
              </a:rPr>
              <a:t>H₂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47672"/>
            <a:ext cx="91440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254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2B6CB0"/>
                </a:solidFill>
                <a:latin typeface="Calibri"/>
              </a:rPr>
              <a:t>H∗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913631"/>
            <a:ext cx="91440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254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2B6CB0"/>
                </a:solidFill>
                <a:latin typeface="Calibri"/>
              </a:rPr>
              <a:t>H₂∗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913631"/>
            <a:ext cx="91440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B83246"/>
                </a:solidFill>
                <a:latin typeface="Calibri"/>
              </a:rPr>
              <a:t>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913631"/>
            <a:ext cx="91440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B83246"/>
                </a:solidFill>
                <a:latin typeface="Calibri"/>
              </a:rPr>
              <a:t>CO∗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01952" y="2194560"/>
            <a:ext cx="2459736" cy="0"/>
          </a:xfrm>
          <a:prstGeom prst="line">
            <a:avLst/>
          </a:prstGeom>
          <a:ln w="88900">
            <a:solidFill>
              <a:srgbClr val="2B6CB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17320" y="2459736"/>
            <a:ext cx="0" cy="1435608"/>
          </a:xfrm>
          <a:prstGeom prst="line">
            <a:avLst/>
          </a:prstGeom>
          <a:ln w="38100">
            <a:solidFill>
              <a:srgbClr val="2B6CB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67328" y="4160520"/>
            <a:ext cx="877824" cy="0"/>
          </a:xfrm>
          <a:prstGeom prst="line">
            <a:avLst/>
          </a:prstGeom>
          <a:ln w="114300">
            <a:solidFill>
              <a:srgbClr val="B832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7744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large flux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17520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smaller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3200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schematic, not a computed diagram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517904"/>
            <a:ext cx="5148072" cy="2377440"/>
          </a:xfrm>
          <a:prstGeom prst="roundRect">
            <a:avLst>
              <a:gd name="adj" fmla="val 384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09344"/>
            <a:ext cx="48737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Width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4937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w = w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max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(1 − log₁₀ x / log₁₀ x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tol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9572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mbria"/>
              </a:rPr>
              <a:t>x = |R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ab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| / max |R|,   x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tol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= 10</a:t>
            </a:r>
            <a:r>
              <a:rPr sz="1600" b="0" i="0" baseline="30000">
                <a:solidFill>
                  <a:srgbClr val="1F2328"/>
                </a:solidFill>
                <a:latin typeface="Cambria"/>
              </a:rPr>
              <a:t>−6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,   w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max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=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98064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x =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2944368"/>
            <a:ext cx="1554480" cy="0"/>
          </a:xfrm>
          <a:prstGeom prst="line">
            <a:avLst/>
          </a:prstGeom>
          <a:ln w="1016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29800" y="2798064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widest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99816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x = 10</a:t>
            </a:r>
            <a:r>
              <a:rPr sz="1400" b="0" i="0" baseline="30000">
                <a:solidFill>
                  <a:srgbClr val="1F2328"/>
                </a:solidFill>
                <a:latin typeface="Cambria"/>
              </a:rPr>
              <a:t>−3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38160" y="3246120"/>
            <a:ext cx="1554480" cy="0"/>
          </a:xfrm>
          <a:prstGeom prst="line">
            <a:avLst/>
          </a:prstGeom>
          <a:ln w="508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829800" y="3099816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half 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401568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x &lt; 10</a:t>
            </a:r>
            <a:r>
              <a:rPr sz="1400" b="0" i="0" baseline="30000">
                <a:solidFill>
                  <a:srgbClr val="1F2328"/>
                </a:solidFill>
                <a:latin typeface="Cambria"/>
              </a:rPr>
              <a:t>−6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8160" y="3547872"/>
            <a:ext cx="1554480" cy="0"/>
          </a:xfrm>
          <a:prstGeom prst="line">
            <a:avLst/>
          </a:prstGeom>
          <a:ln w="12700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29800" y="3401568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not drawn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4069080"/>
            <a:ext cx="5148072" cy="1307592"/>
          </a:xfrm>
          <a:prstGeom prst="roundRect">
            <a:avLst>
              <a:gd name="adj" fmla="val 5594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29400" y="416052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4105656"/>
            <a:ext cx="4672583" cy="1234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Node borders put gas (kmol/m³) and surface (kmol/m²) concentrations on one scale. Compare borders only within one phase; arrow widths compare everywhere.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Each arrow joins two species that exchange atoms.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Its width grows with the log of the flux.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Below 10⁻⁶ of the largest flux, no arrow is drawn.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node borders only within one phase.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F · DESIGNING THE CONDITIONS · STAGE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42017" y="100584"/>
            <a:ext cx="194675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conditions.py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3: hold H₂ fixed and add each impurity on top, at RMG reactor 1’s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 case has the same p(H₂), so a change in rate comes from the impurity, not from less H₂.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Every case at p(H₂) = 1 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019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92024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6771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28600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26771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6B4FA0"/>
                </a:solidFill>
                <a:latin typeface="Calibri"/>
              </a:rPr>
              <a:t>+ 0.0526 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3347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65176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63347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B83246"/>
                </a:solidFill>
                <a:latin typeface="Calibri"/>
              </a:rPr>
              <a:t>+ 0.0053 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992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01752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99923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3949AB"/>
                </a:solidFill>
                <a:latin typeface="Calibri"/>
              </a:rPr>
              <a:t>+ 0.0045 bar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649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338328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36499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8A5A2B"/>
                </a:solidFill>
                <a:latin typeface="Calibri"/>
              </a:rPr>
              <a:t>+ 0.0042 bar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307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749039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73075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00838F"/>
                </a:solidFill>
                <a:latin typeface="Calibri"/>
              </a:rPr>
              <a:t>+ 0.0008 bar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9651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NH₃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411480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09651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C0508F"/>
                </a:solidFill>
                <a:latin typeface="Calibri"/>
              </a:rPr>
              <a:t>+ 0.0005 bar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46227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448056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46227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</a:rPr>
              <a:t>+ 0.0003 bar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280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4846320"/>
            <a:ext cx="210312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  1 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828032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+ 0.0682 bar, all seven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p(impurity) / p(H₂), in ppm (log scale)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60920" y="1938528"/>
            <a:ext cx="0" cy="2798064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58200" y="1938528"/>
            <a:ext cx="0" cy="2798064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55480" y="1938528"/>
            <a:ext cx="0" cy="2798064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12280" y="4773168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4773168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773168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4773168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100,000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60920" y="4736592"/>
            <a:ext cx="3291840" cy="0"/>
          </a:xfrm>
          <a:prstGeom prst="line">
            <a:avLst/>
          </a:prstGeom>
          <a:ln w="12700">
            <a:solidFill>
              <a:srgbClr val="4E5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400800" y="18745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H₂O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60920" y="2011680"/>
            <a:ext cx="2985969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255449" y="1920240"/>
            <a:ext cx="182880" cy="182880"/>
          </a:xfrm>
          <a:prstGeom prst="ellipse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4905" y="186537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52,632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22585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60920" y="2395728"/>
            <a:ext cx="1888689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158169" y="2304288"/>
            <a:ext cx="182880" cy="18288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7625" y="224942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5,263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264261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60920" y="2779776"/>
            <a:ext cx="1811242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9080722" y="2688336"/>
            <a:ext cx="182880" cy="182880"/>
          </a:xfrm>
          <a:prstGeom prst="ellipse">
            <a:avLst/>
          </a:prstGeom>
          <a:solidFill>
            <a:srgbClr val="394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00178" y="263347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4,474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30266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60920" y="3163824"/>
            <a:ext cx="1782351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051831" y="3072384"/>
            <a:ext cx="182880" cy="1828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71287" y="301752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4,211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34107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360920" y="3547872"/>
            <a:ext cx="984630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254110" y="3456432"/>
            <a:ext cx="182880" cy="18288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3566" y="3401568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789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37947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NH₃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60920" y="3931920"/>
            <a:ext cx="791409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060889" y="3840480"/>
            <a:ext cx="182880" cy="182880"/>
          </a:xfrm>
          <a:prstGeom prst="ellipse">
            <a:avLst/>
          </a:prstGeom>
          <a:solidFill>
            <a:srgbClr val="C0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0345" y="378561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526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41788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360920" y="4315968"/>
            <a:ext cx="461095" cy="0"/>
          </a:xfrm>
          <a:prstGeom prst="line">
            <a:avLst/>
          </a:prstGeom>
          <a:ln w="9525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730575" y="4224528"/>
            <a:ext cx="182880" cy="18288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0031" y="416966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263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Hold p(H₂) at its series value in every case.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Add each impurity at its ratio to H₂, from RMG reactor 1.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“all” adds all seven: reactor 1’s own gas.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change in rate then comes from the impurity, not from less H₂.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F · DESIGNING THE CONDITIONS · STAGE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42017" y="100584"/>
            <a:ext cx="194675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conditions.py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Two series, never mixed: temperature at 1 bar, pressure at 650 and 1200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Temperature and pressure effects stay apart. Both stay inside the range RMG built the mechanism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8335" y="2091827"/>
            <a:ext cx="4332849" cy="2588422"/>
          </a:xfrm>
          <a:prstGeom prst="rect">
            <a:avLst/>
          </a:prstGeom>
          <a:solidFill>
            <a:srgbClr val="F2F3F5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2655" y="2128403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4E5661"/>
                </a:solidFill>
                <a:latin typeface="Calibri"/>
              </a:rPr>
              <a:t>RMG’s reactors: 650–1200 K, 0.01–100 bar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4937760"/>
            <a:ext cx="5120639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1737360"/>
            <a:ext cx="0" cy="32004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4974336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283464" y="30861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4" name="TextBox 13"/>
          <p:cNvSpPr txBox="1"/>
          <p:nvPr/>
        </p:nvSpPr>
        <p:spPr>
          <a:xfrm>
            <a:off x="1234440" y="5248656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T (K)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39903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p(H₂), bar (log scale)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2575" y="4992624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4261" y="4992624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9843" y="4992624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5424" y="4992624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552234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0.01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258023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963811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100</a:t>
            </a:r>
          </a:p>
        </p:txBody>
      </p:sp>
      <p:sp>
        <p:nvSpPr>
          <p:cNvPr id="23" name="Oval 22"/>
          <p:cNvSpPr/>
          <p:nvPr/>
        </p:nvSpPr>
        <p:spPr>
          <a:xfrm>
            <a:off x="1527751" y="3285455"/>
            <a:ext cx="201168" cy="20116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09437" y="3285455"/>
            <a:ext cx="201168" cy="20116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85019" y="3285455"/>
            <a:ext cx="201168" cy="20116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60600" y="3285455"/>
            <a:ext cx="201168" cy="20116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72887" y="4524802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72887" y="3230591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72887" y="1936379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5736" y="4524802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5736" y="3230591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05736" y="1936379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855" y="292883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both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9704" y="292883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both</a:t>
            </a:r>
          </a:p>
        </p:txBody>
      </p:sp>
      <p:sp>
        <p:nvSpPr>
          <p:cNvPr id="35" name="Oval 34"/>
          <p:cNvSpPr/>
          <p:nvPr/>
        </p:nvSpPr>
        <p:spPr>
          <a:xfrm>
            <a:off x="6894576" y="1819656"/>
            <a:ext cx="201168" cy="20116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1783080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temperature series: 650, 800, 1000, 1200 K at 1 bar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9712" y="2221992"/>
            <a:ext cx="310896" cy="310896"/>
          </a:xfrm>
          <a:prstGeom prst="rect">
            <a:avLst/>
          </a:prstGeom>
          <a:noFill/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2240280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pressure series: 0.01, 1, 100 bar at 650 and 1200 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2743200"/>
            <a:ext cx="4919472" cy="2633472"/>
          </a:xfrm>
          <a:prstGeom prst="roundRect">
            <a:avLst>
              <a:gd name="adj" fmla="val 3472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852928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1F2328"/>
                </a:solidFill>
                <a:latin typeface="Calibri"/>
              </a:rPr>
              <a:t>4 + 2 × 3 − 2 shared = 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8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73552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1F2328"/>
                </a:solidFill>
                <a:latin typeface="Calibri"/>
              </a:rPr>
              <a:t>× 9 cases = 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72 main 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73075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each with a key, for example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86784"/>
            <a:ext cx="4663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fixed_probe | CO | 650 K | 1 bar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370832"/>
            <a:ext cx="4572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Every point-based analysis runs on both series; its own section can narrow that (series, temperatures, pressures, pressure_temperatures).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Temperature series: vary T at p(H₂) = 1 bar.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Pressure series: vary p(H₂) at 650 K and at 1200 K.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point in both is solved once and labelled “both”.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8 points × 9 cases = 72 main conditions.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Stage 4: a steady state is 71 coverages that make every net rate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Two ways to find it: Newton’s method jumps there; time integration walks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02920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71 unknowns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71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θ  vacantX(8)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574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ṡ(vacantX)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θ  [PtH](33)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146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ṡ([PtH])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θ  [H][H].[Pt](34)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718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ṡ([H][H])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θ  OCX(15)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290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ṡ(OCX)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   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86200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ourier New"/>
              </a:rPr>
              <a:t>   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466344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Σ θ = 1 replaces one of the equations: the site balance makes one of them redundant.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66560" y="4434840"/>
            <a:ext cx="448056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66560" y="1737360"/>
            <a:ext cx="0" cy="2697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6560" y="4471416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one coverage θ (of 71)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2834640"/>
            <a:ext cx="11430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400" b="0" i="0">
                <a:solidFill>
                  <a:srgbClr val="4E5661"/>
                </a:solidFill>
                <a:latin typeface="Calibri"/>
              </a:rPr>
              <a:t>net rate ṡ(θ)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60" y="3374136"/>
            <a:ext cx="4480560" cy="0"/>
          </a:xfrm>
          <a:prstGeom prst="line">
            <a:avLst/>
          </a:prstGeom>
          <a:ln w="12700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6766560" y="1915667"/>
            <a:ext cx="4480560" cy="2267763"/>
          </a:xfrm>
          <a:custGeom>
            <a:avLst/>
            <a:gdLst/>
            <a:ahLst/>
            <a:cxnLst/>
            <a:rect l="l" t="t" r="r" b="b"/>
            <a:pathLst>
              <a:path w="4480560" h="2267763">
                <a:moveTo>
                  <a:pt x="0" y="0"/>
                </a:moveTo>
                <a:lnTo>
                  <a:pt x="74676" y="116396"/>
                </a:lnTo>
                <a:lnTo>
                  <a:pt x="149352" y="227114"/>
                </a:lnTo>
                <a:lnTo>
                  <a:pt x="224028" y="332433"/>
                </a:lnTo>
                <a:lnTo>
                  <a:pt x="298704" y="432615"/>
                </a:lnTo>
                <a:lnTo>
                  <a:pt x="373380" y="527911"/>
                </a:lnTo>
                <a:lnTo>
                  <a:pt x="448056" y="618560"/>
                </a:lnTo>
                <a:lnTo>
                  <a:pt x="522732" y="704787"/>
                </a:lnTo>
                <a:lnTo>
                  <a:pt x="597408" y="786809"/>
                </a:lnTo>
                <a:lnTo>
                  <a:pt x="672084" y="864831"/>
                </a:lnTo>
                <a:lnTo>
                  <a:pt x="746760" y="939048"/>
                </a:lnTo>
                <a:lnTo>
                  <a:pt x="821436" y="1009645"/>
                </a:lnTo>
                <a:lnTo>
                  <a:pt x="896112" y="1076799"/>
                </a:lnTo>
                <a:lnTo>
                  <a:pt x="970788" y="1140678"/>
                </a:lnTo>
                <a:lnTo>
                  <a:pt x="1045464" y="1201442"/>
                </a:lnTo>
                <a:lnTo>
                  <a:pt x="1120140" y="1259242"/>
                </a:lnTo>
                <a:lnTo>
                  <a:pt x="1194816" y="1314223"/>
                </a:lnTo>
                <a:lnTo>
                  <a:pt x="1269492" y="1366523"/>
                </a:lnTo>
                <a:lnTo>
                  <a:pt x="1344168" y="1416272"/>
                </a:lnTo>
                <a:lnTo>
                  <a:pt x="1418844" y="1463595"/>
                </a:lnTo>
                <a:lnTo>
                  <a:pt x="1493520" y="1508609"/>
                </a:lnTo>
                <a:lnTo>
                  <a:pt x="1568196" y="1551429"/>
                </a:lnTo>
                <a:lnTo>
                  <a:pt x="1642872" y="1592160"/>
                </a:lnTo>
                <a:lnTo>
                  <a:pt x="1717548" y="1630904"/>
                </a:lnTo>
                <a:lnTo>
                  <a:pt x="1792224" y="1667759"/>
                </a:lnTo>
                <a:lnTo>
                  <a:pt x="1866900" y="1702817"/>
                </a:lnTo>
                <a:lnTo>
                  <a:pt x="1941576" y="1736164"/>
                </a:lnTo>
                <a:lnTo>
                  <a:pt x="2016252" y="1767886"/>
                </a:lnTo>
                <a:lnTo>
                  <a:pt x="2090928" y="1798060"/>
                </a:lnTo>
                <a:lnTo>
                  <a:pt x="2165604" y="1826763"/>
                </a:lnTo>
                <a:lnTo>
                  <a:pt x="2240280" y="1854066"/>
                </a:lnTo>
                <a:lnTo>
                  <a:pt x="2314956" y="1880037"/>
                </a:lnTo>
                <a:lnTo>
                  <a:pt x="2389632" y="1904742"/>
                </a:lnTo>
                <a:lnTo>
                  <a:pt x="2464308" y="1928241"/>
                </a:lnTo>
                <a:lnTo>
                  <a:pt x="2538984" y="1950595"/>
                </a:lnTo>
                <a:lnTo>
                  <a:pt x="2613660" y="1971858"/>
                </a:lnTo>
                <a:lnTo>
                  <a:pt x="2688336" y="1992085"/>
                </a:lnTo>
                <a:lnTo>
                  <a:pt x="2763012" y="2011325"/>
                </a:lnTo>
                <a:lnTo>
                  <a:pt x="2837688" y="2029626"/>
                </a:lnTo>
                <a:lnTo>
                  <a:pt x="2912364" y="2047035"/>
                </a:lnTo>
                <a:lnTo>
                  <a:pt x="2987040" y="2063595"/>
                </a:lnTo>
                <a:lnTo>
                  <a:pt x="3061716" y="2079348"/>
                </a:lnTo>
                <a:lnTo>
                  <a:pt x="3136392" y="2094332"/>
                </a:lnTo>
                <a:lnTo>
                  <a:pt x="3211068" y="2108585"/>
                </a:lnTo>
                <a:lnTo>
                  <a:pt x="3285744" y="2122143"/>
                </a:lnTo>
                <a:lnTo>
                  <a:pt x="3360420" y="2135040"/>
                </a:lnTo>
                <a:lnTo>
                  <a:pt x="3435096" y="2147308"/>
                </a:lnTo>
                <a:lnTo>
                  <a:pt x="3509772" y="2158978"/>
                </a:lnTo>
                <a:lnTo>
                  <a:pt x="3584448" y="2170078"/>
                </a:lnTo>
                <a:lnTo>
                  <a:pt x="3659124" y="2180638"/>
                </a:lnTo>
                <a:lnTo>
                  <a:pt x="3733800" y="2190682"/>
                </a:lnTo>
                <a:lnTo>
                  <a:pt x="3808476" y="2200236"/>
                </a:lnTo>
                <a:lnTo>
                  <a:pt x="3883152" y="2209324"/>
                </a:lnTo>
                <a:lnTo>
                  <a:pt x="3957828" y="2217969"/>
                </a:lnTo>
                <a:lnTo>
                  <a:pt x="4032504" y="2226193"/>
                </a:lnTo>
                <a:lnTo>
                  <a:pt x="4107180" y="2234015"/>
                </a:lnTo>
                <a:lnTo>
                  <a:pt x="4181856" y="2241456"/>
                </a:lnTo>
                <a:lnTo>
                  <a:pt x="4256532" y="2248534"/>
                </a:lnTo>
                <a:lnTo>
                  <a:pt x="4331208" y="2255267"/>
                </a:lnTo>
                <a:lnTo>
                  <a:pt x="4405884" y="2261671"/>
                </a:lnTo>
                <a:lnTo>
                  <a:pt x="4480560" y="2267763"/>
                </a:lnTo>
              </a:path>
            </a:pathLst>
          </a:custGeom>
          <a:noFill/>
          <a:ln w="317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6766560" y="1915667"/>
            <a:ext cx="912706" cy="1458469"/>
          </a:xfrm>
          <a:custGeom>
            <a:avLst/>
            <a:gdLst/>
            <a:ahLst/>
            <a:cxnLst/>
            <a:rect l="l" t="t" r="r" b="b"/>
            <a:pathLst>
              <a:path w="912706" h="1458469">
                <a:moveTo>
                  <a:pt x="0" y="0"/>
                </a:moveTo>
                <a:lnTo>
                  <a:pt x="912706" y="1458469"/>
                </a:lnTo>
              </a:path>
            </a:pathLst>
          </a:custGeom>
          <a:noFill/>
          <a:ln w="22225">
            <a:solidFill>
              <a:srgbClr val="3A404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7679266" y="3006939"/>
            <a:ext cx="0" cy="367197"/>
          </a:xfrm>
          <a:custGeom>
            <a:avLst/>
            <a:gdLst/>
            <a:ahLst/>
            <a:cxnLst/>
            <a:rect l="l" t="t" r="r" b="b"/>
            <a:pathLst>
              <a:path w="0" h="367197">
                <a:moveTo>
                  <a:pt x="0" y="36719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40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679266" y="3006939"/>
            <a:ext cx="423385" cy="367197"/>
          </a:xfrm>
          <a:custGeom>
            <a:avLst/>
            <a:gdLst/>
            <a:ahLst/>
            <a:cxnLst/>
            <a:rect l="l" t="t" r="r" b="b"/>
            <a:pathLst>
              <a:path w="423385" h="367197">
                <a:moveTo>
                  <a:pt x="0" y="0"/>
                </a:moveTo>
                <a:lnTo>
                  <a:pt x="423385" y="367197"/>
                </a:lnTo>
              </a:path>
            </a:pathLst>
          </a:custGeom>
          <a:noFill/>
          <a:ln w="22225">
            <a:solidFill>
              <a:srgbClr val="3A404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03980" y="3300984"/>
            <a:ext cx="146304" cy="14630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6860" y="299008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2F855A"/>
                </a:solidFill>
                <a:latin typeface="Calibri"/>
              </a:rPr>
              <a:t>steady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874519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3A4048"/>
                </a:solidFill>
                <a:latin typeface="Calibri"/>
              </a:rPr>
              <a:t>Newton: follow the tangent</a:t>
            </a:r>
          </a:p>
        </p:txBody>
      </p:sp>
      <p:sp>
        <p:nvSpPr>
          <p:cNvPr id="34" name="Oval 33"/>
          <p:cNvSpPr/>
          <p:nvPr/>
        </p:nvSpPr>
        <p:spPr>
          <a:xfrm>
            <a:off x="6815023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6988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28206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21162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40794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14966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60953" y="3790187"/>
            <a:ext cx="82296" cy="82296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3941063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time steps: smaller and smaller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1490472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Unknowns: the coverage of each of the 71 surface species.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Equations: each species’ net production rate is zero.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Newton follows tangents: fast, but it can fail.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Time integration follows the real dynamics: slower, robust.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38436" y="100584"/>
            <a:ext cx="22503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solver.py:146–165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solve_steady_state(): choose a method by temperature, accept only checked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Below 400 K the direct solve is skipped: there it tends to fail, and slowly.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0116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inputs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ourier New"/>
              </a:rPr>
              <a:t>T, P, X, θ⁰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67711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 146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920240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2834640" y="1481328"/>
            <a:ext cx="210312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T &lt; 400 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50008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 143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481328"/>
            <a:ext cx="2743200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yes: methods = (reactor,)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965960"/>
            <a:ext cx="2743200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no: methods = (direct, reactor)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937760" y="1673352"/>
            <a:ext cx="640080" cy="15544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011680"/>
            <a:ext cx="640080" cy="146304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2743200"/>
            <a:ext cx="8275320" cy="1783080"/>
          </a:xfrm>
          <a:prstGeom prst="roundRect">
            <a:avLst>
              <a:gd name="adj" fmla="val 5128"/>
            </a:avLst>
          </a:prstGeom>
          <a:noFill/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779776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1">
                <a:solidFill>
                  <a:srgbClr val="4E5661"/>
                </a:solidFill>
                <a:latin typeface="Calibri"/>
              </a:rPr>
              <a:t>for each method, in order</a:t>
            </a:r>
          </a:p>
        </p:txBody>
      </p:sp>
      <p:sp>
        <p:nvSpPr>
          <p:cNvPr id="19" name="Freeform 18"/>
          <p:cNvSpPr/>
          <p:nvPr/>
        </p:nvSpPr>
        <p:spPr>
          <a:xfrm>
            <a:off x="1600200" y="2350008"/>
            <a:ext cx="5349240" cy="804672"/>
          </a:xfrm>
          <a:custGeom>
            <a:avLst/>
            <a:gdLst/>
            <a:ahLst/>
            <a:cxnLst/>
            <a:rect l="l" t="t" r="r" b="b"/>
            <a:pathLst>
              <a:path w="5349240" h="804672">
                <a:moveTo>
                  <a:pt x="5349240" y="0"/>
                </a:moveTo>
                <a:lnTo>
                  <a:pt x="5349240" y="210312"/>
                </a:lnTo>
                <a:lnTo>
                  <a:pt x="0" y="210312"/>
                </a:lnTo>
                <a:lnTo>
                  <a:pt x="0" y="804672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20116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set_state()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fresh surface · line 154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3538728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26080" y="3154680"/>
            <a:ext cx="182880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run the method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line 155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3538728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5029200" y="3017520"/>
            <a:ext cx="3017520" cy="10515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finished, and check_convergence() passes? (156–159)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538728"/>
            <a:ext cx="9601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83879" y="3246120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154680"/>
            <a:ext cx="2679192" cy="777240"/>
          </a:xfrm>
          <a:prstGeom prst="roundRect">
            <a:avLst>
              <a:gd name="adj" fmla="val 9411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return θ, info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info names the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941063"/>
            <a:ext cx="2679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161–163</a:t>
            </a:r>
          </a:p>
        </p:txBody>
      </p:sp>
      <p:sp>
        <p:nvSpPr>
          <p:cNvPr id="29" name="Freeform 28"/>
          <p:cNvSpPr/>
          <p:nvPr/>
        </p:nvSpPr>
        <p:spPr>
          <a:xfrm>
            <a:off x="1600200" y="3931920"/>
            <a:ext cx="4937760" cy="438912"/>
          </a:xfrm>
          <a:custGeom>
            <a:avLst/>
            <a:gdLst/>
            <a:ahLst/>
            <a:cxnLst/>
            <a:rect l="l" t="t" r="r" b="b"/>
            <a:pathLst>
              <a:path w="4937760" h="438912">
                <a:moveTo>
                  <a:pt x="4937760" y="137160"/>
                </a:moveTo>
                <a:lnTo>
                  <a:pt x="4937760" y="438912"/>
                </a:lnTo>
                <a:lnTo>
                  <a:pt x="0" y="43891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4096512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no: try the next method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251960"/>
            <a:ext cx="26791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none left: return None, failed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809744"/>
            <a:ext cx="2679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164–165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4526280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2920" y="4846320"/>
            <a:ext cx="36301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855464"/>
            <a:ext cx="344728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A method can finish but fail a check: that counts as a failure, and the next method runs (157–159).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4846320"/>
            <a:ext cx="36301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1" y="4855464"/>
            <a:ext cx="344728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Every attempt, with its time and error, is kept in info["attempts"] (line 160).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5864" y="4846320"/>
            <a:ext cx="36301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7304" y="4855464"/>
            <a:ext cx="344728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try_2/Cu is at 650 K or above, so direct runs first: it solved start A at all 72 conditions, start B at 71.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Below 400 K, use the reactor method only.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 every attempt from a freshly set state.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Accept a result only if check_convergence() passes.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Otherwise try the next method, or report failure.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solver.py:31–52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set_state(): a fresh surface, and the gas set but never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Cantera’s steady-state solver keeps state on the surface object, so every attempt gets a new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88336" cy="2971800"/>
          </a:xfrm>
          <a:prstGeom prst="roundRect">
            <a:avLst>
              <a:gd name="adj" fmla="val 340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24140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1 · fresh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87952"/>
            <a:ext cx="23774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line 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91256" y="2971800"/>
            <a:ext cx="137159" cy="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28415" y="1517904"/>
            <a:ext cx="2688336" cy="2971800"/>
          </a:xfrm>
          <a:prstGeom prst="roundRect">
            <a:avLst>
              <a:gd name="adj" fmla="val 340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609344"/>
            <a:ext cx="24140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2 · set the 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5" y="4187952"/>
            <a:ext cx="23774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lines 37–38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2971800"/>
            <a:ext cx="137160" cy="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517904"/>
            <a:ext cx="2688336" cy="2971800"/>
          </a:xfrm>
          <a:prstGeom prst="roundRect">
            <a:avLst>
              <a:gd name="adj" fmla="val 340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609344"/>
            <a:ext cx="24140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3 · check the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187952"/>
            <a:ext cx="23774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lines 39–44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42248" y="2971800"/>
            <a:ext cx="137160" cy="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79408" y="1517904"/>
            <a:ext cx="2688336" cy="2971800"/>
          </a:xfrm>
          <a:prstGeom prst="roundRect">
            <a:avLst>
              <a:gd name="adj" fmla="val 340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609344"/>
            <a:ext cx="24140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4 · set and 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4187952"/>
            <a:ext cx="23774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8C939D"/>
                </a:solidFill>
                <a:latin typeface="Courier New"/>
              </a:rPr>
              <a:t>lines 45–52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0574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8C939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103120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new Interface object</a:t>
            </a:r>
          </a:p>
        </p:txBody>
      </p:sp>
      <p:sp>
        <p:nvSpPr>
          <p:cNvPr id="25" name="Oval 24"/>
          <p:cNvSpPr/>
          <p:nvPr/>
        </p:nvSpPr>
        <p:spPr>
          <a:xfrm>
            <a:off x="905256" y="26700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2456" y="26700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19656" y="26700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76856" y="26700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37560"/>
            <a:ext cx="24231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model.new_surface()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2735" y="2011680"/>
            <a:ext cx="2139696" cy="1234440"/>
          </a:xfrm>
          <a:prstGeom prst="roundRect">
            <a:avLst>
              <a:gd name="adj" fmla="val 5925"/>
            </a:avLst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45051" y="22402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4091939" y="22402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3" name="Oval 32"/>
          <p:cNvSpPr/>
          <p:nvPr/>
        </p:nvSpPr>
        <p:spPr>
          <a:xfrm>
            <a:off x="4850892" y="237744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4" name="Oval 33"/>
          <p:cNvSpPr/>
          <p:nvPr/>
        </p:nvSpPr>
        <p:spPr>
          <a:xfrm>
            <a:off x="5097779" y="237744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1396" y="27432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5575" y="3337560"/>
            <a:ext cx="24231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gas.TPX = T, P, X</a:t>
            </a:r>
          </a:p>
        </p:txBody>
      </p:sp>
      <p:sp>
        <p:nvSpPr>
          <p:cNvPr id="37" name="Diamond 36"/>
          <p:cNvSpPr/>
          <p:nvPr/>
        </p:nvSpPr>
        <p:spPr>
          <a:xfrm>
            <a:off x="6336792" y="1993392"/>
            <a:ext cx="1600200" cy="65836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names known?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176272"/>
            <a:ext cx="822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no: error</a:t>
            </a:r>
          </a:p>
        </p:txBody>
      </p:sp>
      <p:sp>
        <p:nvSpPr>
          <p:cNvPr id="39" name="Diamond 38"/>
          <p:cNvSpPr/>
          <p:nvPr/>
        </p:nvSpPr>
        <p:spPr>
          <a:xfrm>
            <a:off x="6336792" y="2743200"/>
            <a:ext cx="1600200" cy="65836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sums to 1?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2926080"/>
            <a:ext cx="822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no: 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456432"/>
            <a:ext cx="24688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np.isclose: within about 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17736" y="2532887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95460" y="21579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98380" y="21579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01300" y="21579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04220" y="21579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6568" y="2834640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clean start: θ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vacantX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=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6568" y="3154680"/>
            <a:ext cx="246888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assert T, P, X applied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return a copy of gas 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617720"/>
            <a:ext cx="5513832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626864"/>
            <a:ext cx="5330952" cy="7589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θ⁰ = {vacantX(8): 0.99, [PtH](33): 0.02} sums to 1.01: ValueError. Cantera would otherwise rescale it and run a different start.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4617720"/>
            <a:ext cx="5513832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7" y="4626864"/>
            <a:ext cx="5330952" cy="7589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Why a fresh object: on one reused Interface, a second steady-state solve failed with a singular-matrix error (Cantera 3.0.1).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Make a fresh surface object for this attempt.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Set the gas temperature, pressure and composition.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Refuse starting coverages that are unknown or don’t sum to 1.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Return the gas composition, to check later that it never moved.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solver.py:88–95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Method 1, direct: Cantera’s Newton solve, fast when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advance_coverages_to_steady_state() solves the rate equations directly, with damping and time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3383280"/>
            <a:ext cx="36576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737360" y="1737360"/>
            <a:ext cx="0" cy="164592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3419856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" y="2308860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400" b="0" i="0">
                <a:solidFill>
                  <a:srgbClr val="4E5661"/>
                </a:solidFill>
                <a:latin typeface="Calibri"/>
              </a:rPr>
              <a:t>ṡ(θ)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583180"/>
            <a:ext cx="3657600" cy="0"/>
          </a:xfrm>
          <a:prstGeom prst="line">
            <a:avLst/>
          </a:prstGeom>
          <a:ln w="12700">
            <a:solidFill>
              <a:srgbClr val="D0D4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1737360" y="1863090"/>
            <a:ext cx="3657600" cy="1440180"/>
          </a:xfrm>
          <a:custGeom>
            <a:avLst/>
            <a:gdLst/>
            <a:ahLst/>
            <a:cxnLst/>
            <a:rect l="l" t="t" r="r" b="b"/>
            <a:pathLst>
              <a:path w="3657600" h="1440180">
                <a:moveTo>
                  <a:pt x="0" y="0"/>
                </a:moveTo>
                <a:lnTo>
                  <a:pt x="60960" y="123459"/>
                </a:lnTo>
                <a:lnTo>
                  <a:pt x="121920" y="187130"/>
                </a:lnTo>
                <a:lnTo>
                  <a:pt x="182880" y="238670"/>
                </a:lnTo>
                <a:lnTo>
                  <a:pt x="243839" y="283636"/>
                </a:lnTo>
                <a:lnTo>
                  <a:pt x="304800" y="324270"/>
                </a:lnTo>
                <a:lnTo>
                  <a:pt x="365760" y="361756"/>
                </a:lnTo>
                <a:lnTo>
                  <a:pt x="426720" y="396812"/>
                </a:lnTo>
                <a:lnTo>
                  <a:pt x="487680" y="429912"/>
                </a:lnTo>
                <a:lnTo>
                  <a:pt x="548640" y="461393"/>
                </a:lnTo>
                <a:lnTo>
                  <a:pt x="609600" y="491502"/>
                </a:lnTo>
                <a:lnTo>
                  <a:pt x="670560" y="520429"/>
                </a:lnTo>
                <a:lnTo>
                  <a:pt x="731520" y="548320"/>
                </a:lnTo>
                <a:lnTo>
                  <a:pt x="792480" y="575296"/>
                </a:lnTo>
                <a:lnTo>
                  <a:pt x="853439" y="601454"/>
                </a:lnTo>
                <a:lnTo>
                  <a:pt x="914400" y="626874"/>
                </a:lnTo>
                <a:lnTo>
                  <a:pt x="975360" y="651625"/>
                </a:lnTo>
                <a:lnTo>
                  <a:pt x="1036320" y="675764"/>
                </a:lnTo>
                <a:lnTo>
                  <a:pt x="1097279" y="699341"/>
                </a:lnTo>
                <a:lnTo>
                  <a:pt x="1158240" y="722400"/>
                </a:lnTo>
                <a:lnTo>
                  <a:pt x="1219200" y="744978"/>
                </a:lnTo>
                <a:lnTo>
                  <a:pt x="1280160" y="767109"/>
                </a:lnTo>
                <a:lnTo>
                  <a:pt x="1341119" y="788823"/>
                </a:lnTo>
                <a:lnTo>
                  <a:pt x="1402080" y="810144"/>
                </a:lnTo>
                <a:lnTo>
                  <a:pt x="1463040" y="831099"/>
                </a:lnTo>
                <a:lnTo>
                  <a:pt x="1524000" y="851706"/>
                </a:lnTo>
                <a:lnTo>
                  <a:pt x="1584960" y="871987"/>
                </a:lnTo>
                <a:lnTo>
                  <a:pt x="1645920" y="891957"/>
                </a:lnTo>
                <a:lnTo>
                  <a:pt x="1706880" y="911634"/>
                </a:lnTo>
                <a:lnTo>
                  <a:pt x="1767839" y="931032"/>
                </a:lnTo>
                <a:lnTo>
                  <a:pt x="1828800" y="950164"/>
                </a:lnTo>
                <a:lnTo>
                  <a:pt x="1889760" y="969042"/>
                </a:lnTo>
                <a:lnTo>
                  <a:pt x="1950720" y="987679"/>
                </a:lnTo>
                <a:lnTo>
                  <a:pt x="2011679" y="1006084"/>
                </a:lnTo>
                <a:lnTo>
                  <a:pt x="2072639" y="1024267"/>
                </a:lnTo>
                <a:lnTo>
                  <a:pt x="2133600" y="1042237"/>
                </a:lnTo>
                <a:lnTo>
                  <a:pt x="2194560" y="1060004"/>
                </a:lnTo>
                <a:lnTo>
                  <a:pt x="2255520" y="1077573"/>
                </a:lnTo>
                <a:lnTo>
                  <a:pt x="2316480" y="1094954"/>
                </a:lnTo>
                <a:lnTo>
                  <a:pt x="2377440" y="1112153"/>
                </a:lnTo>
                <a:lnTo>
                  <a:pt x="2438400" y="1129176"/>
                </a:lnTo>
                <a:lnTo>
                  <a:pt x="2499360" y="1146030"/>
                </a:lnTo>
                <a:lnTo>
                  <a:pt x="2560319" y="1162721"/>
                </a:lnTo>
                <a:lnTo>
                  <a:pt x="2621280" y="1179253"/>
                </a:lnTo>
                <a:lnTo>
                  <a:pt x="2682240" y="1195632"/>
                </a:lnTo>
                <a:lnTo>
                  <a:pt x="2743200" y="1211863"/>
                </a:lnTo>
                <a:lnTo>
                  <a:pt x="2804160" y="1227950"/>
                </a:lnTo>
                <a:lnTo>
                  <a:pt x="2865120" y="1243897"/>
                </a:lnTo>
                <a:lnTo>
                  <a:pt x="2926080" y="1259710"/>
                </a:lnTo>
                <a:lnTo>
                  <a:pt x="2987039" y="1275391"/>
                </a:lnTo>
                <a:lnTo>
                  <a:pt x="3048000" y="1290945"/>
                </a:lnTo>
                <a:lnTo>
                  <a:pt x="3108960" y="1306375"/>
                </a:lnTo>
                <a:lnTo>
                  <a:pt x="3169920" y="1321685"/>
                </a:lnTo>
                <a:lnTo>
                  <a:pt x="3230880" y="1336877"/>
                </a:lnTo>
                <a:lnTo>
                  <a:pt x="3291840" y="1351955"/>
                </a:lnTo>
                <a:lnTo>
                  <a:pt x="3352800" y="1366921"/>
                </a:lnTo>
                <a:lnTo>
                  <a:pt x="3413760" y="1381779"/>
                </a:lnTo>
                <a:lnTo>
                  <a:pt x="3474719" y="1396532"/>
                </a:lnTo>
                <a:lnTo>
                  <a:pt x="3535680" y="1411181"/>
                </a:lnTo>
                <a:lnTo>
                  <a:pt x="3596640" y="1425729"/>
                </a:lnTo>
                <a:lnTo>
                  <a:pt x="3657600" y="1440180"/>
                </a:lnTo>
              </a:path>
            </a:pathLst>
          </a:custGeom>
          <a:noFill/>
          <a:ln w="317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20240" y="2101760"/>
            <a:ext cx="0" cy="481420"/>
          </a:xfrm>
          <a:custGeom>
            <a:avLst/>
            <a:gdLst/>
            <a:ahLst/>
            <a:cxnLst/>
            <a:rect l="l" t="t" r="r" b="b"/>
            <a:pathLst>
              <a:path w="0" h="481420">
                <a:moveTo>
                  <a:pt x="0" y="48142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40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920240" y="2101760"/>
            <a:ext cx="614808" cy="481420"/>
          </a:xfrm>
          <a:custGeom>
            <a:avLst/>
            <a:gdLst/>
            <a:ahLst/>
            <a:cxnLst/>
            <a:rect l="l" t="t" r="r" b="b"/>
            <a:pathLst>
              <a:path w="614808" h="481420">
                <a:moveTo>
                  <a:pt x="0" y="0"/>
                </a:moveTo>
                <a:lnTo>
                  <a:pt x="614808" y="481420"/>
                </a:lnTo>
              </a:path>
            </a:pathLst>
          </a:custGeom>
          <a:noFill/>
          <a:ln w="22225">
            <a:solidFill>
              <a:srgbClr val="3A404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35048" y="2440652"/>
            <a:ext cx="0" cy="142528"/>
          </a:xfrm>
          <a:custGeom>
            <a:avLst/>
            <a:gdLst/>
            <a:ahLst/>
            <a:cxnLst/>
            <a:rect l="l" t="t" r="r" b="b"/>
            <a:pathLst>
              <a:path w="0" h="142528">
                <a:moveTo>
                  <a:pt x="0" y="14252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40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535048" y="2440652"/>
            <a:ext cx="328081" cy="142528"/>
          </a:xfrm>
          <a:custGeom>
            <a:avLst/>
            <a:gdLst/>
            <a:ahLst/>
            <a:cxnLst/>
            <a:rect l="l" t="t" r="r" b="b"/>
            <a:pathLst>
              <a:path w="328081" h="142528">
                <a:moveTo>
                  <a:pt x="0" y="0"/>
                </a:moveTo>
                <a:lnTo>
                  <a:pt x="328081" y="142528"/>
                </a:lnTo>
              </a:path>
            </a:pathLst>
          </a:custGeom>
          <a:noFill/>
          <a:ln w="22225">
            <a:solidFill>
              <a:srgbClr val="3A404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490472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572768"/>
            <a:ext cx="56509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627632"/>
            <a:ext cx="5394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Singular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20240"/>
            <a:ext cx="53949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a reused surface object, or species switched off by multipliers: their Jacobian rows are all zero.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596896"/>
            <a:ext cx="56509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5394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Slow failure at low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44368"/>
            <a:ext cx="53949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expected below about 400 K, so solve_steady_state() skips it there.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03320"/>
            <a:ext cx="6720840" cy="1664208"/>
          </a:xfrm>
          <a:prstGeom prst="roundRect">
            <a:avLst>
              <a:gd name="adj" fmla="val 3296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58183"/>
            <a:ext cx="6537959" cy="1554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90  t0 = time.time()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91  try: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92      model.surf.advance_coverages_to_steady_state()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93      return True, None, time.time() - t0, None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94  except ct.CanteraError as e: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328"/>
                </a:solidFill>
                <a:latin typeface="Courier New"/>
              </a:rPr>
              <a:t> 95      return False, _cantera_error(e), time.time() - t0, 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794760"/>
            <a:ext cx="420624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E5661"/>
                </a:solidFill>
                <a:latin typeface="Calibri"/>
              </a:rPr>
              <a:t>The gas is never touched.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E5661"/>
                </a:solidFill>
                <a:latin typeface="Calibri"/>
              </a:rPr>
              <a:t>A Cantera error comes back as a short message (line 95), so one bad condition cannot stop a whole batch.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Linearise the rate equations at the current coverages.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Step to where the linear model is zero.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Repeat until the change is tiny.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On a Cantera error, return the message instead of crashing.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14332" y="100584"/>
            <a:ext cx="21744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solver.py:98–136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Method 3, reactor: age the surface in a gas so large it cannot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1 m³ of gas over 10⁻¹⁰ m² of catalyst, gas reactions off, integrated in half-decade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4572000" cy="3246120"/>
          </a:xfrm>
          <a:prstGeom prst="roundRect">
            <a:avLst>
              <a:gd name="adj" fmla="val 2253"/>
            </a:avLst>
          </a:prstGeom>
          <a:solidFill>
            <a:srgbClr val="F2F3F5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1 m³ of gas, energy off: T fixed</a:t>
            </a:r>
          </a:p>
        </p:txBody>
      </p:sp>
      <p:sp>
        <p:nvSpPr>
          <p:cNvPr id="10" name="Oval 9"/>
          <p:cNvSpPr/>
          <p:nvPr/>
        </p:nvSpPr>
        <p:spPr>
          <a:xfrm>
            <a:off x="1036929" y="21579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1" name="Oval 10"/>
          <p:cNvSpPr/>
          <p:nvPr/>
        </p:nvSpPr>
        <p:spPr>
          <a:xfrm>
            <a:off x="1267358" y="21579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Oval 11"/>
          <p:cNvSpPr/>
          <p:nvPr/>
        </p:nvSpPr>
        <p:spPr>
          <a:xfrm>
            <a:off x="2134209" y="23865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Oval 12"/>
          <p:cNvSpPr/>
          <p:nvPr/>
        </p:nvSpPr>
        <p:spPr>
          <a:xfrm>
            <a:off x="2364638" y="23865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4" name="Oval 13"/>
          <p:cNvSpPr/>
          <p:nvPr/>
        </p:nvSpPr>
        <p:spPr>
          <a:xfrm>
            <a:off x="3322929" y="21122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Oval 14"/>
          <p:cNvSpPr/>
          <p:nvPr/>
        </p:nvSpPr>
        <p:spPr>
          <a:xfrm>
            <a:off x="3553358" y="21122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1494129" y="298094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1724558" y="298094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Oval 17"/>
          <p:cNvSpPr/>
          <p:nvPr/>
        </p:nvSpPr>
        <p:spPr>
          <a:xfrm>
            <a:off x="2774289" y="3118103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9" name="Oval 18"/>
          <p:cNvSpPr/>
          <p:nvPr/>
        </p:nvSpPr>
        <p:spPr>
          <a:xfrm>
            <a:off x="3004718" y="3118103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3963009" y="27980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Oval 20"/>
          <p:cNvSpPr/>
          <p:nvPr/>
        </p:nvSpPr>
        <p:spPr>
          <a:xfrm>
            <a:off x="4193438" y="27980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Oval 21"/>
          <p:cNvSpPr/>
          <p:nvPr/>
        </p:nvSpPr>
        <p:spPr>
          <a:xfrm>
            <a:off x="945489" y="37581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3" name="Oval 22"/>
          <p:cNvSpPr/>
          <p:nvPr/>
        </p:nvSpPr>
        <p:spPr>
          <a:xfrm>
            <a:off x="1175918" y="375818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4" name="Oval 23"/>
          <p:cNvSpPr/>
          <p:nvPr/>
        </p:nvSpPr>
        <p:spPr>
          <a:xfrm>
            <a:off x="2317089" y="380390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5" name="Oval 24"/>
          <p:cNvSpPr/>
          <p:nvPr/>
        </p:nvSpPr>
        <p:spPr>
          <a:xfrm>
            <a:off x="2547518" y="380390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6" name="Oval 25"/>
          <p:cNvSpPr/>
          <p:nvPr/>
        </p:nvSpPr>
        <p:spPr>
          <a:xfrm>
            <a:off x="3688689" y="37124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Oval 26"/>
          <p:cNvSpPr/>
          <p:nvPr/>
        </p:nvSpPr>
        <p:spPr>
          <a:xfrm>
            <a:off x="3919118" y="3712464"/>
            <a:ext cx="256032" cy="256032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681728"/>
            <a:ext cx="274320" cy="91440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4526280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−10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m² catalyst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162763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gas reactions ×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4572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A/V = 10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−10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 m</a:t>
            </a:r>
            <a:r>
              <a:rPr sz="1400" b="0" i="0" baseline="30000">
                <a:solidFill>
                  <a:srgbClr val="4E5661"/>
                </a:solidFill>
                <a:latin typeface="Calibri"/>
              </a:rPr>
              <a:t>−1</a:t>
            </a:r>
            <a:r>
              <a:rPr sz="1400" b="0" i="0">
                <a:solidFill>
                  <a:srgbClr val="4E5661"/>
                </a:solidFill>
                <a:latin typeface="Calibri"/>
              </a:rPr>
              <a:t>: the surface cannot change the gas.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52160" y="2377440"/>
            <a:ext cx="5669280" cy="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23956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5752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67549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39345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11141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82938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54734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26530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98327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70123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41920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13716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085512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57309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429105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600901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72698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944494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16290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88087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459883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31680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803476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75272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47069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318865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490661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662458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834254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06050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177847" y="2295144"/>
            <a:ext cx="0" cy="164592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349643" y="2231136"/>
            <a:ext cx="0" cy="292608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86400" y="257860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0770" y="257860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35141" y="257860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9512" y="257860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83883" y="257860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8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1691640"/>
            <a:ext cx="5669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33 checkpoints, half a decade apart (line 121)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3063240"/>
            <a:ext cx="5760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IdealGasReactor, volume 1 m³, energy off (lines 102–103)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3520440"/>
            <a:ext cx="5760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ReactorSurface with area A = V ×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−10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m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(line 104)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3977639"/>
            <a:ext cx="5760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tolerances: rtol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−10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atol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−22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(line 106)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60" y="4434840"/>
            <a:ext cx="5760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gas reactions back on afterwards, even after an error (lines 135–136)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Put the surface in 1 m³ of gas with 10⁻¹⁰ m² of catalyst.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Switch gas reactions off, so only the surface reacts.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Integrate through 33 checkpoints, 10⁻⁸ to 10⁸ 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Switch gas reactions back on afterwards, even after an error.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38436" y="100584"/>
            <a:ext cx="22503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solver.py:122–132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The plateau test: stop only when nothing changed since the last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small residual at one moment is not enough: the surface may still be drifting slowly.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0200" y="4617720"/>
            <a:ext cx="448056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00200" y="1737360"/>
            <a:ext cx="0" cy="288036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00200" y="4654296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time (log), one dot per 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" y="2926080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400" b="0" i="0">
                <a:solidFill>
                  <a:srgbClr val="4E5661"/>
                </a:solidFill>
                <a:latin typeface="Calibri"/>
              </a:rPr>
              <a:t>forward TOF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438454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94560" y="4186123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373258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310896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2655417"/>
            <a:ext cx="182880" cy="18288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23360" y="2428646"/>
            <a:ext cx="182880" cy="18288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2315260"/>
            <a:ext cx="182880" cy="18288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0" y="2258568"/>
            <a:ext cx="182880" cy="18288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67528" y="2202789"/>
            <a:ext cx="237744" cy="23774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828800" y="4277563"/>
            <a:ext cx="457200" cy="198425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6000" y="3824020"/>
            <a:ext cx="457200" cy="453543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43200" y="3200400"/>
            <a:ext cx="457200" cy="623620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200400" y="2746857"/>
            <a:ext cx="457200" cy="453543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657600" y="2520086"/>
            <a:ext cx="457200" cy="226771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14800" y="2406700"/>
            <a:ext cx="457200" cy="113386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72000" y="2350008"/>
            <a:ext cx="457200" cy="56692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029200" y="2321661"/>
            <a:ext cx="457200" cy="28347"/>
          </a:xfrm>
          <a:prstGeom prst="line">
            <a:avLst/>
          </a:prstGeom>
          <a:ln w="12700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4360" y="502920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4974336"/>
            <a:ext cx="1737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residual too large</a:t>
            </a:r>
          </a:p>
        </p:txBody>
      </p:sp>
      <p:sp>
        <p:nvSpPr>
          <p:cNvPr id="31" name="Oval 30"/>
          <p:cNvSpPr/>
          <p:nvPr/>
        </p:nvSpPr>
        <p:spPr>
          <a:xfrm>
            <a:off x="2468879" y="5029200"/>
            <a:ext cx="182880" cy="18288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6624" y="4974336"/>
            <a:ext cx="1737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residual ok, still changing</a:t>
            </a:r>
          </a:p>
        </p:txBody>
      </p:sp>
      <p:sp>
        <p:nvSpPr>
          <p:cNvPr id="33" name="Oval 32"/>
          <p:cNvSpPr/>
          <p:nvPr/>
        </p:nvSpPr>
        <p:spPr>
          <a:xfrm>
            <a:off x="4343400" y="5029200"/>
            <a:ext cx="182880" cy="18288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4974336"/>
            <a:ext cx="1737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accepted: ok and unchanged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1490472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57276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advance to the next checkpoint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(line 123)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63840" y="2075688"/>
            <a:ext cx="0" cy="22860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75120" y="230428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check_convergence()</a:t>
            </a:r>
          </a:p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(line 124)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63840" y="2807208"/>
            <a:ext cx="0" cy="210312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6720840" y="3017520"/>
            <a:ext cx="228600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residual ok? (126)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3840" y="3886200"/>
            <a:ext cx="0" cy="15544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6355080" y="4041648"/>
            <a:ext cx="3017520" cy="10515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TOF and θ changed &lt; 10</a:t>
            </a:r>
            <a:r>
              <a:rPr sz="1200" b="0" i="0" baseline="30000">
                <a:solidFill>
                  <a:srgbClr val="1F2328"/>
                </a:solidFill>
                <a:latin typeface="Calibri"/>
              </a:rPr>
              <a:t>−4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 since the last? (127–129)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372600" y="4572000"/>
            <a:ext cx="68580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464040" y="4261104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297680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accept, return 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855464"/>
            <a:ext cx="16276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 130</a:t>
            </a:r>
          </a:p>
        </p:txBody>
      </p:sp>
      <p:sp>
        <p:nvSpPr>
          <p:cNvPr id="47" name="Freeform 46"/>
          <p:cNvSpPr/>
          <p:nvPr/>
        </p:nvSpPr>
        <p:spPr>
          <a:xfrm>
            <a:off x="6355080" y="1828800"/>
            <a:ext cx="365760" cy="1618488"/>
          </a:xfrm>
          <a:custGeom>
            <a:avLst/>
            <a:gdLst/>
            <a:ahLst/>
            <a:cxnLst/>
            <a:rect l="l" t="t" r="r" b="b"/>
            <a:pathLst>
              <a:path w="365760" h="1618488">
                <a:moveTo>
                  <a:pt x="365760" y="1618488"/>
                </a:moveTo>
                <a:lnTo>
                  <a:pt x="0" y="1618488"/>
                </a:lnTo>
                <a:lnTo>
                  <a:pt x="0" y="0"/>
                </a:lnTo>
                <a:lnTo>
                  <a:pt x="320040" y="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355080" y="3447288"/>
            <a:ext cx="0" cy="1124712"/>
          </a:xfrm>
          <a:custGeom>
            <a:avLst/>
            <a:gdLst/>
            <a:ahLst/>
            <a:cxnLst/>
            <a:rect l="l" t="t" r="r" b="b"/>
            <a:pathLst>
              <a:path w="0" h="1124712">
                <a:moveTo>
                  <a:pt x="0" y="112471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E56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154680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251960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1600200"/>
            <a:ext cx="22860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after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8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s: “no plateau by t = 1e+08 s” (line 132)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each checkpoint, test the residuals.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TOF and coverages with the previous checkpoint.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Accept when both changed by less than 10⁻⁴.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10⁸ s comes first, report “no plateau”.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solver.py:55–85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check_convergence(): four tests every steady state must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Each species is judged against its own turnover, so fast and slow species are both held to account.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19456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1682496"/>
            <a:ext cx="292608" cy="292608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residual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48840"/>
            <a:ext cx="20116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mbria"/>
              </a:rPr>
              <a:t>|dθ</a:t>
            </a:r>
            <a:r>
              <a:rPr sz="13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300" b="0" i="0">
                <a:solidFill>
                  <a:srgbClr val="1F2328"/>
                </a:solidFill>
                <a:latin typeface="Cambria"/>
              </a:rPr>
              <a:t>/dt| ≤ 10</a:t>
            </a:r>
            <a:r>
              <a:rPr sz="1300" b="0" i="0" baseline="30000">
                <a:solidFill>
                  <a:srgbClr val="1F2328"/>
                </a:solidFill>
                <a:latin typeface="Cambria"/>
              </a:rPr>
              <a:t>−8</a:t>
            </a:r>
            <a:r>
              <a:rPr sz="1300" b="0" i="0">
                <a:solidFill>
                  <a:srgbClr val="1F2328"/>
                </a:solidFill>
                <a:latin typeface="Cambria"/>
              </a:rPr>
              <a:t> + 10</a:t>
            </a:r>
            <a:r>
              <a:rPr sz="1300" b="0" i="0" baseline="30000">
                <a:solidFill>
                  <a:srgbClr val="1F2328"/>
                </a:solidFill>
                <a:latin typeface="Cambria"/>
              </a:rPr>
              <a:t>−12</a:t>
            </a:r>
            <a:r>
              <a:rPr sz="1300" b="0" i="0">
                <a:solidFill>
                  <a:srgbClr val="1F2328"/>
                </a:solidFill>
                <a:latin typeface="Cambria"/>
              </a:rPr>
              <a:t> G</a:t>
            </a:r>
            <a:r>
              <a:rPr sz="1300" b="0" i="0" baseline="-25000">
                <a:solidFill>
                  <a:srgbClr val="1F2328"/>
                </a:solidFill>
                <a:latin typeface="Cambria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5292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for every species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72968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lines 59–62,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31720"/>
            <a:ext cx="182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600" b="1" i="0">
                <a:solidFill>
                  <a:srgbClr val="1F2328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572768"/>
            <a:ext cx="219456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08376" y="1682496"/>
            <a:ext cx="292608" cy="292608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73352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site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2148840"/>
            <a:ext cx="20116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mbria"/>
              </a:rPr>
              <a:t>|Σ θ − 1| ≤ 10</a:t>
            </a:r>
            <a:r>
              <a:rPr sz="1300" b="0" i="0" baseline="30000">
                <a:solidFill>
                  <a:srgbClr val="1F2328"/>
                </a:solidFill>
                <a:latin typeface="Cambria"/>
              </a:rPr>
              <a:t>−8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85292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coverages add to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172968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lines 66, 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331720"/>
            <a:ext cx="182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600" b="1" i="0">
                <a:solidFill>
                  <a:srgbClr val="1F2328"/>
                </a:solidFill>
                <a:latin typeface="Calibr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1572768"/>
            <a:ext cx="219456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85816" y="1682496"/>
            <a:ext cx="292608" cy="292608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673352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no negatives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148840"/>
            <a:ext cx="20116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mbria"/>
              </a:rPr>
              <a:t>min θ ≥ −10</a:t>
            </a:r>
            <a:r>
              <a:rPr sz="1300" b="0" i="0" baseline="30000">
                <a:solidFill>
                  <a:srgbClr val="1F2328"/>
                </a:solidFill>
                <a:latin typeface="Cambria"/>
              </a:rPr>
              <a:t>−12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85292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no coverage below 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172968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lines 67, 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331720"/>
            <a:ext cx="182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600" b="1" i="0">
                <a:solidFill>
                  <a:srgbClr val="1F2328"/>
                </a:solidFill>
                <a:latin typeface="Calibri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572768"/>
            <a:ext cx="219456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682496"/>
            <a:ext cx="292608" cy="292608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673352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gas fixed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2148840"/>
            <a:ext cx="20116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mbria"/>
              </a:rPr>
              <a:t>max |x − x⁰| ≤ 10</a:t>
            </a:r>
            <a:r>
              <a:rPr sz="1300" b="0" i="0" baseline="30000">
                <a:solidFill>
                  <a:srgbClr val="1F2328"/>
                </a:solidFill>
                <a:latin typeface="Cambria"/>
              </a:rPr>
              <a:t>−9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285292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the gas did not move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3172968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lines 68, 73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12680" y="2532888"/>
            <a:ext cx="274320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87000" y="2148840"/>
            <a:ext cx="1399032" cy="777240"/>
          </a:xfrm>
          <a:prstGeom prst="roundRect">
            <a:avLst>
              <a:gd name="adj" fmla="val 9411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converged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= all four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2935224"/>
            <a:ext cx="13990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 76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703320"/>
            <a:ext cx="7040880" cy="1691640"/>
          </a:xfrm>
          <a:prstGeom prst="roundRect">
            <a:avLst>
              <a:gd name="adj" fmla="val 5405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794759"/>
            <a:ext cx="67665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Why both an absolute and a relative term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676656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species turning over 10⁹ times per second carries round-off near 10⁻⁷ s⁻¹ (2.2 × 10⁻¹⁶ × G): an absolute limit of 10⁻⁸ alone could never pass. A relative limit alone would accept a large residual on a slow species.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703320"/>
            <a:ext cx="3913632" cy="1691640"/>
          </a:xfrm>
          <a:prstGeom prst="roundRect">
            <a:avLst>
              <a:gd name="adj" fmla="val 5405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3794759"/>
            <a:ext cx="36393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It also records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114800"/>
            <a:ext cx="365760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species closest to its limit, its residual and allowed value, and the forward TOF (lines 63–65, 78–81).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Every species’ net rate must be tiny against its own turnover.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coverages must still add to 1.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 coverage may be negative.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gas must not have moved.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G · SOLVING ONE STEADY STATE · STAGE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83065" y="100584"/>
            <a:ext cx="270570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analyses/convergence.py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Convergence traces: follow chosen conditions to 10⁸ s to check the state is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same reactor, tolerances and checkpoints as the reactor method, but every checkpoint is kept.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(a) coverages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383280"/>
            <a:ext cx="301752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68680" y="201168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419856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649224" y="244602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9856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time (log)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10512"/>
            <a:ext cx="3017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θ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8680" y="2190109"/>
            <a:ext cx="3017520" cy="1079064"/>
          </a:xfrm>
          <a:custGeom>
            <a:avLst/>
            <a:gdLst/>
            <a:ahLst/>
            <a:cxnLst/>
            <a:rect l="l" t="t" r="r" b="b"/>
            <a:pathLst>
              <a:path w="3017520" h="1079064">
                <a:moveTo>
                  <a:pt x="0" y="1079064"/>
                </a:moveTo>
                <a:lnTo>
                  <a:pt x="50291" y="1076972"/>
                </a:lnTo>
                <a:lnTo>
                  <a:pt x="100584" y="1074341"/>
                </a:lnTo>
                <a:lnTo>
                  <a:pt x="150876" y="1071037"/>
                </a:lnTo>
                <a:lnTo>
                  <a:pt x="201168" y="1066895"/>
                </a:lnTo>
                <a:lnTo>
                  <a:pt x="251459" y="1061709"/>
                </a:lnTo>
                <a:lnTo>
                  <a:pt x="301752" y="1055231"/>
                </a:lnTo>
                <a:lnTo>
                  <a:pt x="352044" y="1047164"/>
                </a:lnTo>
                <a:lnTo>
                  <a:pt x="402336" y="1037150"/>
                </a:lnTo>
                <a:lnTo>
                  <a:pt x="452627" y="1024776"/>
                </a:lnTo>
                <a:lnTo>
                  <a:pt x="502920" y="1009565"/>
                </a:lnTo>
                <a:lnTo>
                  <a:pt x="553211" y="990990"/>
                </a:lnTo>
                <a:lnTo>
                  <a:pt x="603504" y="968488"/>
                </a:lnTo>
                <a:lnTo>
                  <a:pt x="653796" y="941491"/>
                </a:lnTo>
                <a:lnTo>
                  <a:pt x="704088" y="909476"/>
                </a:lnTo>
                <a:lnTo>
                  <a:pt x="754380" y="872030"/>
                </a:lnTo>
                <a:lnTo>
                  <a:pt x="804671" y="828931"/>
                </a:lnTo>
                <a:lnTo>
                  <a:pt x="854963" y="780233"/>
                </a:lnTo>
                <a:lnTo>
                  <a:pt x="905256" y="726347"/>
                </a:lnTo>
                <a:lnTo>
                  <a:pt x="955548" y="668079"/>
                </a:lnTo>
                <a:lnTo>
                  <a:pt x="1005839" y="606624"/>
                </a:lnTo>
                <a:lnTo>
                  <a:pt x="1056131" y="543489"/>
                </a:lnTo>
                <a:lnTo>
                  <a:pt x="1106423" y="480354"/>
                </a:lnTo>
                <a:lnTo>
                  <a:pt x="1156715" y="418900"/>
                </a:lnTo>
                <a:lnTo>
                  <a:pt x="1207008" y="360632"/>
                </a:lnTo>
                <a:lnTo>
                  <a:pt x="1257300" y="306746"/>
                </a:lnTo>
                <a:lnTo>
                  <a:pt x="1307592" y="258048"/>
                </a:lnTo>
                <a:lnTo>
                  <a:pt x="1357883" y="214948"/>
                </a:lnTo>
                <a:lnTo>
                  <a:pt x="1408176" y="177503"/>
                </a:lnTo>
                <a:lnTo>
                  <a:pt x="1458468" y="145488"/>
                </a:lnTo>
                <a:lnTo>
                  <a:pt x="1508759" y="118491"/>
                </a:lnTo>
                <a:lnTo>
                  <a:pt x="1559052" y="95989"/>
                </a:lnTo>
                <a:lnTo>
                  <a:pt x="1609344" y="77413"/>
                </a:lnTo>
                <a:lnTo>
                  <a:pt x="1659635" y="62203"/>
                </a:lnTo>
                <a:lnTo>
                  <a:pt x="1709928" y="49828"/>
                </a:lnTo>
                <a:lnTo>
                  <a:pt x="1760220" y="39815"/>
                </a:lnTo>
                <a:lnTo>
                  <a:pt x="1810511" y="31747"/>
                </a:lnTo>
                <a:lnTo>
                  <a:pt x="1860804" y="25270"/>
                </a:lnTo>
                <a:lnTo>
                  <a:pt x="1911096" y="20084"/>
                </a:lnTo>
                <a:lnTo>
                  <a:pt x="1961388" y="15941"/>
                </a:lnTo>
                <a:lnTo>
                  <a:pt x="2011679" y="12638"/>
                </a:lnTo>
                <a:lnTo>
                  <a:pt x="2061972" y="10007"/>
                </a:lnTo>
                <a:lnTo>
                  <a:pt x="2112264" y="7915"/>
                </a:lnTo>
                <a:lnTo>
                  <a:pt x="2162555" y="6252"/>
                </a:lnTo>
                <a:lnTo>
                  <a:pt x="2212847" y="4932"/>
                </a:lnTo>
                <a:lnTo>
                  <a:pt x="2263140" y="3884"/>
                </a:lnTo>
                <a:lnTo>
                  <a:pt x="2313432" y="3053"/>
                </a:lnTo>
                <a:lnTo>
                  <a:pt x="2363724" y="2394"/>
                </a:lnTo>
                <a:lnTo>
                  <a:pt x="2414016" y="1871"/>
                </a:lnTo>
                <a:lnTo>
                  <a:pt x="2464307" y="1457"/>
                </a:lnTo>
                <a:lnTo>
                  <a:pt x="2514600" y="1129"/>
                </a:lnTo>
                <a:lnTo>
                  <a:pt x="2564892" y="869"/>
                </a:lnTo>
                <a:lnTo>
                  <a:pt x="2615183" y="663"/>
                </a:lnTo>
                <a:lnTo>
                  <a:pt x="2665475" y="500"/>
                </a:lnTo>
                <a:lnTo>
                  <a:pt x="2715768" y="371"/>
                </a:lnTo>
                <a:lnTo>
                  <a:pt x="2766059" y="268"/>
                </a:lnTo>
                <a:lnTo>
                  <a:pt x="2816352" y="187"/>
                </a:lnTo>
                <a:lnTo>
                  <a:pt x="2866644" y="123"/>
                </a:lnTo>
                <a:lnTo>
                  <a:pt x="2916935" y="72"/>
                </a:lnTo>
                <a:lnTo>
                  <a:pt x="2967227" y="32"/>
                </a:lnTo>
                <a:lnTo>
                  <a:pt x="3017520" y="0"/>
                </a:lnTo>
              </a:path>
            </a:pathLst>
          </a:custGeom>
          <a:noFill/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68680" y="2171310"/>
            <a:ext cx="3017520" cy="1052745"/>
          </a:xfrm>
          <a:custGeom>
            <a:avLst/>
            <a:gdLst/>
            <a:ahLst/>
            <a:cxnLst/>
            <a:rect l="l" t="t" r="r" b="b"/>
            <a:pathLst>
              <a:path w="3017520" h="1052745">
                <a:moveTo>
                  <a:pt x="0" y="0"/>
                </a:moveTo>
                <a:lnTo>
                  <a:pt x="50291" y="2041"/>
                </a:lnTo>
                <a:lnTo>
                  <a:pt x="100584" y="4608"/>
                </a:lnTo>
                <a:lnTo>
                  <a:pt x="150876" y="7831"/>
                </a:lnTo>
                <a:lnTo>
                  <a:pt x="201168" y="11873"/>
                </a:lnTo>
                <a:lnTo>
                  <a:pt x="251459" y="16932"/>
                </a:lnTo>
                <a:lnTo>
                  <a:pt x="301752" y="23252"/>
                </a:lnTo>
                <a:lnTo>
                  <a:pt x="352044" y="31122"/>
                </a:lnTo>
                <a:lnTo>
                  <a:pt x="402336" y="40891"/>
                </a:lnTo>
                <a:lnTo>
                  <a:pt x="452627" y="52964"/>
                </a:lnTo>
                <a:lnTo>
                  <a:pt x="502920" y="67804"/>
                </a:lnTo>
                <a:lnTo>
                  <a:pt x="553211" y="85926"/>
                </a:lnTo>
                <a:lnTo>
                  <a:pt x="603504" y="107879"/>
                </a:lnTo>
                <a:lnTo>
                  <a:pt x="653796" y="134218"/>
                </a:lnTo>
                <a:lnTo>
                  <a:pt x="704088" y="165452"/>
                </a:lnTo>
                <a:lnTo>
                  <a:pt x="754380" y="201984"/>
                </a:lnTo>
                <a:lnTo>
                  <a:pt x="804671" y="244033"/>
                </a:lnTo>
                <a:lnTo>
                  <a:pt x="854963" y="291542"/>
                </a:lnTo>
                <a:lnTo>
                  <a:pt x="905256" y="344114"/>
                </a:lnTo>
                <a:lnTo>
                  <a:pt x="955548" y="400961"/>
                </a:lnTo>
                <a:lnTo>
                  <a:pt x="1005839" y="460917"/>
                </a:lnTo>
                <a:lnTo>
                  <a:pt x="1056131" y="522512"/>
                </a:lnTo>
                <a:lnTo>
                  <a:pt x="1106423" y="584107"/>
                </a:lnTo>
                <a:lnTo>
                  <a:pt x="1156715" y="644063"/>
                </a:lnTo>
                <a:lnTo>
                  <a:pt x="1207008" y="700909"/>
                </a:lnTo>
                <a:lnTo>
                  <a:pt x="1257300" y="753481"/>
                </a:lnTo>
                <a:lnTo>
                  <a:pt x="1307592" y="800991"/>
                </a:lnTo>
                <a:lnTo>
                  <a:pt x="1357883" y="843040"/>
                </a:lnTo>
                <a:lnTo>
                  <a:pt x="1408176" y="879572"/>
                </a:lnTo>
                <a:lnTo>
                  <a:pt x="1458468" y="910806"/>
                </a:lnTo>
                <a:lnTo>
                  <a:pt x="1508759" y="937144"/>
                </a:lnTo>
                <a:lnTo>
                  <a:pt x="1559052" y="959098"/>
                </a:lnTo>
                <a:lnTo>
                  <a:pt x="1609344" y="977220"/>
                </a:lnTo>
                <a:lnTo>
                  <a:pt x="1659635" y="992060"/>
                </a:lnTo>
                <a:lnTo>
                  <a:pt x="1709928" y="1004133"/>
                </a:lnTo>
                <a:lnTo>
                  <a:pt x="1760220" y="1013901"/>
                </a:lnTo>
                <a:lnTo>
                  <a:pt x="1810511" y="1021772"/>
                </a:lnTo>
                <a:lnTo>
                  <a:pt x="1860804" y="1028092"/>
                </a:lnTo>
                <a:lnTo>
                  <a:pt x="1911096" y="1033151"/>
                </a:lnTo>
                <a:lnTo>
                  <a:pt x="1961388" y="1037193"/>
                </a:lnTo>
                <a:lnTo>
                  <a:pt x="2011679" y="1040416"/>
                </a:lnTo>
                <a:lnTo>
                  <a:pt x="2061972" y="1042982"/>
                </a:lnTo>
                <a:lnTo>
                  <a:pt x="2112264" y="1045024"/>
                </a:lnTo>
                <a:lnTo>
                  <a:pt x="2162555" y="1046646"/>
                </a:lnTo>
                <a:lnTo>
                  <a:pt x="2212847" y="1047934"/>
                </a:lnTo>
                <a:lnTo>
                  <a:pt x="2263140" y="1048956"/>
                </a:lnTo>
                <a:lnTo>
                  <a:pt x="2313432" y="1049767"/>
                </a:lnTo>
                <a:lnTo>
                  <a:pt x="2363724" y="1050410"/>
                </a:lnTo>
                <a:lnTo>
                  <a:pt x="2414016" y="1050920"/>
                </a:lnTo>
                <a:lnTo>
                  <a:pt x="2464307" y="1051324"/>
                </a:lnTo>
                <a:lnTo>
                  <a:pt x="2514600" y="1051644"/>
                </a:lnTo>
                <a:lnTo>
                  <a:pt x="2564892" y="1051898"/>
                </a:lnTo>
                <a:lnTo>
                  <a:pt x="2615183" y="1052099"/>
                </a:lnTo>
                <a:lnTo>
                  <a:pt x="2665475" y="1052258"/>
                </a:lnTo>
                <a:lnTo>
                  <a:pt x="2715768" y="1052384"/>
                </a:lnTo>
                <a:lnTo>
                  <a:pt x="2766059" y="1052484"/>
                </a:lnTo>
                <a:lnTo>
                  <a:pt x="2816352" y="1052563"/>
                </a:lnTo>
                <a:lnTo>
                  <a:pt x="2866644" y="1052625"/>
                </a:lnTo>
                <a:lnTo>
                  <a:pt x="2916935" y="1052675"/>
                </a:lnTo>
                <a:lnTo>
                  <a:pt x="2967227" y="1052714"/>
                </a:lnTo>
                <a:lnTo>
                  <a:pt x="3017520" y="1052745"/>
                </a:lnTo>
              </a:path>
            </a:pathLst>
          </a:custGeom>
          <a:noFill/>
          <a:ln w="254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739542" y="2057400"/>
            <a:ext cx="0" cy="1325880"/>
          </a:xfrm>
          <a:prstGeom prst="line">
            <a:avLst/>
          </a:prstGeom>
          <a:ln w="15875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6280" y="1527048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(b) forward TOF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3383280"/>
            <a:ext cx="301752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17720" y="201168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7720" y="3419856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9815" y="244602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19856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time (log)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1810512"/>
            <a:ext cx="3017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TOF</a:t>
            </a:r>
            <a:r>
              <a:rPr sz="1200" b="0" i="0" baseline="-25000">
                <a:solidFill>
                  <a:srgbClr val="4E5661"/>
                </a:solidFill>
                <a:latin typeface="Calibri"/>
              </a:rPr>
              <a:t>f</a:t>
            </a:r>
          </a:p>
        </p:txBody>
      </p:sp>
      <p:sp>
        <p:nvSpPr>
          <p:cNvPr id="25" name="Freeform 24"/>
          <p:cNvSpPr/>
          <p:nvPr/>
        </p:nvSpPr>
        <p:spPr>
          <a:xfrm>
            <a:off x="4617720" y="2256505"/>
            <a:ext cx="3017520" cy="967738"/>
          </a:xfrm>
          <a:custGeom>
            <a:avLst/>
            <a:gdLst/>
            <a:ahLst/>
            <a:cxnLst/>
            <a:rect l="l" t="t" r="r" b="b"/>
            <a:pathLst>
              <a:path w="3017520" h="967738">
                <a:moveTo>
                  <a:pt x="0" y="967738"/>
                </a:moveTo>
                <a:lnTo>
                  <a:pt x="50292" y="962072"/>
                </a:lnTo>
                <a:lnTo>
                  <a:pt x="100584" y="955240"/>
                </a:lnTo>
                <a:lnTo>
                  <a:pt x="150876" y="947026"/>
                </a:lnTo>
                <a:lnTo>
                  <a:pt x="201168" y="937183"/>
                </a:lnTo>
                <a:lnTo>
                  <a:pt x="251460" y="925435"/>
                </a:lnTo>
                <a:lnTo>
                  <a:pt x="301752" y="911479"/>
                </a:lnTo>
                <a:lnTo>
                  <a:pt x="352044" y="894994"/>
                </a:lnTo>
                <a:lnTo>
                  <a:pt x="402336" y="875650"/>
                </a:lnTo>
                <a:lnTo>
                  <a:pt x="452628" y="853128"/>
                </a:lnTo>
                <a:lnTo>
                  <a:pt x="502920" y="827144"/>
                </a:lnTo>
                <a:lnTo>
                  <a:pt x="553211" y="797476"/>
                </a:lnTo>
                <a:lnTo>
                  <a:pt x="603504" y="764005"/>
                </a:lnTo>
                <a:lnTo>
                  <a:pt x="653796" y="726748"/>
                </a:lnTo>
                <a:lnTo>
                  <a:pt x="704088" y="685894"/>
                </a:lnTo>
                <a:lnTo>
                  <a:pt x="754380" y="641824"/>
                </a:lnTo>
                <a:lnTo>
                  <a:pt x="804672" y="595117"/>
                </a:lnTo>
                <a:lnTo>
                  <a:pt x="854963" y="546537"/>
                </a:lnTo>
                <a:lnTo>
                  <a:pt x="905256" y="496982"/>
                </a:lnTo>
                <a:lnTo>
                  <a:pt x="955548" y="447426"/>
                </a:lnTo>
                <a:lnTo>
                  <a:pt x="1005839" y="398846"/>
                </a:lnTo>
                <a:lnTo>
                  <a:pt x="1056132" y="352139"/>
                </a:lnTo>
                <a:lnTo>
                  <a:pt x="1106424" y="308069"/>
                </a:lnTo>
                <a:lnTo>
                  <a:pt x="1156716" y="267215"/>
                </a:lnTo>
                <a:lnTo>
                  <a:pt x="1207008" y="229958"/>
                </a:lnTo>
                <a:lnTo>
                  <a:pt x="1257300" y="196487"/>
                </a:lnTo>
                <a:lnTo>
                  <a:pt x="1307592" y="166819"/>
                </a:lnTo>
                <a:lnTo>
                  <a:pt x="1357884" y="140835"/>
                </a:lnTo>
                <a:lnTo>
                  <a:pt x="1408176" y="118313"/>
                </a:lnTo>
                <a:lnTo>
                  <a:pt x="1458468" y="98969"/>
                </a:lnTo>
                <a:lnTo>
                  <a:pt x="1508759" y="82484"/>
                </a:lnTo>
                <a:lnTo>
                  <a:pt x="1559052" y="68528"/>
                </a:lnTo>
                <a:lnTo>
                  <a:pt x="1609344" y="56780"/>
                </a:lnTo>
                <a:lnTo>
                  <a:pt x="1659636" y="46937"/>
                </a:lnTo>
                <a:lnTo>
                  <a:pt x="1709928" y="38723"/>
                </a:lnTo>
                <a:lnTo>
                  <a:pt x="1760220" y="31891"/>
                </a:lnTo>
                <a:lnTo>
                  <a:pt x="1810511" y="26225"/>
                </a:lnTo>
                <a:lnTo>
                  <a:pt x="1860804" y="21535"/>
                </a:lnTo>
                <a:lnTo>
                  <a:pt x="1911096" y="17662"/>
                </a:lnTo>
                <a:lnTo>
                  <a:pt x="1961388" y="14468"/>
                </a:lnTo>
                <a:lnTo>
                  <a:pt x="2011680" y="11837"/>
                </a:lnTo>
                <a:lnTo>
                  <a:pt x="2061972" y="9673"/>
                </a:lnTo>
                <a:lnTo>
                  <a:pt x="2112263" y="7893"/>
                </a:lnTo>
                <a:lnTo>
                  <a:pt x="2162555" y="6432"/>
                </a:lnTo>
                <a:lnTo>
                  <a:pt x="2212847" y="5232"/>
                </a:lnTo>
                <a:lnTo>
                  <a:pt x="2263139" y="4248"/>
                </a:lnTo>
                <a:lnTo>
                  <a:pt x="2313432" y="3440"/>
                </a:lnTo>
                <a:lnTo>
                  <a:pt x="2363724" y="2778"/>
                </a:lnTo>
                <a:lnTo>
                  <a:pt x="2414016" y="2235"/>
                </a:lnTo>
                <a:lnTo>
                  <a:pt x="2464307" y="1790"/>
                </a:lnTo>
                <a:lnTo>
                  <a:pt x="2514600" y="1426"/>
                </a:lnTo>
                <a:lnTo>
                  <a:pt x="2564892" y="1127"/>
                </a:lnTo>
                <a:lnTo>
                  <a:pt x="2615184" y="883"/>
                </a:lnTo>
                <a:lnTo>
                  <a:pt x="2665476" y="682"/>
                </a:lnTo>
                <a:lnTo>
                  <a:pt x="2715768" y="518"/>
                </a:lnTo>
                <a:lnTo>
                  <a:pt x="2766059" y="384"/>
                </a:lnTo>
                <a:lnTo>
                  <a:pt x="2816351" y="274"/>
                </a:lnTo>
                <a:lnTo>
                  <a:pt x="2866643" y="184"/>
                </a:lnTo>
                <a:lnTo>
                  <a:pt x="2916936" y="110"/>
                </a:lnTo>
                <a:lnTo>
                  <a:pt x="2967228" y="50"/>
                </a:lnTo>
                <a:lnTo>
                  <a:pt x="3017520" y="0"/>
                </a:lnTo>
              </a:path>
            </a:pathLst>
          </a:custGeom>
          <a:noFill/>
          <a:ln w="285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488582" y="2057400"/>
            <a:ext cx="0" cy="1325880"/>
          </a:xfrm>
          <a:prstGeom prst="line">
            <a:avLst/>
          </a:prstGeom>
          <a:ln w="15875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75320" y="1527048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(c) normalized residual (log)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6760" y="3383280"/>
            <a:ext cx="301752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66760" y="201168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66760" y="3419856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8856" y="244602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32" name="TextBox 31"/>
          <p:cNvSpPr txBox="1"/>
          <p:nvPr/>
        </p:nvSpPr>
        <p:spPr>
          <a:xfrm>
            <a:off x="8366760" y="3419856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time (log)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1810512"/>
            <a:ext cx="3017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residual / allowed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66760" y="2919222"/>
            <a:ext cx="301752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366760" y="2123694"/>
            <a:ext cx="3017520" cy="1193292"/>
          </a:xfrm>
          <a:custGeom>
            <a:avLst/>
            <a:gdLst/>
            <a:ahLst/>
            <a:cxnLst/>
            <a:rect l="l" t="t" r="r" b="b"/>
            <a:pathLst>
              <a:path w="3017520" h="1193292">
                <a:moveTo>
                  <a:pt x="0" y="0"/>
                </a:moveTo>
                <a:lnTo>
                  <a:pt x="50292" y="24307"/>
                </a:lnTo>
                <a:lnTo>
                  <a:pt x="100584" y="48615"/>
                </a:lnTo>
                <a:lnTo>
                  <a:pt x="150876" y="72923"/>
                </a:lnTo>
                <a:lnTo>
                  <a:pt x="201168" y="97231"/>
                </a:lnTo>
                <a:lnTo>
                  <a:pt x="251460" y="121539"/>
                </a:lnTo>
                <a:lnTo>
                  <a:pt x="301752" y="145846"/>
                </a:lnTo>
                <a:lnTo>
                  <a:pt x="352044" y="170154"/>
                </a:lnTo>
                <a:lnTo>
                  <a:pt x="402336" y="194462"/>
                </a:lnTo>
                <a:lnTo>
                  <a:pt x="452628" y="218770"/>
                </a:lnTo>
                <a:lnTo>
                  <a:pt x="502920" y="243078"/>
                </a:lnTo>
                <a:lnTo>
                  <a:pt x="553212" y="267385"/>
                </a:lnTo>
                <a:lnTo>
                  <a:pt x="603504" y="291693"/>
                </a:lnTo>
                <a:lnTo>
                  <a:pt x="653796" y="316001"/>
                </a:lnTo>
                <a:lnTo>
                  <a:pt x="704088" y="340309"/>
                </a:lnTo>
                <a:lnTo>
                  <a:pt x="754380" y="364617"/>
                </a:lnTo>
                <a:lnTo>
                  <a:pt x="804672" y="388924"/>
                </a:lnTo>
                <a:lnTo>
                  <a:pt x="854964" y="413232"/>
                </a:lnTo>
                <a:lnTo>
                  <a:pt x="905256" y="437540"/>
                </a:lnTo>
                <a:lnTo>
                  <a:pt x="955548" y="461848"/>
                </a:lnTo>
                <a:lnTo>
                  <a:pt x="1005840" y="486156"/>
                </a:lnTo>
                <a:lnTo>
                  <a:pt x="1056132" y="510463"/>
                </a:lnTo>
                <a:lnTo>
                  <a:pt x="1106424" y="534771"/>
                </a:lnTo>
                <a:lnTo>
                  <a:pt x="1156716" y="559079"/>
                </a:lnTo>
                <a:lnTo>
                  <a:pt x="1207008" y="583387"/>
                </a:lnTo>
                <a:lnTo>
                  <a:pt x="1257300" y="607695"/>
                </a:lnTo>
                <a:lnTo>
                  <a:pt x="1307592" y="632002"/>
                </a:lnTo>
                <a:lnTo>
                  <a:pt x="1357884" y="656310"/>
                </a:lnTo>
                <a:lnTo>
                  <a:pt x="1408176" y="680618"/>
                </a:lnTo>
                <a:lnTo>
                  <a:pt x="1458468" y="704926"/>
                </a:lnTo>
                <a:lnTo>
                  <a:pt x="1508760" y="729234"/>
                </a:lnTo>
                <a:lnTo>
                  <a:pt x="1559052" y="753541"/>
                </a:lnTo>
                <a:lnTo>
                  <a:pt x="1609344" y="777849"/>
                </a:lnTo>
                <a:lnTo>
                  <a:pt x="1659636" y="802157"/>
                </a:lnTo>
                <a:lnTo>
                  <a:pt x="1709928" y="826465"/>
                </a:lnTo>
                <a:lnTo>
                  <a:pt x="1760220" y="850773"/>
                </a:lnTo>
                <a:lnTo>
                  <a:pt x="1810512" y="875080"/>
                </a:lnTo>
                <a:lnTo>
                  <a:pt x="1860804" y="899388"/>
                </a:lnTo>
                <a:lnTo>
                  <a:pt x="1911096" y="923696"/>
                </a:lnTo>
                <a:lnTo>
                  <a:pt x="1961388" y="948004"/>
                </a:lnTo>
                <a:lnTo>
                  <a:pt x="2011680" y="972312"/>
                </a:lnTo>
                <a:lnTo>
                  <a:pt x="2061972" y="996619"/>
                </a:lnTo>
                <a:lnTo>
                  <a:pt x="2112264" y="1020927"/>
                </a:lnTo>
                <a:lnTo>
                  <a:pt x="2162556" y="1045235"/>
                </a:lnTo>
                <a:lnTo>
                  <a:pt x="2212848" y="1069543"/>
                </a:lnTo>
                <a:lnTo>
                  <a:pt x="2263140" y="1093851"/>
                </a:lnTo>
                <a:lnTo>
                  <a:pt x="2313432" y="1118158"/>
                </a:lnTo>
                <a:lnTo>
                  <a:pt x="2363724" y="1142466"/>
                </a:lnTo>
                <a:lnTo>
                  <a:pt x="2414016" y="1166774"/>
                </a:lnTo>
                <a:lnTo>
                  <a:pt x="2464308" y="1191082"/>
                </a:lnTo>
                <a:lnTo>
                  <a:pt x="2514600" y="1193292"/>
                </a:lnTo>
                <a:lnTo>
                  <a:pt x="2564892" y="1193292"/>
                </a:lnTo>
                <a:lnTo>
                  <a:pt x="2615184" y="1193292"/>
                </a:lnTo>
                <a:lnTo>
                  <a:pt x="2665476" y="1193292"/>
                </a:lnTo>
                <a:lnTo>
                  <a:pt x="2715768" y="1193292"/>
                </a:lnTo>
                <a:lnTo>
                  <a:pt x="2766060" y="1193292"/>
                </a:lnTo>
                <a:lnTo>
                  <a:pt x="2816352" y="1193292"/>
                </a:lnTo>
                <a:lnTo>
                  <a:pt x="2866644" y="1193292"/>
                </a:lnTo>
                <a:lnTo>
                  <a:pt x="2916936" y="1193292"/>
                </a:lnTo>
                <a:lnTo>
                  <a:pt x="2967228" y="1193292"/>
                </a:lnTo>
                <a:lnTo>
                  <a:pt x="3017520" y="1193292"/>
                </a:lnTo>
              </a:path>
            </a:pathLst>
          </a:custGeom>
          <a:noFill/>
          <a:ln w="285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237622" y="2057400"/>
            <a:ext cx="0" cy="1325880"/>
          </a:xfrm>
          <a:prstGeom prst="line">
            <a:avLst/>
          </a:prstGeom>
          <a:ln w="15875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69880" y="2644902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limit =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703320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2F855A"/>
                </a:solidFill>
                <a:latin typeface="Calibri"/>
              </a:rPr>
              <a:t>dashed green: the checkpoint where the reactor method accepted the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703320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069080"/>
            <a:ext cx="5440680" cy="1325880"/>
          </a:xfrm>
          <a:prstGeom prst="roundRect">
            <a:avLst>
              <a:gd name="adj" fmla="val 689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60520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Which 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34840"/>
            <a:ext cx="5166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main conditions whose clean start failed (at most 6); if all converged, the reference at the first point. For try_2/Cu: H₂ only, 650 K, 1 bar.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5352" y="4069080"/>
            <a:ext cx="5440680" cy="1325880"/>
          </a:xfrm>
          <a:prstGeom prst="roundRect">
            <a:avLst>
              <a:gd name="adj" fmla="val 689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4160520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it writes; a good trace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434840"/>
            <a:ext cx="5166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convergence.csv (one row per checkpoint) and convergence.png. Good: everything flat after the dashed line, the residual below 1 to the end.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Pick the conditions: failures first, else the reference.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Integrate from a clean surface exactly as the reactor method does.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Record every checkpoint, on to 10⁸ 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Check that nothing moves after the accepted checkpoint.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H · TWO STARTS, MANY CONDITIONS · STAGES 5–6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5: two starting surfaces, because one gas can have two steady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Start A is a clean surface. Start B already met the gas, or the impurities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39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Start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clean surface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1536192"/>
            <a:ext cx="1773936" cy="1127290"/>
          </a:xfrm>
          <a:prstGeom prst="roundRect">
            <a:avLst>
              <a:gd name="adj" fmla="val 811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57400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54680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4028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0604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3756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5740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2316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892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5468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886200" y="2167128"/>
            <a:ext cx="822960" cy="0"/>
          </a:xfrm>
          <a:prstGeom prst="line">
            <a:avLst/>
          </a:prstGeom>
          <a:ln w="2540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49039" y="180136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solve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2312" y="1536192"/>
            <a:ext cx="1773936" cy="1127290"/>
          </a:xfrm>
          <a:prstGeom prst="roundRect">
            <a:avLst>
              <a:gd name="adj" fmla="val 811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7800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7492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06440" y="196267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89320" y="227943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92040" y="164592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5623559" y="164592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3" name="Oval 32"/>
          <p:cNvSpPr/>
          <p:nvPr/>
        </p:nvSpPr>
        <p:spPr>
          <a:xfrm>
            <a:off x="5440680" y="1962677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4" name="Oval 33"/>
          <p:cNvSpPr/>
          <p:nvPr/>
        </p:nvSpPr>
        <p:spPr>
          <a:xfrm>
            <a:off x="6172200" y="1962677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5" name="Oval 34"/>
          <p:cNvSpPr/>
          <p:nvPr/>
        </p:nvSpPr>
        <p:spPr>
          <a:xfrm>
            <a:off x="4892040" y="227943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6" name="Oval 35"/>
          <p:cNvSpPr/>
          <p:nvPr/>
        </p:nvSpPr>
        <p:spPr>
          <a:xfrm>
            <a:off x="5623559" y="227943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7" name="Oval 36"/>
          <p:cNvSpPr/>
          <p:nvPr/>
        </p:nvSpPr>
        <p:spPr>
          <a:xfrm>
            <a:off x="5989320" y="164592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679191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steady state 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20840" y="2167128"/>
            <a:ext cx="502920" cy="86868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42900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Start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749039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met CO first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47672" y="3273552"/>
            <a:ext cx="1773936" cy="1127290"/>
          </a:xfrm>
          <a:prstGeom prst="roundRect">
            <a:avLst>
              <a:gd name="adj" fmla="val 811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57400" y="3383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54680" y="3383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71800" y="370003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23160" y="401679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23160" y="3383280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48" name="Oval 47"/>
          <p:cNvSpPr/>
          <p:nvPr/>
        </p:nvSpPr>
        <p:spPr>
          <a:xfrm>
            <a:off x="2788920" y="3383280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49" name="Oval 48"/>
          <p:cNvSpPr/>
          <p:nvPr/>
        </p:nvSpPr>
        <p:spPr>
          <a:xfrm>
            <a:off x="2240280" y="3700037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0" name="Oval 49"/>
          <p:cNvSpPr/>
          <p:nvPr/>
        </p:nvSpPr>
        <p:spPr>
          <a:xfrm>
            <a:off x="2606040" y="3700037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1" name="Oval 50"/>
          <p:cNvSpPr/>
          <p:nvPr/>
        </p:nvSpPr>
        <p:spPr>
          <a:xfrm>
            <a:off x="3337560" y="3700037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2" name="Oval 51"/>
          <p:cNvSpPr/>
          <p:nvPr/>
        </p:nvSpPr>
        <p:spPr>
          <a:xfrm>
            <a:off x="2057400" y="4016794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3" name="Oval 52"/>
          <p:cNvSpPr/>
          <p:nvPr/>
        </p:nvSpPr>
        <p:spPr>
          <a:xfrm>
            <a:off x="2788920" y="4016794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54" name="Oval 53"/>
          <p:cNvSpPr/>
          <p:nvPr/>
        </p:nvSpPr>
        <p:spPr>
          <a:xfrm>
            <a:off x="3154680" y="4016794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886200" y="3904488"/>
            <a:ext cx="822960" cy="0"/>
          </a:xfrm>
          <a:prstGeom prst="line">
            <a:avLst/>
          </a:prstGeom>
          <a:ln w="2540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749039" y="353872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solve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82312" y="3273552"/>
            <a:ext cx="1773936" cy="1127290"/>
          </a:xfrm>
          <a:prstGeom prst="roundRect">
            <a:avLst>
              <a:gd name="adj" fmla="val 811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57800" y="3383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74920" y="370003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06440" y="370003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57800" y="401679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989320" y="401679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92040" y="33832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4" name="Oval 63"/>
          <p:cNvSpPr/>
          <p:nvPr/>
        </p:nvSpPr>
        <p:spPr>
          <a:xfrm>
            <a:off x="5623559" y="33832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5" name="Oval 64"/>
          <p:cNvSpPr/>
          <p:nvPr/>
        </p:nvSpPr>
        <p:spPr>
          <a:xfrm>
            <a:off x="5440680" y="3700037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6" name="Oval 65"/>
          <p:cNvSpPr/>
          <p:nvPr/>
        </p:nvSpPr>
        <p:spPr>
          <a:xfrm>
            <a:off x="6172200" y="3700037"/>
            <a:ext cx="274320" cy="27432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67" name="Oval 66"/>
          <p:cNvSpPr/>
          <p:nvPr/>
        </p:nvSpPr>
        <p:spPr>
          <a:xfrm>
            <a:off x="4892040" y="401679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8" name="Oval 67"/>
          <p:cNvSpPr/>
          <p:nvPr/>
        </p:nvSpPr>
        <p:spPr>
          <a:xfrm>
            <a:off x="5623559" y="401679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9" name="Oval 68"/>
          <p:cNvSpPr/>
          <p:nvPr/>
        </p:nvSpPr>
        <p:spPr>
          <a:xfrm>
            <a:off x="5989320" y="33832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441655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steady state B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6720840" y="3218688"/>
            <a:ext cx="502920" cy="685800"/>
          </a:xfrm>
          <a:prstGeom prst="line">
            <a:avLst/>
          </a:prstGeom>
          <a:ln w="19050">
            <a:solidFill>
              <a:srgbClr val="1F23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Diamond 71"/>
          <p:cNvSpPr/>
          <p:nvPr/>
        </p:nvSpPr>
        <p:spPr>
          <a:xfrm>
            <a:off x="7223760" y="2514600"/>
            <a:ext cx="2377440" cy="12344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max |Δθ| ≤ 10</a:t>
            </a:r>
            <a:r>
              <a:rPr sz="1200" b="0" i="0" baseline="30000">
                <a:solidFill>
                  <a:srgbClr val="1F2328"/>
                </a:solidFill>
                <a:latin typeface="Calibri"/>
              </a:rPr>
              <a:t>−3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 and TOF within 1 %?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9800" y="1828800"/>
            <a:ext cx="1856231" cy="868680"/>
          </a:xfrm>
          <a:prstGeom prst="roundRect">
            <a:avLst>
              <a:gd name="adj" fmla="val 8421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agree: one steady state found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29800" y="3291840"/>
            <a:ext cx="1856231" cy="1417320"/>
          </a:xfrm>
          <a:prstGeom prst="roundRect">
            <a:avLst>
              <a:gd name="adj" fmla="val 5161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21240" y="3383279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0424" y="3328416"/>
            <a:ext cx="1380743" cy="1344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differ: two steady states; both are reported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9601200" y="2258568"/>
            <a:ext cx="228600" cy="667512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601200" y="3291840"/>
            <a:ext cx="228600" cy="548640"/>
          </a:xfrm>
          <a:prstGeom prst="line">
            <a:avLst/>
          </a:prstGeom>
          <a:ln w="19050">
            <a:solidFill>
              <a:srgbClr val="B779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40880" y="3931920"/>
            <a:ext cx="274320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Start B, H₂ only: 99 % H∗, 1 % empty. With impurities: a clean surface held 1 s in the impurities alone, H₂ removed (e.g. 0.0526 bar H₂O).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 A: a clean surface, as for a fresh catalyst.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 B: a surface already covered, by H∗ or by the impurities.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both to steady state.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they differ, this gas has more than one steady state.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H · TWO STARTS, MANY CONDITIONS · STAGES 5–6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38436" y="100584"/>
            <a:ext cx="22503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solver.py:233–254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solve_condition(): one condition, two starts, one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Start B is built to suit the case: H∗-covered for H₂ only, impurity-exposed otherwise.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row → T, P, X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bar → 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40863"/>
            <a:ext cx="2057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 236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965960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60020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solve from start A</a:t>
            </a:r>
          </a:p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clean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40863"/>
            <a:ext cx="21488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237–238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1965960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5257800" y="1481328"/>
            <a:ext cx="1783080" cy="9601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both starts? (240)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1965960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59168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664208"/>
            <a:ext cx="1691640" cy="59436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return start A only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44768" y="2441448"/>
            <a:ext cx="0" cy="27432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2432304"/>
            <a:ext cx="411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20" name="Diamond 19"/>
          <p:cNvSpPr/>
          <p:nvPr/>
        </p:nvSpPr>
        <p:spPr>
          <a:xfrm>
            <a:off x="5257800" y="2715768"/>
            <a:ext cx="1783080" cy="9601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only in the gas? (242)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80" y="3200400"/>
            <a:ext cx="32004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59168" y="2907792"/>
            <a:ext cx="411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F855A"/>
                </a:solidFill>
                <a:latin typeface="Calibri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2880360"/>
            <a:ext cx="1920240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start B: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99 % H∗, 1 % empty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29583"/>
            <a:ext cx="19202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186–188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983480" y="3200400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56048" y="29077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743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impurity_covered_start()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impurities alone, at their own pressures · 1 s in the fixed-gas reactor · clip at 0, renormalise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66744"/>
            <a:ext cx="4480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194–218</a:t>
            </a:r>
          </a:p>
        </p:txBody>
      </p:sp>
      <p:sp>
        <p:nvSpPr>
          <p:cNvPr id="29" name="Freeform 28"/>
          <p:cNvSpPr/>
          <p:nvPr/>
        </p:nvSpPr>
        <p:spPr>
          <a:xfrm>
            <a:off x="2743200" y="3657600"/>
            <a:ext cx="4617720" cy="685800"/>
          </a:xfrm>
          <a:custGeom>
            <a:avLst/>
            <a:gdLst/>
            <a:ahLst/>
            <a:cxnLst/>
            <a:rect l="l" t="t" r="r" b="b"/>
            <a:pathLst>
              <a:path w="4617720" h="685800">
                <a:moveTo>
                  <a:pt x="0" y="0"/>
                </a:moveTo>
                <a:lnTo>
                  <a:pt x="0" y="685800"/>
                </a:lnTo>
                <a:lnTo>
                  <a:pt x="4617720" y="685800"/>
                </a:lnTo>
              </a:path>
            </a:pathLst>
          </a:custGeom>
          <a:noFill/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818120" y="3520440"/>
            <a:ext cx="0" cy="521208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60920" y="4041648"/>
            <a:ext cx="1920240" cy="59436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solve from start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645152"/>
            <a:ext cx="19202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250–251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81160" y="4343400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55480" y="3950208"/>
            <a:ext cx="2130552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compare_starts()</a:t>
            </a:r>
          </a:p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agree · differ · 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736592"/>
            <a:ext cx="21305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221–230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62272"/>
            <a:ext cx="219456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pre-exposure fails: start B = None, agreement unknown (246–248)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434840"/>
            <a:ext cx="43891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start B cached per mechanism, T and impurity pressures (202–204)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the condition from the clean start.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Build start B to suit the case.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again from start B.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Compare: agree, differ, or unknown.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H · TWO STARTS, MANY CONDITIONS · STAGES 5–6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14332" y="100584"/>
            <a:ext cx="21744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runner.py:61–123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6: run every condition in parallel, each saved the moment it finishes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fingerprint of everything that affects the answer names each saved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fixed_probe | H2O | 800 K | 1 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fixed_probe | CO | 650 K | 1 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fixed_probe | N2 | 1200 K | 1 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ourier New"/>
              </a:rPr>
              <a:t>fixed_probe | all | 650 K | 1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jobs: one per condition (72 here)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2423160"/>
            <a:ext cx="22860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3931920" y="1874519"/>
            <a:ext cx="201168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saved with this fingerprint?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71800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8C939D"/>
                </a:solidFill>
                <a:latin typeface="Courier New"/>
              </a:rPr>
              <a:t>lines 75–79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48132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yes: load it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937760" y="1810512"/>
            <a:ext cx="0" cy="64007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2423160"/>
            <a:ext cx="27432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0" y="2121408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91640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worker process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58568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worker process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25496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worker process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29000"/>
            <a:ext cx="2194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forked; half the logical CPUs: 8 here (line 58)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66760" y="2423160"/>
            <a:ext cx="228600" cy="0"/>
          </a:xfrm>
          <a:prstGeom prst="line">
            <a:avLst/>
          </a:prstGeom>
          <a:ln w="19050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95360" y="1600200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done: save .pkl at 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048256"/>
            <a:ext cx="3090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113–115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2258568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worker died: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706624"/>
            <a:ext cx="3090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102–103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2916936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alibri"/>
              </a:rPr>
              <a:t>over 1800 s: stop,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364991"/>
            <a:ext cx="30906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8C939D"/>
                </a:solidFill>
                <a:latin typeface="Courier New"/>
              </a:rPr>
              <a:t>lines 104–107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11880"/>
            <a:ext cx="30906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main loop checks every 0.2 s (line 121)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77639"/>
            <a:ext cx="6949440" cy="1417320"/>
          </a:xfrm>
          <a:prstGeom prst="roundRect">
            <a:avLst>
              <a:gd name="adj" fmla="val 645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69079"/>
            <a:ext cx="6675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fingerprint (file name)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43400"/>
            <a:ext cx="6720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&lt;key&gt;_&lt;first 12 hex of MD5 over the job + mechanism SHA-256, phase names, solver settings, Cantera version, both starts&gt;.pkl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37760"/>
            <a:ext cx="6720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e.g.  </a:t>
            </a:r>
            <a:r>
              <a:rPr sz="1300" b="0" i="0">
                <a:solidFill>
                  <a:srgbClr val="4E5661"/>
                </a:solidFill>
                <a:latin typeface="Courier New"/>
              </a:rPr>
              <a:t>fixed_probe_CO_650_K_1_bar_9d1585270cd4.pkl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977639"/>
            <a:ext cx="4050791" cy="1417320"/>
          </a:xfrm>
          <a:prstGeom prst="roundRect">
            <a:avLst>
              <a:gd name="adj" fmla="val 5161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26679" y="406908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5864" y="4014215"/>
            <a:ext cx="3575303" cy="1344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Time limits count wall-clock time, so a sleeping Mac gives false timeouts. run.sh runs under caffeinate ‑dims: keep the lid open.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Load any condition whose fingerprint is already saved.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the rest in parallel worker processes.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Stop a worker that runs past the time limit.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Save each finished result at once.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I · WHAT IS MEASURED · STAGES 7–9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14332" y="100584"/>
            <a:ext cx="21744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model.py:212–218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7: the forward rate of R0 measures splitting; its net rate is nearly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In pure H₂, splitting and recombining balance: the step runs fast in both directions.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Pure H₂ at steady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4535424" cy="310896"/>
          </a:xfrm>
          <a:prstGeom prst="roundRect">
            <a:avLst>
              <a:gd name="adj" fmla="val 17647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Cu(111)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400507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19472" y="400507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4" name="Oval 13"/>
          <p:cNvSpPr/>
          <p:nvPr/>
        </p:nvSpPr>
        <p:spPr>
          <a:xfrm>
            <a:off x="1517904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Oval 14"/>
          <p:cNvSpPr/>
          <p:nvPr/>
        </p:nvSpPr>
        <p:spPr>
          <a:xfrm>
            <a:off x="2084831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3218688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3785616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Oval 17"/>
          <p:cNvSpPr/>
          <p:nvPr/>
        </p:nvSpPr>
        <p:spPr>
          <a:xfrm>
            <a:off x="4352544" y="4005072"/>
            <a:ext cx="402336" cy="40233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9" name="Oval 18"/>
          <p:cNvSpPr/>
          <p:nvPr/>
        </p:nvSpPr>
        <p:spPr>
          <a:xfrm>
            <a:off x="1698955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1995220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Oval 20"/>
          <p:cNvSpPr/>
          <p:nvPr/>
        </p:nvSpPr>
        <p:spPr>
          <a:xfrm>
            <a:off x="3893515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Oval 21"/>
          <p:cNvSpPr/>
          <p:nvPr/>
        </p:nvSpPr>
        <p:spPr>
          <a:xfrm>
            <a:off x="4189780" y="20756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2468880"/>
            <a:ext cx="0" cy="1371600"/>
          </a:xfrm>
          <a:prstGeom prst="line">
            <a:avLst/>
          </a:prstGeom>
          <a:ln w="508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06240" y="2468880"/>
            <a:ext cx="0" cy="1371600"/>
          </a:xfrm>
          <a:prstGeom prst="line">
            <a:avLst/>
          </a:prstGeom>
          <a:ln w="508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2926080"/>
            <a:ext cx="1234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300" b="0" i="0">
                <a:solidFill>
                  <a:srgbClr val="2B6CB0"/>
                </a:solidFill>
                <a:latin typeface="Calibri"/>
              </a:rPr>
              <a:t>splitting (forward)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92608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2B6CB0"/>
                </a:solidFill>
                <a:latin typeface="Calibri"/>
              </a:rPr>
              <a:t>recombining (reverse)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4632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4E5661"/>
                </a:solidFill>
                <a:latin typeface="Calibri"/>
              </a:rPr>
              <a:t>Equal widths: R0 is at equilibrium.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the workflow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TOF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q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/ 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31720"/>
            <a:ext cx="5120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splitting events per site per second: tof_fwd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TOF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= q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/ 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108960"/>
            <a:ext cx="5120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recombinations per site per second: tof_rev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20439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net TOF = TOF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− TOF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86200"/>
            <a:ext cx="5120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close to zero in pure H₂: tof_net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79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−ṡ</a:t>
            </a:r>
            <a:r>
              <a:rPr sz="1800" b="0" i="0" baseline="-25000">
                <a:solidFill>
                  <a:srgbClr val="1F2328"/>
                </a:solidFill>
                <a:latin typeface="Cambria"/>
              </a:rPr>
              <a:t>H₂</a:t>
            </a:r>
            <a:r>
              <a:rPr sz="1800" b="0" i="0">
                <a:solidFill>
                  <a:srgbClr val="1F2328"/>
                </a:solidFill>
                <a:latin typeface="Cambria"/>
              </a:rPr>
              <a:t> / 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63440"/>
            <a:ext cx="5120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all H₂ use per site, R1 (H₂∗) included: tof_probe_consumed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 splitting events per site per second: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 recombinations the same way: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 pure H₂ they nearly cancel: R0 is at equilibrium.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 the forward TOF is reported as the splitting rate.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I · WHAT IS MEASURED · STAGES 7–9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38436" y="100584"/>
            <a:ext cx="22503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common.py:217–233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The poisoning factor: the forward rate with the impurity over the rate without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If the impurity acts only by taking sites, the empty sites alone predict the same ratio.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reference: H₂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856231"/>
            <a:ext cx="2185415" cy="1377109"/>
          </a:xfrm>
          <a:prstGeom prst="roundRect">
            <a:avLst>
              <a:gd name="adj" fmla="val 663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19659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236190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757853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57400" y="2757853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1965960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2057400" y="1965960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2361906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Oval 17"/>
          <p:cNvSpPr/>
          <p:nvPr/>
        </p:nvSpPr>
        <p:spPr>
          <a:xfrm>
            <a:off x="1828800" y="2361906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0" y="2361906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2757853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757853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∗,ref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: 4 of 12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1536192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with 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6391" y="1856231"/>
            <a:ext cx="2185415" cy="1377109"/>
          </a:xfrm>
          <a:prstGeom prst="roundRect">
            <a:avLst>
              <a:gd name="adj" fmla="val 663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236190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46120" y="1965960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27" name="Oval 26"/>
          <p:cNvSpPr/>
          <p:nvPr/>
        </p:nvSpPr>
        <p:spPr>
          <a:xfrm>
            <a:off x="3703320" y="1965960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1965960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1965960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0" name="Oval 29"/>
          <p:cNvSpPr/>
          <p:nvPr/>
        </p:nvSpPr>
        <p:spPr>
          <a:xfrm>
            <a:off x="3474720" y="2361906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1" name="Oval 30"/>
          <p:cNvSpPr/>
          <p:nvPr/>
        </p:nvSpPr>
        <p:spPr>
          <a:xfrm>
            <a:off x="3931920" y="2361906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Oval 31"/>
          <p:cNvSpPr/>
          <p:nvPr/>
        </p:nvSpPr>
        <p:spPr>
          <a:xfrm>
            <a:off x="4846320" y="2361906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3" name="Oval 32"/>
          <p:cNvSpPr/>
          <p:nvPr/>
        </p:nvSpPr>
        <p:spPr>
          <a:xfrm>
            <a:off x="3246120" y="2757853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4" name="Oval 33"/>
          <p:cNvSpPr/>
          <p:nvPr/>
        </p:nvSpPr>
        <p:spPr>
          <a:xfrm>
            <a:off x="3703320" y="2757853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5" name="Oval 34"/>
          <p:cNvSpPr/>
          <p:nvPr/>
        </p:nvSpPr>
        <p:spPr>
          <a:xfrm>
            <a:off x="4160520" y="2757853"/>
            <a:ext cx="365760" cy="365760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2757853"/>
            <a:ext cx="365760" cy="36576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342900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4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1400" b="0" i="0">
                <a:solidFill>
                  <a:srgbClr val="1F2328"/>
                </a:solidFill>
                <a:latin typeface="Cambria"/>
              </a:rPr>
              <a:t>: 1 of 12 empty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840480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example surfaces (not results)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1517904"/>
            <a:ext cx="5788152" cy="2514600"/>
          </a:xfrm>
          <a:prstGeom prst="roundRect">
            <a:avLst>
              <a:gd name="adj" fmla="val 363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1645920"/>
            <a:ext cx="55778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000" b="0" i="0">
                <a:solidFill>
                  <a:srgbClr val="1F2328"/>
                </a:solidFill>
                <a:latin typeface="Cambria"/>
              </a:rPr>
              <a:t>Π = TOF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/ TOF</a:t>
            </a:r>
            <a:r>
              <a:rPr sz="2000" b="0" i="0" baseline="-25000">
                <a:solidFill>
                  <a:srgbClr val="1F2328"/>
                </a:solidFill>
                <a:latin typeface="Cambria"/>
              </a:rPr>
              <a:t>f,ref</a:t>
            </a:r>
            <a:r>
              <a:rPr sz="2000" b="0" i="0">
                <a:solidFill>
                  <a:srgbClr val="1F2328"/>
                </a:solidFill>
                <a:latin typeface="Cambria"/>
              </a:rPr>
              <a:t>        slowdown = 1 / 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2212848"/>
            <a:ext cx="5577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site-blocking prediction, for a step needing n empty sites: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2560320"/>
            <a:ext cx="5577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900" b="0" i="0">
                <a:solidFill>
                  <a:srgbClr val="1F2328"/>
                </a:solidFill>
                <a:latin typeface="Cambria"/>
              </a:rPr>
              <a:t>Π = (p</a:t>
            </a:r>
            <a:r>
              <a:rPr sz="1900" b="0" i="0" baseline="-25000">
                <a:solidFill>
                  <a:srgbClr val="1F2328"/>
                </a:solidFill>
                <a:latin typeface="Cambria"/>
              </a:rPr>
              <a:t>H₂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 / p</a:t>
            </a:r>
            <a:r>
              <a:rPr sz="1900" b="0" i="0" baseline="-25000">
                <a:solidFill>
                  <a:srgbClr val="1F2328"/>
                </a:solidFill>
                <a:latin typeface="Cambria"/>
              </a:rPr>
              <a:t>H₂,ref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) (θ</a:t>
            </a:r>
            <a:r>
              <a:rPr sz="19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 / θ</a:t>
            </a:r>
            <a:r>
              <a:rPr sz="1900" b="0" i="0" baseline="-25000">
                <a:solidFill>
                  <a:srgbClr val="1F2328"/>
                </a:solidFill>
                <a:latin typeface="Cambria"/>
              </a:rPr>
              <a:t>∗,ref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)</a:t>
            </a:r>
            <a:r>
              <a:rPr sz="1900" b="0" i="0" baseline="30000">
                <a:solidFill>
                  <a:srgbClr val="1F2328"/>
                </a:solidFill>
                <a:latin typeface="Cambria"/>
              </a:rPr>
              <a:t>n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 (f / f</a:t>
            </a:r>
            <a:r>
              <a:rPr sz="1900" b="0" i="0" baseline="-25000">
                <a:solidFill>
                  <a:srgbClr val="1F2328"/>
                </a:solidFill>
                <a:latin typeface="Cambria"/>
              </a:rPr>
              <a:t>ref</a:t>
            </a:r>
            <a:r>
              <a:rPr sz="1900" b="0" i="0">
                <a:solidFill>
                  <a:srgbClr val="1F2328"/>
                </a:solidFill>
                <a:latin typeface="Cambria"/>
              </a:rPr>
              <a:t>)</a:t>
            </a:r>
            <a:r>
              <a:rPr sz="1900" b="0" i="0" baseline="30000">
                <a:solidFill>
                  <a:srgbClr val="1F2328"/>
                </a:solidFill>
                <a:latin typeface="Cambria"/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154680"/>
            <a:ext cx="55778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4E5661"/>
                </a:solidFill>
                <a:latin typeface="Calibri"/>
              </a:rPr>
              <a:t>R0: n = 2, read from the mechanism. p(H₂) is the same in both (Stage 3), so the first factor is 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224528"/>
            <a:ext cx="5212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F2328"/>
                </a:solidFill>
                <a:latin typeface="Cambria"/>
              </a:rPr>
              <a:t>blocking_check = Π / prediction  →  should be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4224528"/>
            <a:ext cx="5788152" cy="1152144"/>
          </a:xfrm>
          <a:prstGeom prst="roundRect">
            <a:avLst>
              <a:gd name="adj" fmla="val 6349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89320" y="4315968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4261104"/>
            <a:ext cx="5312664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blocking_check other than 1 points to coverage-dependent parameters, an indexing error, or a probe step that is not elementary. The run lists any above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−6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the H₂-only reference at the same point.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Divide the forward TOF with the impurity by the reference.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Predict the same ratio from empty sites and f alone.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they match, the impurity works only by taking sites.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I · WHAT IS MEASURED · STAGES 7–9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steady_state.py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steady_state_results.csv: one row per case and point, everything Stage 7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real 42 columns of runs/try_2/Cu/output/steady_state_results.csv, grouped by what they are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the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2938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key, basis, case, T_K, P_ref_bar, series, P_total_bar, P_probe_bar, P_impurity_bar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6382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which gas, at which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1790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0934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rates per site (s⁻¹)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92938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tof_fwd, tof_rev, tof_net, tof_probe_consumed, tof_molec_fwd, tof_molec_net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16382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R0 forward, reverse, net; all H₂ use; R1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1790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0934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coverages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92938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theta_free, theta_probe, theta_molec, theta_impurity, site_count_factor, top_species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16382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θ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∗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θ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H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θ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H₂∗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θ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imp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f, the top three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51790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60934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start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192938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tof_fwd_B, theta_free_B, theta_impurity_B, poisoning_factor_B, starts_agree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16382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the second steady state, if any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5818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4962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the solver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16966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converged, start_A_solved_by, start_B_solved_by, residual_1_per_s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40410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did it converge, and how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5818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84962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per area (Format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416966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J_diss_mol_m2_s, J_rec_mol_m2_s, J_net_mol_m2_s, J_exchange_mol_m2_s, kd_eff_mol_m2_s_Pa, gamma_eff, C_H_mol_m2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540410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the same rates per m²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58184"/>
            <a:ext cx="2697480" cy="2121408"/>
          </a:xfrm>
          <a:prstGeom prst="roundRect">
            <a:avLst>
              <a:gd name="adj" fmla="val 431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49624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poisoning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169664"/>
            <a:ext cx="247802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poisoning_factor, slowdown_x, blocking_from_theta, blocking_full, blocking_check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5404104"/>
            <a:ext cx="2478024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Π, slowdown, the site-blocking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840480"/>
            <a:ext cx="2606040" cy="1920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Written by steady_state.py from common.results_frame; the same columns, per point and level, fill the tables of Stage 11.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I · WHAT IS MEASURED · STAGES 7–9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66122" y="100584"/>
            <a:ext cx="20226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composition.py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Stage 8: who holds the sites, with one colour per species in every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Each bar is one case at one point; its segments are the coverages, and they add up to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surface_composition_vs_T: one panel per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162806"/>
            <a:ext cx="548640" cy="363474"/>
          </a:xfrm>
          <a:prstGeom prst="rect">
            <a:avLst/>
          </a:prstGeom>
          <a:solidFill>
            <a:srgbClr val="E6E9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224277"/>
            <a:ext cx="548640" cy="1938528"/>
          </a:xfrm>
          <a:prstGeom prst="rect">
            <a:avLst/>
          </a:prstGeom>
          <a:solidFill>
            <a:srgbClr val="2B6CB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103120"/>
            <a:ext cx="548640" cy="121158"/>
          </a:xfrm>
          <a:prstGeom prst="rect">
            <a:avLst/>
          </a:prstGeom>
          <a:solidFill>
            <a:srgbClr val="8C939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283964"/>
            <a:ext cx="548640" cy="242316"/>
          </a:xfrm>
          <a:prstGeom prst="rect">
            <a:avLst/>
          </a:prstGeom>
          <a:solidFill>
            <a:srgbClr val="E6E9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3193542"/>
            <a:ext cx="548640" cy="1090422"/>
          </a:xfrm>
          <a:prstGeom prst="rect">
            <a:avLst/>
          </a:prstGeom>
          <a:solidFill>
            <a:srgbClr val="2B6CB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2224278"/>
            <a:ext cx="548640" cy="969264"/>
          </a:xfrm>
          <a:prstGeom prst="rect">
            <a:avLst/>
          </a:prstGeom>
          <a:solidFill>
            <a:srgbClr val="6B4FA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2103120"/>
            <a:ext cx="548640" cy="121158"/>
          </a:xfrm>
          <a:prstGeom prst="rect">
            <a:avLst/>
          </a:prstGeom>
          <a:solidFill>
            <a:srgbClr val="8C939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4405122"/>
            <a:ext cx="548640" cy="121158"/>
          </a:xfrm>
          <a:prstGeom prst="rect">
            <a:avLst/>
          </a:prstGeom>
          <a:solidFill>
            <a:srgbClr val="E6E9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39" y="3920489"/>
            <a:ext cx="548640" cy="484632"/>
          </a:xfrm>
          <a:prstGeom prst="rect">
            <a:avLst/>
          </a:prstGeom>
          <a:solidFill>
            <a:srgbClr val="2B6CB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39" y="2224277"/>
            <a:ext cx="548640" cy="1696212"/>
          </a:xfrm>
          <a:prstGeom prst="rect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39" y="2103119"/>
            <a:ext cx="548640" cy="121158"/>
          </a:xfrm>
          <a:prstGeom prst="rect">
            <a:avLst/>
          </a:prstGeom>
          <a:solidFill>
            <a:srgbClr val="8C939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59" y="45720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4405122"/>
            <a:ext cx="548640" cy="121158"/>
          </a:xfrm>
          <a:prstGeom prst="rect">
            <a:avLst/>
          </a:prstGeom>
          <a:solidFill>
            <a:srgbClr val="E6E9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4041648"/>
            <a:ext cx="548640" cy="363474"/>
          </a:xfrm>
          <a:prstGeom prst="rect">
            <a:avLst/>
          </a:prstGeom>
          <a:solidFill>
            <a:srgbClr val="2B6CB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314700"/>
            <a:ext cx="548640" cy="726948"/>
          </a:xfrm>
          <a:prstGeom prst="rect">
            <a:avLst/>
          </a:prstGeom>
          <a:solidFill>
            <a:srgbClr val="6B4FA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4278"/>
            <a:ext cx="548640" cy="1090422"/>
          </a:xfrm>
          <a:prstGeom prst="rect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2103120"/>
            <a:ext cx="548640" cy="121158"/>
          </a:xfrm>
          <a:prstGeom prst="rect">
            <a:avLst/>
          </a:prstGeom>
          <a:solidFill>
            <a:srgbClr val="8C939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39" y="45720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2148840"/>
            <a:ext cx="219456" cy="219456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084831"/>
            <a:ext cx="1234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empty site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2532888"/>
            <a:ext cx="219456" cy="219456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2468879"/>
            <a:ext cx="1234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H*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2916936"/>
            <a:ext cx="219456" cy="219456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2852927"/>
            <a:ext cx="1234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H2O*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3300984"/>
            <a:ext cx="219456" cy="219456"/>
          </a:xfrm>
          <a:prstGeom prst="rect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3236976"/>
            <a:ext cx="1234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CO* (1 site)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3685032"/>
            <a:ext cx="219456" cy="219456"/>
          </a:xfrm>
          <a:prstGeom prst="rect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3621024"/>
            <a:ext cx="1234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other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95604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only, not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rules (settings: composition)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938528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listed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1938528"/>
            <a:ext cx="3749039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every species above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−3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steady_state_surface_species.csv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596896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own segment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2596896"/>
            <a:ext cx="3749039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if it reaches 2 % anywhere; at most 7 named, the rest “other”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255264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names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255264"/>
            <a:ext cx="3749039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readable names from species_labels in settings.py, e.g. “CO* (1 site)”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91363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colours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3913632"/>
            <a:ext cx="3749039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one per species, the same in every figure of the run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572000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figures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4572000"/>
            <a:ext cx="3749039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surface_composition_vs_T and _vs_P: one panel per point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Collect every coverage at every main condition.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List the species above 10⁻³, with readable names.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Stack the coverages per case; lump the small ones as “other”.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Keep each species’ colour across all figures.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I · WHAT IS MEASURED · STAGES 7–9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8960" y="100584"/>
            <a:ext cx="262981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steady_state.py:63–131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Stage 9: compare rates on log axes, one figure per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Rates are dots, not bars, because they span decades. One marker per temperature (or pressure).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3291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(a) forward TOF (log)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069079"/>
            <a:ext cx="3108959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68680" y="1920240"/>
            <a:ext cx="0" cy="2148839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4105655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649224" y="27432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3" name="TextBox 12"/>
          <p:cNvSpPr txBox="1"/>
          <p:nvPr/>
        </p:nvSpPr>
        <p:spPr>
          <a:xfrm>
            <a:off x="731519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322576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1287" y="2280513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271016" y="2238451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380743" y="2217420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1328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H₂O</a:t>
            </a:r>
          </a:p>
        </p:txBody>
      </p:sp>
      <p:sp>
        <p:nvSpPr>
          <p:cNvPr id="19" name="Oval 18"/>
          <p:cNvSpPr/>
          <p:nvPr/>
        </p:nvSpPr>
        <p:spPr>
          <a:xfrm>
            <a:off x="1801367" y="2364638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11095" y="2322576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2020824" y="2259482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2130552" y="2238451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</a:t>
            </a:r>
          </a:p>
        </p:txBody>
      </p:sp>
      <p:sp>
        <p:nvSpPr>
          <p:cNvPr id="24" name="Oval 23"/>
          <p:cNvSpPr/>
          <p:nvPr/>
        </p:nvSpPr>
        <p:spPr>
          <a:xfrm>
            <a:off x="2551176" y="2953512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0904" y="2743200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2770632" y="2490825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2880360" y="2322576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80944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all</a:t>
            </a:r>
          </a:p>
        </p:txBody>
      </p:sp>
      <p:sp>
        <p:nvSpPr>
          <p:cNvPr id="29" name="Oval 28"/>
          <p:cNvSpPr/>
          <p:nvPr/>
        </p:nvSpPr>
        <p:spPr>
          <a:xfrm>
            <a:off x="3300984" y="3058668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0712" y="2848356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3520440" y="2532888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3630168" y="2343607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554480"/>
            <a:ext cx="3291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(b) slowdown 1/Π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63440" y="4069079"/>
            <a:ext cx="310896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663440" y="1920240"/>
            <a:ext cx="0" cy="2148839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63440" y="4105655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45536" y="27432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cxnSp>
        <p:nvCxnSpPr>
          <p:cNvPr id="38" name="Connector 37"/>
          <p:cNvCxnSpPr/>
          <p:nvPr/>
        </p:nvCxnSpPr>
        <p:spPr>
          <a:xfrm>
            <a:off x="4663440" y="3858768"/>
            <a:ext cx="310896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26280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sp>
        <p:nvSpPr>
          <p:cNvPr id="40" name="Oval 39"/>
          <p:cNvSpPr/>
          <p:nvPr/>
        </p:nvSpPr>
        <p:spPr>
          <a:xfrm>
            <a:off x="4846320" y="3794759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56048" y="3794759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5065776" y="3794759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5175504" y="3794759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6088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H₂O</a:t>
            </a:r>
          </a:p>
        </p:txBody>
      </p:sp>
      <p:sp>
        <p:nvSpPr>
          <p:cNvPr id="45" name="Oval 44"/>
          <p:cNvSpPr/>
          <p:nvPr/>
        </p:nvSpPr>
        <p:spPr>
          <a:xfrm>
            <a:off x="5596128" y="3479292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586984" y="3287268"/>
            <a:ext cx="146304" cy="146304"/>
          </a:xfrm>
          <a:prstGeom prst="ellipse">
            <a:avLst/>
          </a:prstGeom>
          <a:noFill/>
          <a:ln w="1270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5856" y="3542385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5815584" y="3668572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Diamond 48"/>
          <p:cNvSpPr/>
          <p:nvPr/>
        </p:nvSpPr>
        <p:spPr>
          <a:xfrm>
            <a:off x="5925312" y="3752697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25896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</a:t>
            </a:r>
          </a:p>
        </p:txBody>
      </p:sp>
      <p:sp>
        <p:nvSpPr>
          <p:cNvPr id="51" name="Oval 50"/>
          <p:cNvSpPr/>
          <p:nvPr/>
        </p:nvSpPr>
        <p:spPr>
          <a:xfrm>
            <a:off x="6345936" y="2427732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36792" y="2235707"/>
            <a:ext cx="146304" cy="146304"/>
          </a:xfrm>
          <a:prstGeom prst="ellipse">
            <a:avLst/>
          </a:prstGeom>
          <a:noFill/>
          <a:ln w="1270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55664" y="2743200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565392" y="3268979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6675120" y="3626510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5704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all</a:t>
            </a:r>
          </a:p>
        </p:txBody>
      </p:sp>
      <p:sp>
        <p:nvSpPr>
          <p:cNvPr id="57" name="Oval 56"/>
          <p:cNvSpPr/>
          <p:nvPr/>
        </p:nvSpPr>
        <p:spPr>
          <a:xfrm>
            <a:off x="7095744" y="2280513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86600" y="2088489"/>
            <a:ext cx="146304" cy="146304"/>
          </a:xfrm>
          <a:prstGeom prst="ellipse">
            <a:avLst/>
          </a:prstGeom>
          <a:noFill/>
          <a:ln w="1270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05472" y="2574950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>
            <a:off x="7315200" y="3121761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1" name="Diamond 60"/>
          <p:cNvSpPr/>
          <p:nvPr/>
        </p:nvSpPr>
        <p:spPr>
          <a:xfrm>
            <a:off x="7424928" y="3542385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1554480"/>
            <a:ext cx="3291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(c) empty sites θ∗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58200" y="4069079"/>
            <a:ext cx="310896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458200" y="1920240"/>
            <a:ext cx="0" cy="2148839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58200" y="4105655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0296" y="27432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67" name="TextBox 66"/>
          <p:cNvSpPr txBox="1"/>
          <p:nvPr/>
        </p:nvSpPr>
        <p:spPr>
          <a:xfrm>
            <a:off x="8321040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sp>
        <p:nvSpPr>
          <p:cNvPr id="68" name="Oval 67"/>
          <p:cNvSpPr/>
          <p:nvPr/>
        </p:nvSpPr>
        <p:spPr>
          <a:xfrm>
            <a:off x="8641080" y="2217420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50807" y="2112264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>
            <a:off x="8860536" y="2049170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1" name="Diamond 70"/>
          <p:cNvSpPr/>
          <p:nvPr/>
        </p:nvSpPr>
        <p:spPr>
          <a:xfrm>
            <a:off x="8970263" y="2007108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70848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H₂O</a:t>
            </a:r>
          </a:p>
        </p:txBody>
      </p:sp>
      <p:sp>
        <p:nvSpPr>
          <p:cNvPr id="73" name="Oval 72"/>
          <p:cNvSpPr/>
          <p:nvPr/>
        </p:nvSpPr>
        <p:spPr>
          <a:xfrm>
            <a:off x="9390888" y="2532888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00615" y="2322576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5" name="Isosceles Triangle 74"/>
          <p:cNvSpPr/>
          <p:nvPr/>
        </p:nvSpPr>
        <p:spPr>
          <a:xfrm>
            <a:off x="9610344" y="2154326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6" name="Diamond 75"/>
          <p:cNvSpPr/>
          <p:nvPr/>
        </p:nvSpPr>
        <p:spPr>
          <a:xfrm>
            <a:off x="9720072" y="2070201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20656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</a:t>
            </a:r>
          </a:p>
        </p:txBody>
      </p:sp>
      <p:sp>
        <p:nvSpPr>
          <p:cNvPr id="78" name="Oval 77"/>
          <p:cNvSpPr/>
          <p:nvPr/>
        </p:nvSpPr>
        <p:spPr>
          <a:xfrm>
            <a:off x="10140696" y="3374136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50424" y="2953512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0" name="Isosceles Triangle 79"/>
          <p:cNvSpPr/>
          <p:nvPr/>
        </p:nvSpPr>
        <p:spPr>
          <a:xfrm>
            <a:off x="10360152" y="2427732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Diamond 80"/>
          <p:cNvSpPr/>
          <p:nvPr/>
        </p:nvSpPr>
        <p:spPr>
          <a:xfrm>
            <a:off x="10469880" y="2154326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70463" y="4114799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all</a:t>
            </a:r>
          </a:p>
        </p:txBody>
      </p:sp>
      <p:sp>
        <p:nvSpPr>
          <p:cNvPr id="83" name="Oval 82"/>
          <p:cNvSpPr/>
          <p:nvPr/>
        </p:nvSpPr>
        <p:spPr>
          <a:xfrm>
            <a:off x="10890504" y="3479292"/>
            <a:ext cx="128016" cy="128016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000232" y="3058668"/>
            <a:ext cx="128016" cy="128016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5" name="Isosceles Triangle 84"/>
          <p:cNvSpPr/>
          <p:nvPr/>
        </p:nvSpPr>
        <p:spPr>
          <a:xfrm>
            <a:off x="11109960" y="2532888"/>
            <a:ext cx="128016" cy="128016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19688" y="2217420"/>
            <a:ext cx="128016" cy="128016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68680" y="4572000"/>
            <a:ext cx="146304" cy="146304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69848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650 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11680" y="4572000"/>
            <a:ext cx="146304" cy="146304"/>
          </a:xfrm>
          <a:prstGeom prst="rect">
            <a:avLst/>
          </a:prstGeom>
          <a:solidFill>
            <a:srgbClr val="4E5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12848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800 K</a:t>
            </a:r>
          </a:p>
        </p:txBody>
      </p:sp>
      <p:sp>
        <p:nvSpPr>
          <p:cNvPr id="91" name="Isosceles Triangle 90"/>
          <p:cNvSpPr/>
          <p:nvPr/>
        </p:nvSpPr>
        <p:spPr>
          <a:xfrm>
            <a:off x="3154680" y="4572000"/>
            <a:ext cx="146304" cy="146304"/>
          </a:xfrm>
          <a:prstGeom prst="triangl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55848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1000 K</a:t>
            </a:r>
          </a:p>
        </p:txBody>
      </p:sp>
      <p:sp>
        <p:nvSpPr>
          <p:cNvPr id="93" name="Diamond 92"/>
          <p:cNvSpPr/>
          <p:nvPr/>
        </p:nvSpPr>
        <p:spPr>
          <a:xfrm>
            <a:off x="4297680" y="4572000"/>
            <a:ext cx="146304" cy="146304"/>
          </a:xfrm>
          <a:prstGeom prst="diamond">
            <a:avLst/>
          </a:prstGeom>
          <a:solidFill>
            <a:srgbClr val="A7A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8848" y="4489704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1200 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77840" y="4462272"/>
            <a:ext cx="61264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Open circles in (b): the slowdown if the number of sites were fixed. _vs_P: one row per pressure-series temperature, a marker per p. _per_area copies show 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d,eff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in (a).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78440" y="1481328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Plot each case’s forward TOF on a log axis.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Show how many times slower than H₂ alone.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Show the empty sites that the rate needs.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Repeat per series, and per area.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J · CAN IT BE TRUSTED? · STAGE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10751" y="100584"/>
            <a:ext cx="24780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diagnostics.py:26–91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400" b="0" i="0">
                <a:solidFill>
                  <a:srgbClr val="1F2328"/>
                </a:solidFill>
                <a:latin typeface="Cambria"/>
              </a:rPr>
              <a:t>Stage 10: check the mechanism’s binding energies against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binding energy 10 kJ/mol too strong makes that species’ coverage about 6 times too high at 650 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7863840" cy="3246120"/>
          </a:xfrm>
          <a:prstGeom prst="roundRect">
            <a:avLst>
              <a:gd name="adj" fmla="val 281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758951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One adsorption, three possible verdicts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108960"/>
            <a:ext cx="694944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172968"/>
            <a:ext cx="6949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ΔH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ads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at 298 K (kJ/mol)   ← stronger binding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7919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1343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0" i="0">
                <a:solidFill>
                  <a:srgbClr val="4E5661"/>
                </a:solidFill>
                <a:latin typeface="Calibri"/>
              </a:rPr>
              <a:t>literature range</a:t>
            </a:r>
          </a:p>
        </p:txBody>
      </p:sp>
      <p:sp>
        <p:nvSpPr>
          <p:cNvPr id="14" name="Isosceles Triangle 13"/>
          <p:cNvSpPr/>
          <p:nvPr/>
        </p:nvSpPr>
        <p:spPr>
          <a:xfrm rot="16200000">
            <a:off x="1965960" y="2679192"/>
            <a:ext cx="274320" cy="274320"/>
          </a:xfrm>
          <a:prstGeom prst="triangl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599" y="3520440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TOO STRONG</a:t>
            </a:r>
          </a:p>
        </p:txBody>
      </p:sp>
      <p:sp>
        <p:nvSpPr>
          <p:cNvPr id="16" name="Oval 15"/>
          <p:cNvSpPr/>
          <p:nvPr/>
        </p:nvSpPr>
        <p:spPr>
          <a:xfrm>
            <a:off x="4453128" y="2697480"/>
            <a:ext cx="237744" cy="237744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520440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OK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6629400" y="2679192"/>
            <a:ext cx="274320" cy="274320"/>
          </a:xfrm>
          <a:prstGeom prst="triangl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520440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1" i="0">
                <a:solidFill>
                  <a:srgbClr val="1F2328"/>
                </a:solidFill>
                <a:latin typeface="Calibri"/>
              </a:rPr>
              <a:t>TOO WEAK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810512"/>
            <a:ext cx="1280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41648"/>
            <a:ext cx="7498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One entry of diagnostics['adsorption_checks'] in settings.py: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15968"/>
            <a:ext cx="7589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('H2 -&gt; 2 H*', {'H2(1)': 1, 'vacantX(8)': 2}, {'[PtH](33)': 2}, (lo, hi), 'source')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1517904"/>
            <a:ext cx="3090672" cy="3246120"/>
          </a:xfrm>
          <a:prstGeom prst="roundRect">
            <a:avLst>
              <a:gd name="adj" fmla="val 295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1609344"/>
            <a:ext cx="28163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920240"/>
            <a:ext cx="2880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ΔH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ads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Σ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ν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H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°(298 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77440"/>
            <a:ext cx="28803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/θ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∗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exp(−ΔG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ads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/RT) p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k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/P°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017520"/>
            <a:ext cx="2880360" cy="1645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Too strong by δ raises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k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/θ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by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δ/RT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δ = 10 kJ/mol gives × 6.4 at 650 K, × 2.7 at 1200 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64608"/>
            <a:ext cx="11185855" cy="530352"/>
          </a:xfrm>
          <a:prstGeom prst="roundRect">
            <a:avLst>
              <a:gd name="adj" fmla="val 13793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956048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4901184"/>
            <a:ext cx="10710367" cy="45719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Not set for Cu yet: adsorption_checks = [] in try_2/Cu/settings.py. The ranges must be for Cu(111); Ni(111) values do not apply.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Compute each adsorption enthalpy from the mechanism’s own thermo.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it with a literature range for Cu(111).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Verdict: OK, too strong or too weak.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Too strong by δ: coverage too high by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δ/RT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J · CAN IT BE TRUSTED? · STAGE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34855" y="100584"/>
            <a:ext cx="25539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diagnostics.py:94–195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What-if tests: switch reactions off with rate multipliers, never by editing energies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 multiplier scales forward and reverse together, so every equilibrium constant stays as it was.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71500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4406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Example for try_2/Cu: switch off H atoms, H(16)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600" b="1" i="0">
                <a:solidFill>
                  <a:srgbClr val="2B6CB0"/>
                </a:solidFill>
                <a:latin typeface="Calibri"/>
              </a:rPr>
              <a:t>H(16)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286000"/>
            <a:ext cx="731520" cy="0"/>
          </a:xfrm>
          <a:prstGeom prst="line">
            <a:avLst/>
          </a:prstGeom>
          <a:ln w="19050">
            <a:solidFill>
              <a:srgbClr val="8C939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075688"/>
            <a:ext cx="566928" cy="42062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×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#26  H + ∗ ⇌ H∗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H(16) is in 1 surface reaction: H atoms adsorbing from, and desorbing to, the gas.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394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in settings.py, each entry is one what-if: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diagnostics = {'switch_off': ['H(16)']}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species: all its surface reactions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[26]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6908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reaction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[['H(16)', 26]]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52628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 list, switched off together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5394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Outputs: mechanism_switch_off_H_16.csv and switch_off_H_16.png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517904"/>
            <a:ext cx="5239512" cy="205740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09344"/>
            <a:ext cx="49651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Why not edit the energy instead?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920240"/>
            <a:ext cx="498348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It changes reverse rates by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δH/RT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; forward rates keep RMG’s old estimates.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Barriers can turn negative, and the equations get stiffer.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The real fix belongs in RMG: regenerate with corrected thermo.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03320"/>
            <a:ext cx="52395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712463"/>
            <a:ext cx="50749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Each what-if is solved again from a clean start; the direct solve fails on zero Jacobian rows, so the reactor method runs.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306824"/>
            <a:ext cx="52395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15968"/>
            <a:ext cx="50749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Switch off one species at a time: the network can re-route. A sensitivity test, not a correction.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919472"/>
            <a:ext cx="5239512" cy="457200"/>
          </a:xfrm>
          <a:prstGeom prst="roundRect">
            <a:avLst>
              <a:gd name="adj" fmla="val 1600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5010912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4956048"/>
            <a:ext cx="476402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Off by default (switch_off = []); not run for try_2/Cu.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Pick a suspect species or reaction.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Set every reaction that makes or uses it to zero.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the main conditions again.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the conclusions survive, they don’t hinge on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J · CAN IT BE TRUSTED? · STAGE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8960" y="100584"/>
            <a:ext cx="262981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diagnostics.py:266–289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Trace who makes and uses a species, reaction by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At a steady state each reaction adds ν q / Γ to a species. Sorting the terms shows which reactions matter.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8640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Sources and sinks of one species, e.g. H∗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3108960"/>
            <a:ext cx="1097280" cy="64008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2560320"/>
            <a:ext cx="1051560" cy="651510"/>
          </a:xfrm>
          <a:prstGeom prst="line">
            <a:avLst/>
          </a:prstGeom>
          <a:ln w="4445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395727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template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3429000"/>
            <a:ext cx="1188720" cy="0"/>
          </a:xfrm>
          <a:prstGeom prst="line">
            <a:avLst/>
          </a:prstGeom>
          <a:ln w="2540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2644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template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00200" y="3680460"/>
            <a:ext cx="1051560" cy="754380"/>
          </a:xfrm>
          <a:prstGeom prst="line">
            <a:avLst/>
          </a:prstGeom>
          <a:ln w="1270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4270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template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840480" y="2606040"/>
            <a:ext cx="960120" cy="617220"/>
          </a:xfrm>
          <a:prstGeom prst="line">
            <a:avLst/>
          </a:prstGeom>
          <a:ln w="3175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24414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template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634740"/>
            <a:ext cx="960120" cy="617220"/>
          </a:xfrm>
          <a:prstGeom prst="line">
            <a:avLst/>
          </a:prstGeom>
          <a:ln w="15875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46320" y="40873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975104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4E5661"/>
                </a:solidFill>
                <a:latin typeface="Calibri"/>
              </a:rPr>
              <a:t>producers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75104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300" b="1" i="0">
                <a:solidFill>
                  <a:srgbClr val="4E5661"/>
                </a:solidFill>
                <a:latin typeface="Calibri"/>
              </a:rPr>
              <a:t>consumers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5029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 widths · H∗ is in 126 surface reactions 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17904"/>
            <a:ext cx="5468112" cy="2743200"/>
          </a:xfrm>
          <a:prstGeom prst="roundRect">
            <a:avLst>
              <a:gd name="adj" fmla="val 333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09344"/>
            <a:ext cx="5193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it 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920240"/>
            <a:ext cx="5166360" cy="2286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the top_n (5) largest makers (+) and users (−) of the species, per site (s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−1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),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with the reaction number, its equation and its provenance (the YAML note).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Setting: diagnostics['top_reactions'] = [(case, T, species)] or (case, T, P, species).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Output: top_reactions.csv.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89120"/>
            <a:ext cx="5468112" cy="987552"/>
          </a:xfrm>
          <a:prstGeom prst="roundRect">
            <a:avLst>
              <a:gd name="adj" fmla="val 7407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0" y="448056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4425696"/>
            <a:ext cx="4992624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Not set for try_2/Cu (top_reactions = []). For example ('CO', 650.0, '[PtH](33)') would trace H∗ in the CO case at 650 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Pick a species and a steady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List every reaction’s contribution to the species.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Sort producers and consumers by size.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each top reaction’s provenance note.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J · CAN IT BE TRUSTED? · STAGE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45598" y="100584"/>
            <a:ext cx="16431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chem_annotated.yaml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mbria"/>
              </a:rPr>
              <a:t>Where each number came from: in try_2/Cu, none is from a Cu(111)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order of confidence, filled in for this mechanism. Trust library values most, scaled estimates least.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901952"/>
            <a:ext cx="438912" cy="43891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64208"/>
            <a:ext cx="6035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a library value for this metal and facet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93392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2 reactions, from O2_dissociative_adsorption (CO and O₂ adsorption)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04288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B7791F"/>
                </a:solidFill>
                <a:latin typeface="Calibri"/>
              </a:rPr>
              <a:t>that library is not in the local RMG-database: its metal is not recorded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956816"/>
            <a:ext cx="3383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56816"/>
            <a:ext cx="36576" cy="29260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286000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2 of 1,634 reactions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79776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" y="3108960"/>
            <a:ext cx="438912" cy="438912"/>
          </a:xfrm>
          <a:prstGeom prst="ellipse">
            <a:avLst/>
          </a:prstGeom>
          <a:solidFill>
            <a:srgbClr val="8C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71216"/>
            <a:ext cx="6035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training reactions and rate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00400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1,632 reactions estimated from templates, R0 among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11296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B7791F"/>
                </a:solidFill>
                <a:latin typeface="Calibri"/>
              </a:rPr>
              <a:t>R0 matched a Ni training reaction, “Deutschmann Ni” (A = 0.03, Ea = 5 kJ/mol)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163824"/>
            <a:ext cx="3383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3163824"/>
            <a:ext cx="3379138" cy="292608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493008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1,632 of 1,634 reactions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86784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" y="4315968"/>
            <a:ext cx="438912" cy="43891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078224"/>
            <a:ext cx="6035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values scaled from another metal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407408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thermochemistry of all 71 surface species: Pt(111), shifted to Cu(111)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718304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B7791F"/>
                </a:solidFill>
                <a:latin typeface="Calibri"/>
              </a:rPr>
              <a:t>by linear scaling with the Cu(111) binding energies (slide 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4370832"/>
            <a:ext cx="3383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4370832"/>
            <a:ext cx="3383279" cy="292608"/>
          </a:xfrm>
          <a:prstGeom prst="rect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4700016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71 of 71 surface species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30368"/>
            <a:ext cx="1118585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B7791F"/>
                </a:solidFill>
                <a:latin typeface="Calibri"/>
              </a:rPr>
              <a:t>Look hardest at R0 (a Ni value on Cu) and at the species that hold the most sites (Stage 8): compare them with Cu(111) literature (slide 44).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each number’s provenance note in the YAML.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Library values for this metal come first.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Then rate rules and training reactions.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Values scaled from another metal come last.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curves.py:22–71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Poisoning curves: the rate against the impurity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At each point, every impurity at 12 levels, each from both starts: 680 solves for try_2/Cu.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is solved, and what is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the 12 levels r = p(impurity) / p(H₂), on a log scale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359152"/>
            <a:ext cx="4663440" cy="0"/>
          </a:xfrm>
          <a:prstGeom prst="line">
            <a:avLst/>
          </a:prstGeom>
          <a:ln w="12700">
            <a:solidFill>
              <a:srgbClr val="4E5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0100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12299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64029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6228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27959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0158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91888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04087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5818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8017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9747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63540" y="2290572"/>
            <a:ext cx="137160" cy="137160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" y="245059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0779" y="245059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8638" y="245059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245059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816352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8 points × (1 reference + 7 impurities × 12 levels) =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680 solves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from both starts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456432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Π(r) =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(r) /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(H₂ only), at the same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03904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imp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= 1 −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−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H∗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−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H₂∗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the sites the impurity’s species 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224528"/>
            <a:ext cx="512064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½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where Π = 0.5, by log–log interpolation; “at most this” if Π is already below 0.5 at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−6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“never halved in the range tested” if it never gets there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figure: one column per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1627632"/>
            <a:ext cx="1051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68826" y="2103120"/>
            <a:ext cx="934719" cy="1325880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995160" y="3429000"/>
            <a:ext cx="420624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95160" y="205740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95160" y="3465576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7256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40" name="TextBox 39"/>
          <p:cNvSpPr txBox="1"/>
          <p:nvPr/>
        </p:nvSpPr>
        <p:spPr>
          <a:xfrm>
            <a:off x="6355080" y="2601468"/>
            <a:ext cx="548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500" b="0" i="0">
                <a:solidFill>
                  <a:srgbClr val="4E5661"/>
                </a:solidFill>
                <a:latin typeface="Calibri"/>
              </a:rPr>
              <a:t>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95160" y="2766060"/>
            <a:ext cx="420624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6995160" y="2236587"/>
            <a:ext cx="4206240" cy="1109198"/>
          </a:xfrm>
          <a:custGeom>
            <a:avLst/>
            <a:gdLst/>
            <a:ahLst/>
            <a:cxnLst/>
            <a:rect l="l" t="t" r="r" b="b"/>
            <a:pathLst>
              <a:path w="4206240" h="1109198">
                <a:moveTo>
                  <a:pt x="0" y="0"/>
                </a:moveTo>
                <a:lnTo>
                  <a:pt x="70104" y="210"/>
                </a:lnTo>
                <a:lnTo>
                  <a:pt x="140208" y="470"/>
                </a:lnTo>
                <a:lnTo>
                  <a:pt x="210312" y="792"/>
                </a:lnTo>
                <a:lnTo>
                  <a:pt x="280416" y="1191"/>
                </a:lnTo>
                <a:lnTo>
                  <a:pt x="350520" y="1685"/>
                </a:lnTo>
                <a:lnTo>
                  <a:pt x="420623" y="2296"/>
                </a:lnTo>
                <a:lnTo>
                  <a:pt x="490728" y="3052"/>
                </a:lnTo>
                <a:lnTo>
                  <a:pt x="560832" y="3988"/>
                </a:lnTo>
                <a:lnTo>
                  <a:pt x="630936" y="5145"/>
                </a:lnTo>
                <a:lnTo>
                  <a:pt x="701040" y="6575"/>
                </a:lnTo>
                <a:lnTo>
                  <a:pt x="771144" y="8341"/>
                </a:lnTo>
                <a:lnTo>
                  <a:pt x="841248" y="10522"/>
                </a:lnTo>
                <a:lnTo>
                  <a:pt x="911352" y="13212"/>
                </a:lnTo>
                <a:lnTo>
                  <a:pt x="981455" y="16527"/>
                </a:lnTo>
                <a:lnTo>
                  <a:pt x="1051560" y="20607"/>
                </a:lnTo>
                <a:lnTo>
                  <a:pt x="1121664" y="25620"/>
                </a:lnTo>
                <a:lnTo>
                  <a:pt x="1191768" y="31767"/>
                </a:lnTo>
                <a:lnTo>
                  <a:pt x="1261872" y="39287"/>
                </a:lnTo>
                <a:lnTo>
                  <a:pt x="1331976" y="48461"/>
                </a:lnTo>
                <a:lnTo>
                  <a:pt x="1402080" y="59611"/>
                </a:lnTo>
                <a:lnTo>
                  <a:pt x="1472184" y="73107"/>
                </a:lnTo>
                <a:lnTo>
                  <a:pt x="1542288" y="89355"/>
                </a:lnTo>
                <a:lnTo>
                  <a:pt x="1612392" y="108796"/>
                </a:lnTo>
                <a:lnTo>
                  <a:pt x="1682496" y="131881"/>
                </a:lnTo>
                <a:lnTo>
                  <a:pt x="1752600" y="159052"/>
                </a:lnTo>
                <a:lnTo>
                  <a:pt x="1822704" y="190698"/>
                </a:lnTo>
                <a:lnTo>
                  <a:pt x="1892808" y="227109"/>
                </a:lnTo>
                <a:lnTo>
                  <a:pt x="1962912" y="268418"/>
                </a:lnTo>
                <a:lnTo>
                  <a:pt x="2033016" y="314548"/>
                </a:lnTo>
                <a:lnTo>
                  <a:pt x="2103120" y="365154"/>
                </a:lnTo>
                <a:lnTo>
                  <a:pt x="2173224" y="419602"/>
                </a:lnTo>
                <a:lnTo>
                  <a:pt x="2243328" y="476974"/>
                </a:lnTo>
                <a:lnTo>
                  <a:pt x="2313432" y="536110"/>
                </a:lnTo>
                <a:lnTo>
                  <a:pt x="2383536" y="595699"/>
                </a:lnTo>
                <a:lnTo>
                  <a:pt x="2453639" y="654387"/>
                </a:lnTo>
                <a:lnTo>
                  <a:pt x="2523744" y="710903"/>
                </a:lnTo>
                <a:lnTo>
                  <a:pt x="2593848" y="764160"/>
                </a:lnTo>
                <a:lnTo>
                  <a:pt x="2663952" y="813329"/>
                </a:lnTo>
                <a:lnTo>
                  <a:pt x="2734056" y="857876"/>
                </a:lnTo>
                <a:lnTo>
                  <a:pt x="2804160" y="897550"/>
                </a:lnTo>
                <a:lnTo>
                  <a:pt x="2874264" y="932349"/>
                </a:lnTo>
                <a:lnTo>
                  <a:pt x="2944368" y="962464"/>
                </a:lnTo>
                <a:lnTo>
                  <a:pt x="3014472" y="988227"/>
                </a:lnTo>
                <a:lnTo>
                  <a:pt x="3084576" y="1010047"/>
                </a:lnTo>
                <a:lnTo>
                  <a:pt x="3154680" y="1028373"/>
                </a:lnTo>
                <a:lnTo>
                  <a:pt x="3224784" y="1043657"/>
                </a:lnTo>
                <a:lnTo>
                  <a:pt x="3294888" y="1056327"/>
                </a:lnTo>
                <a:lnTo>
                  <a:pt x="3364992" y="1066780"/>
                </a:lnTo>
                <a:lnTo>
                  <a:pt x="3435096" y="1075369"/>
                </a:lnTo>
                <a:lnTo>
                  <a:pt x="3505200" y="1082403"/>
                </a:lnTo>
                <a:lnTo>
                  <a:pt x="3575304" y="1088147"/>
                </a:lnTo>
                <a:lnTo>
                  <a:pt x="3645408" y="1092828"/>
                </a:lnTo>
                <a:lnTo>
                  <a:pt x="3715512" y="1096635"/>
                </a:lnTo>
                <a:lnTo>
                  <a:pt x="3785616" y="1099728"/>
                </a:lnTo>
                <a:lnTo>
                  <a:pt x="3855720" y="1102237"/>
                </a:lnTo>
                <a:lnTo>
                  <a:pt x="3925824" y="1104270"/>
                </a:lnTo>
                <a:lnTo>
                  <a:pt x="3995928" y="1105916"/>
                </a:lnTo>
                <a:lnTo>
                  <a:pt x="4066032" y="1107249"/>
                </a:lnTo>
                <a:lnTo>
                  <a:pt x="4136136" y="1108327"/>
                </a:lnTo>
                <a:lnTo>
                  <a:pt x="4206240" y="1109198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968826" y="2500174"/>
            <a:ext cx="934720" cy="787405"/>
          </a:xfrm>
          <a:custGeom>
            <a:avLst/>
            <a:gdLst/>
            <a:ahLst/>
            <a:cxnLst/>
            <a:rect l="l" t="t" r="r" b="b"/>
            <a:pathLst>
              <a:path w="934720" h="787405">
                <a:moveTo>
                  <a:pt x="0" y="0"/>
                </a:moveTo>
                <a:lnTo>
                  <a:pt x="15579" y="13679"/>
                </a:lnTo>
                <a:lnTo>
                  <a:pt x="31158" y="27821"/>
                </a:lnTo>
                <a:lnTo>
                  <a:pt x="46736" y="42419"/>
                </a:lnTo>
                <a:lnTo>
                  <a:pt x="62315" y="57460"/>
                </a:lnTo>
                <a:lnTo>
                  <a:pt x="77894" y="72930"/>
                </a:lnTo>
                <a:lnTo>
                  <a:pt x="93472" y="88812"/>
                </a:lnTo>
                <a:lnTo>
                  <a:pt x="109051" y="105086"/>
                </a:lnTo>
                <a:lnTo>
                  <a:pt x="124630" y="121728"/>
                </a:lnTo>
                <a:lnTo>
                  <a:pt x="140208" y="138714"/>
                </a:lnTo>
                <a:lnTo>
                  <a:pt x="155787" y="156015"/>
                </a:lnTo>
                <a:lnTo>
                  <a:pt x="171366" y="173601"/>
                </a:lnTo>
                <a:lnTo>
                  <a:pt x="186944" y="191439"/>
                </a:lnTo>
                <a:lnTo>
                  <a:pt x="202523" y="209494"/>
                </a:lnTo>
                <a:lnTo>
                  <a:pt x="218102" y="227728"/>
                </a:lnTo>
                <a:lnTo>
                  <a:pt x="233680" y="246104"/>
                </a:lnTo>
                <a:lnTo>
                  <a:pt x="249259" y="264583"/>
                </a:lnTo>
                <a:lnTo>
                  <a:pt x="264838" y="283123"/>
                </a:lnTo>
                <a:lnTo>
                  <a:pt x="280416" y="301683"/>
                </a:lnTo>
                <a:lnTo>
                  <a:pt x="295995" y="320223"/>
                </a:lnTo>
                <a:lnTo>
                  <a:pt x="311574" y="338702"/>
                </a:lnTo>
                <a:lnTo>
                  <a:pt x="327152" y="357078"/>
                </a:lnTo>
                <a:lnTo>
                  <a:pt x="342731" y="375313"/>
                </a:lnTo>
                <a:lnTo>
                  <a:pt x="358310" y="393367"/>
                </a:lnTo>
                <a:lnTo>
                  <a:pt x="373888" y="411205"/>
                </a:lnTo>
                <a:lnTo>
                  <a:pt x="389467" y="428791"/>
                </a:lnTo>
                <a:lnTo>
                  <a:pt x="405046" y="446092"/>
                </a:lnTo>
                <a:lnTo>
                  <a:pt x="420624" y="463078"/>
                </a:lnTo>
                <a:lnTo>
                  <a:pt x="436203" y="479720"/>
                </a:lnTo>
                <a:lnTo>
                  <a:pt x="451782" y="495994"/>
                </a:lnTo>
                <a:lnTo>
                  <a:pt x="467360" y="511876"/>
                </a:lnTo>
                <a:lnTo>
                  <a:pt x="482939" y="527346"/>
                </a:lnTo>
                <a:lnTo>
                  <a:pt x="498518" y="542387"/>
                </a:lnTo>
                <a:lnTo>
                  <a:pt x="514096" y="556985"/>
                </a:lnTo>
                <a:lnTo>
                  <a:pt x="529675" y="571128"/>
                </a:lnTo>
                <a:lnTo>
                  <a:pt x="545254" y="584806"/>
                </a:lnTo>
                <a:lnTo>
                  <a:pt x="560832" y="598015"/>
                </a:lnTo>
                <a:lnTo>
                  <a:pt x="576411" y="610749"/>
                </a:lnTo>
                <a:lnTo>
                  <a:pt x="591990" y="623007"/>
                </a:lnTo>
                <a:lnTo>
                  <a:pt x="607568" y="634789"/>
                </a:lnTo>
                <a:lnTo>
                  <a:pt x="623147" y="646098"/>
                </a:lnTo>
                <a:lnTo>
                  <a:pt x="638726" y="656939"/>
                </a:lnTo>
                <a:lnTo>
                  <a:pt x="654304" y="667316"/>
                </a:lnTo>
                <a:lnTo>
                  <a:pt x="669883" y="677239"/>
                </a:lnTo>
                <a:lnTo>
                  <a:pt x="685462" y="686714"/>
                </a:lnTo>
                <a:lnTo>
                  <a:pt x="701040" y="695753"/>
                </a:lnTo>
                <a:lnTo>
                  <a:pt x="716619" y="704366"/>
                </a:lnTo>
                <a:lnTo>
                  <a:pt x="732198" y="712564"/>
                </a:lnTo>
                <a:lnTo>
                  <a:pt x="747776" y="720360"/>
                </a:lnTo>
                <a:lnTo>
                  <a:pt x="763355" y="727767"/>
                </a:lnTo>
                <a:lnTo>
                  <a:pt x="778934" y="734798"/>
                </a:lnTo>
                <a:lnTo>
                  <a:pt x="794512" y="741466"/>
                </a:lnTo>
                <a:lnTo>
                  <a:pt x="810091" y="747785"/>
                </a:lnTo>
                <a:lnTo>
                  <a:pt x="825670" y="753769"/>
                </a:lnTo>
                <a:lnTo>
                  <a:pt x="841248" y="759432"/>
                </a:lnTo>
                <a:lnTo>
                  <a:pt x="856827" y="764786"/>
                </a:lnTo>
                <a:lnTo>
                  <a:pt x="872406" y="769847"/>
                </a:lnTo>
                <a:lnTo>
                  <a:pt x="887984" y="774626"/>
                </a:lnTo>
                <a:lnTo>
                  <a:pt x="903563" y="779137"/>
                </a:lnTo>
                <a:lnTo>
                  <a:pt x="919142" y="783393"/>
                </a:lnTo>
                <a:lnTo>
                  <a:pt x="934720" y="787405"/>
                </a:lnTo>
              </a:path>
            </a:pathLst>
          </a:custGeom>
          <a:noFill/>
          <a:ln w="19050">
            <a:solidFill>
              <a:srgbClr val="B832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40296" y="2181723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1941" y="2183579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19229" y="2190284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90874" y="2209728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98162" y="2275107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69808" y="2429848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77096" y="2737713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48741" y="3023883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56029" y="3200319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27674" y="3262470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834962" y="3285142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44931" y="3290903"/>
            <a:ext cx="109728" cy="109728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26866" y="2145720"/>
            <a:ext cx="237744" cy="237744"/>
          </a:xfrm>
          <a:prstGeom prst="ellipse">
            <a:avLst/>
          </a:prstGeom>
          <a:noFill/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90874" y="2625236"/>
            <a:ext cx="109728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34154" y="2211099"/>
            <a:ext cx="237744" cy="237744"/>
          </a:xfrm>
          <a:prstGeom prst="ellipse">
            <a:avLst/>
          </a:prstGeom>
          <a:noFill/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98162" y="3062247"/>
            <a:ext cx="109728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9209339" y="2674620"/>
            <a:ext cx="182880" cy="1828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68826" y="3703320"/>
            <a:ext cx="934719" cy="777240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6995160" y="4480559"/>
            <a:ext cx="420624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995160" y="3657600"/>
            <a:ext cx="0" cy="822959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95160" y="4517136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381762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66" name="TextBox 65"/>
          <p:cNvSpPr txBox="1"/>
          <p:nvPr/>
        </p:nvSpPr>
        <p:spPr>
          <a:xfrm>
            <a:off x="6263640" y="3927348"/>
            <a:ext cx="640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500" b="0" i="0">
                <a:solidFill>
                  <a:srgbClr val="4E5661"/>
                </a:solidFill>
                <a:latin typeface="Calibri"/>
              </a:rPr>
              <a:t>θ</a:t>
            </a:r>
            <a:r>
              <a:rPr sz="1500" b="0" i="0" baseline="-25000">
                <a:solidFill>
                  <a:srgbClr val="4E5661"/>
                </a:solidFill>
                <a:latin typeface="Calibri"/>
              </a:rPr>
              <a:t>imp</a:t>
            </a:r>
          </a:p>
        </p:txBody>
      </p:sp>
      <p:sp>
        <p:nvSpPr>
          <p:cNvPr id="67" name="Freeform 66"/>
          <p:cNvSpPr/>
          <p:nvPr/>
        </p:nvSpPr>
        <p:spPr>
          <a:xfrm>
            <a:off x="6995160" y="3767113"/>
            <a:ext cx="4206240" cy="649653"/>
          </a:xfrm>
          <a:custGeom>
            <a:avLst/>
            <a:gdLst/>
            <a:ahLst/>
            <a:cxnLst/>
            <a:rect l="l" t="t" r="r" b="b"/>
            <a:pathLst>
              <a:path w="4206240" h="649653">
                <a:moveTo>
                  <a:pt x="0" y="649653"/>
                </a:moveTo>
                <a:lnTo>
                  <a:pt x="70104" y="649297"/>
                </a:lnTo>
                <a:lnTo>
                  <a:pt x="140208" y="648862"/>
                </a:lnTo>
                <a:lnTo>
                  <a:pt x="210312" y="648332"/>
                </a:lnTo>
                <a:lnTo>
                  <a:pt x="280416" y="647685"/>
                </a:lnTo>
                <a:lnTo>
                  <a:pt x="350520" y="646898"/>
                </a:lnTo>
                <a:lnTo>
                  <a:pt x="420623" y="645938"/>
                </a:lnTo>
                <a:lnTo>
                  <a:pt x="490728" y="644770"/>
                </a:lnTo>
                <a:lnTo>
                  <a:pt x="560832" y="643349"/>
                </a:lnTo>
                <a:lnTo>
                  <a:pt x="630936" y="641622"/>
                </a:lnTo>
                <a:lnTo>
                  <a:pt x="701040" y="639524"/>
                </a:lnTo>
                <a:lnTo>
                  <a:pt x="771144" y="636981"/>
                </a:lnTo>
                <a:lnTo>
                  <a:pt x="841248" y="633903"/>
                </a:lnTo>
                <a:lnTo>
                  <a:pt x="911352" y="630182"/>
                </a:lnTo>
                <a:lnTo>
                  <a:pt x="981455" y="625697"/>
                </a:lnTo>
                <a:lnTo>
                  <a:pt x="1051560" y="620304"/>
                </a:lnTo>
                <a:lnTo>
                  <a:pt x="1121664" y="613841"/>
                </a:lnTo>
                <a:lnTo>
                  <a:pt x="1191768" y="606128"/>
                </a:lnTo>
                <a:lnTo>
                  <a:pt x="1261872" y="596965"/>
                </a:lnTo>
                <a:lnTo>
                  <a:pt x="1331976" y="586142"/>
                </a:lnTo>
                <a:lnTo>
                  <a:pt x="1402080" y="573442"/>
                </a:lnTo>
                <a:lnTo>
                  <a:pt x="1472184" y="558655"/>
                </a:lnTo>
                <a:lnTo>
                  <a:pt x="1542288" y="541595"/>
                </a:lnTo>
                <a:lnTo>
                  <a:pt x="1612392" y="522117"/>
                </a:lnTo>
                <a:lnTo>
                  <a:pt x="1682496" y="500141"/>
                </a:lnTo>
                <a:lnTo>
                  <a:pt x="1752600" y="475680"/>
                </a:lnTo>
                <a:lnTo>
                  <a:pt x="1822704" y="448857"/>
                </a:lnTo>
                <a:lnTo>
                  <a:pt x="1892808" y="419923"/>
                </a:lnTo>
                <a:lnTo>
                  <a:pt x="1962912" y="389258"/>
                </a:lnTo>
                <a:lnTo>
                  <a:pt x="2033016" y="357362"/>
                </a:lnTo>
                <a:lnTo>
                  <a:pt x="2103120" y="324826"/>
                </a:lnTo>
                <a:lnTo>
                  <a:pt x="2173224" y="292291"/>
                </a:lnTo>
                <a:lnTo>
                  <a:pt x="2243328" y="260395"/>
                </a:lnTo>
                <a:lnTo>
                  <a:pt x="2313432" y="229730"/>
                </a:lnTo>
                <a:lnTo>
                  <a:pt x="2383536" y="200796"/>
                </a:lnTo>
                <a:lnTo>
                  <a:pt x="2453639" y="173973"/>
                </a:lnTo>
                <a:lnTo>
                  <a:pt x="2523744" y="149512"/>
                </a:lnTo>
                <a:lnTo>
                  <a:pt x="2593848" y="127536"/>
                </a:lnTo>
                <a:lnTo>
                  <a:pt x="2663952" y="108058"/>
                </a:lnTo>
                <a:lnTo>
                  <a:pt x="2734056" y="90998"/>
                </a:lnTo>
                <a:lnTo>
                  <a:pt x="2804160" y="76211"/>
                </a:lnTo>
                <a:lnTo>
                  <a:pt x="2874264" y="63511"/>
                </a:lnTo>
                <a:lnTo>
                  <a:pt x="2944368" y="52688"/>
                </a:lnTo>
                <a:lnTo>
                  <a:pt x="3014472" y="43525"/>
                </a:lnTo>
                <a:lnTo>
                  <a:pt x="3084576" y="35812"/>
                </a:lnTo>
                <a:lnTo>
                  <a:pt x="3154680" y="29349"/>
                </a:lnTo>
                <a:lnTo>
                  <a:pt x="3224784" y="23956"/>
                </a:lnTo>
                <a:lnTo>
                  <a:pt x="3294888" y="19471"/>
                </a:lnTo>
                <a:lnTo>
                  <a:pt x="3364992" y="15750"/>
                </a:lnTo>
                <a:lnTo>
                  <a:pt x="3435096" y="12672"/>
                </a:lnTo>
                <a:lnTo>
                  <a:pt x="3505200" y="10129"/>
                </a:lnTo>
                <a:lnTo>
                  <a:pt x="3575304" y="8031"/>
                </a:lnTo>
                <a:lnTo>
                  <a:pt x="3645408" y="6304"/>
                </a:lnTo>
                <a:lnTo>
                  <a:pt x="3715512" y="4883"/>
                </a:lnTo>
                <a:lnTo>
                  <a:pt x="3785616" y="3715"/>
                </a:lnTo>
                <a:lnTo>
                  <a:pt x="3855720" y="2755"/>
                </a:lnTo>
                <a:lnTo>
                  <a:pt x="3925824" y="1968"/>
                </a:lnTo>
                <a:lnTo>
                  <a:pt x="3995928" y="1321"/>
                </a:lnTo>
                <a:lnTo>
                  <a:pt x="4066032" y="791"/>
                </a:lnTo>
                <a:lnTo>
                  <a:pt x="4136136" y="356"/>
                </a:lnTo>
                <a:lnTo>
                  <a:pt x="4206240" y="0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68826" y="3784636"/>
            <a:ext cx="934720" cy="387255"/>
          </a:xfrm>
          <a:custGeom>
            <a:avLst/>
            <a:gdLst/>
            <a:ahLst/>
            <a:cxnLst/>
            <a:rect l="l" t="t" r="r" b="b"/>
            <a:pathLst>
              <a:path w="934720" h="387255">
                <a:moveTo>
                  <a:pt x="0" y="387255"/>
                </a:moveTo>
                <a:lnTo>
                  <a:pt x="15579" y="376946"/>
                </a:lnTo>
                <a:lnTo>
                  <a:pt x="31158" y="366489"/>
                </a:lnTo>
                <a:lnTo>
                  <a:pt x="46736" y="355906"/>
                </a:lnTo>
                <a:lnTo>
                  <a:pt x="62315" y="345216"/>
                </a:lnTo>
                <a:lnTo>
                  <a:pt x="77894" y="334444"/>
                </a:lnTo>
                <a:lnTo>
                  <a:pt x="93472" y="323612"/>
                </a:lnTo>
                <a:lnTo>
                  <a:pt x="109051" y="312744"/>
                </a:lnTo>
                <a:lnTo>
                  <a:pt x="124630" y="301863"/>
                </a:lnTo>
                <a:lnTo>
                  <a:pt x="140208" y="290995"/>
                </a:lnTo>
                <a:lnTo>
                  <a:pt x="155787" y="280163"/>
                </a:lnTo>
                <a:lnTo>
                  <a:pt x="171366" y="269391"/>
                </a:lnTo>
                <a:lnTo>
                  <a:pt x="186944" y="258701"/>
                </a:lnTo>
                <a:lnTo>
                  <a:pt x="202523" y="248118"/>
                </a:lnTo>
                <a:lnTo>
                  <a:pt x="218102" y="237661"/>
                </a:lnTo>
                <a:lnTo>
                  <a:pt x="233680" y="227352"/>
                </a:lnTo>
                <a:lnTo>
                  <a:pt x="249259" y="217210"/>
                </a:lnTo>
                <a:lnTo>
                  <a:pt x="264838" y="207253"/>
                </a:lnTo>
                <a:lnTo>
                  <a:pt x="280416" y="197497"/>
                </a:lnTo>
                <a:lnTo>
                  <a:pt x="295995" y="187957"/>
                </a:lnTo>
                <a:lnTo>
                  <a:pt x="311574" y="178647"/>
                </a:lnTo>
                <a:lnTo>
                  <a:pt x="327152" y="169578"/>
                </a:lnTo>
                <a:lnTo>
                  <a:pt x="342731" y="160761"/>
                </a:lnTo>
                <a:lnTo>
                  <a:pt x="358310" y="152204"/>
                </a:lnTo>
                <a:lnTo>
                  <a:pt x="373888" y="143913"/>
                </a:lnTo>
                <a:lnTo>
                  <a:pt x="389467" y="135895"/>
                </a:lnTo>
                <a:lnTo>
                  <a:pt x="405046" y="128152"/>
                </a:lnTo>
                <a:lnTo>
                  <a:pt x="420624" y="120687"/>
                </a:lnTo>
                <a:lnTo>
                  <a:pt x="436203" y="113501"/>
                </a:lnTo>
                <a:lnTo>
                  <a:pt x="451782" y="106595"/>
                </a:lnTo>
                <a:lnTo>
                  <a:pt x="467360" y="99965"/>
                </a:lnTo>
                <a:lnTo>
                  <a:pt x="482939" y="93610"/>
                </a:lnTo>
                <a:lnTo>
                  <a:pt x="498518" y="87527"/>
                </a:lnTo>
                <a:lnTo>
                  <a:pt x="514096" y="81710"/>
                </a:lnTo>
                <a:lnTo>
                  <a:pt x="529675" y="76156"/>
                </a:lnTo>
                <a:lnTo>
                  <a:pt x="545254" y="70857"/>
                </a:lnTo>
                <a:lnTo>
                  <a:pt x="560832" y="65808"/>
                </a:lnTo>
                <a:lnTo>
                  <a:pt x="576411" y="61002"/>
                </a:lnTo>
                <a:lnTo>
                  <a:pt x="591990" y="56432"/>
                </a:lnTo>
                <a:lnTo>
                  <a:pt x="607568" y="52090"/>
                </a:lnTo>
                <a:lnTo>
                  <a:pt x="623147" y="47968"/>
                </a:lnTo>
                <a:lnTo>
                  <a:pt x="638726" y="44060"/>
                </a:lnTo>
                <a:lnTo>
                  <a:pt x="654304" y="40355"/>
                </a:lnTo>
                <a:lnTo>
                  <a:pt x="669883" y="36847"/>
                </a:lnTo>
                <a:lnTo>
                  <a:pt x="685462" y="33528"/>
                </a:lnTo>
                <a:lnTo>
                  <a:pt x="701040" y="30389"/>
                </a:lnTo>
                <a:lnTo>
                  <a:pt x="716619" y="27423"/>
                </a:lnTo>
                <a:lnTo>
                  <a:pt x="732198" y="24621"/>
                </a:lnTo>
                <a:lnTo>
                  <a:pt x="747776" y="21977"/>
                </a:lnTo>
                <a:lnTo>
                  <a:pt x="763355" y="19482"/>
                </a:lnTo>
                <a:lnTo>
                  <a:pt x="778934" y="17130"/>
                </a:lnTo>
                <a:lnTo>
                  <a:pt x="794512" y="14913"/>
                </a:lnTo>
                <a:lnTo>
                  <a:pt x="810091" y="12824"/>
                </a:lnTo>
                <a:lnTo>
                  <a:pt x="825670" y="10858"/>
                </a:lnTo>
                <a:lnTo>
                  <a:pt x="841248" y="9007"/>
                </a:lnTo>
                <a:lnTo>
                  <a:pt x="856827" y="7265"/>
                </a:lnTo>
                <a:lnTo>
                  <a:pt x="872406" y="5627"/>
                </a:lnTo>
                <a:lnTo>
                  <a:pt x="887984" y="4086"/>
                </a:lnTo>
                <a:lnTo>
                  <a:pt x="903563" y="2639"/>
                </a:lnTo>
                <a:lnTo>
                  <a:pt x="919142" y="1278"/>
                </a:lnTo>
                <a:lnTo>
                  <a:pt x="934720" y="0"/>
                </a:lnTo>
              </a:path>
            </a:pathLst>
          </a:custGeom>
          <a:noFill/>
          <a:ln w="19050">
            <a:solidFill>
              <a:srgbClr val="B832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60" y="4507992"/>
            <a:ext cx="4206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 = p(impurity) / p(H₂), log scale</a:t>
            </a:r>
          </a:p>
        </p:txBody>
      </p:sp>
      <p:sp>
        <p:nvSpPr>
          <p:cNvPr id="70" name="Oval 69"/>
          <p:cNvSpPr/>
          <p:nvPr/>
        </p:nvSpPr>
        <p:spPr>
          <a:xfrm>
            <a:off x="6400800" y="4809744"/>
            <a:ext cx="219456" cy="219456"/>
          </a:xfrm>
          <a:prstGeom prst="ellipse">
            <a:avLst/>
          </a:prstGeom>
          <a:noFill/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4782312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two steady states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138160" y="4919472"/>
            <a:ext cx="365760" cy="0"/>
          </a:xfrm>
          <a:prstGeom prst="line">
            <a:avLst/>
          </a:prstGeom>
          <a:ln w="19050">
            <a:solidFill>
              <a:srgbClr val="B8324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558784" y="47823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start B</a:t>
            </a:r>
          </a:p>
        </p:txBody>
      </p:sp>
      <p:sp>
        <p:nvSpPr>
          <p:cNvPr id="74" name="Diamond 73"/>
          <p:cNvSpPr/>
          <p:nvPr/>
        </p:nvSpPr>
        <p:spPr>
          <a:xfrm>
            <a:off x="9427464" y="4837176"/>
            <a:ext cx="164592" cy="164592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56064" y="478231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</a:t>
            </a:r>
            <a:r>
              <a:rPr sz="1200" b="0" i="0" baseline="-25000">
                <a:solidFill>
                  <a:srgbClr val="4E5661"/>
                </a:solidFill>
                <a:latin typeface="Calibri"/>
              </a:rPr>
              <a:t>½</a:t>
            </a:r>
            <a:r>
              <a:rPr sz="1200" b="0" i="0">
                <a:solidFill>
                  <a:srgbClr val="4E5661"/>
                </a:solidFill>
                <a:latin typeface="Calibri"/>
              </a:rPr>
              <a:t> (Π = 0.5)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093208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poisoning_curves_vs_T.png, _vs_P_1.png, _vs_P_2.png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Hold H₂ at the point’s pressure; add one impurity at level r.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12 levels, 10⁻⁶ to 0.25, from both starts.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Divide by the H₂-only rate at that point: Π(r).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off r½, the level that halves the rate.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38436" y="100584"/>
            <a:ext cx="22503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curves.py:143–191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Site blocking: is the poisoning only lost sites?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At one point (650 K and 1 bar by default), for each impurity that lowers the rate or takes sites.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(a) sites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440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603504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r, log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(b) site-count factor 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0916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0916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9" name="TextBox 18"/>
          <p:cNvSpPr txBox="1"/>
          <p:nvPr/>
        </p:nvSpPr>
        <p:spPr>
          <a:xfrm>
            <a:off x="470916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r, log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(c) poisoning factor 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50392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016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25" name="TextBox 24"/>
          <p:cNvSpPr txBox="1"/>
          <p:nvPr/>
        </p:nvSpPr>
        <p:spPr>
          <a:xfrm>
            <a:off x="850392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r, log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1463040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</a:t>
            </a:r>
          </a:p>
        </p:txBody>
      </p:sp>
      <p:sp>
        <p:nvSpPr>
          <p:cNvPr id="27" name="Freeform 26"/>
          <p:cNvSpPr/>
          <p:nvPr/>
        </p:nvSpPr>
        <p:spPr>
          <a:xfrm>
            <a:off x="914400" y="2225816"/>
            <a:ext cx="2971800" cy="1164317"/>
          </a:xfrm>
          <a:custGeom>
            <a:avLst/>
            <a:gdLst/>
            <a:ahLst/>
            <a:cxnLst/>
            <a:rect l="l" t="t" r="r" b="b"/>
            <a:pathLst>
              <a:path w="2971800" h="1164317">
                <a:moveTo>
                  <a:pt x="0" y="0"/>
                </a:moveTo>
                <a:lnTo>
                  <a:pt x="49529" y="572"/>
                </a:lnTo>
                <a:lnTo>
                  <a:pt x="99059" y="1256"/>
                </a:lnTo>
                <a:lnTo>
                  <a:pt x="148590" y="2074"/>
                </a:lnTo>
                <a:lnTo>
                  <a:pt x="198120" y="3052"/>
                </a:lnTo>
                <a:lnTo>
                  <a:pt x="247650" y="4221"/>
                </a:lnTo>
                <a:lnTo>
                  <a:pt x="297180" y="5618"/>
                </a:lnTo>
                <a:lnTo>
                  <a:pt x="346709" y="7285"/>
                </a:lnTo>
                <a:lnTo>
                  <a:pt x="396239" y="9275"/>
                </a:lnTo>
                <a:lnTo>
                  <a:pt x="445770" y="11648"/>
                </a:lnTo>
                <a:lnTo>
                  <a:pt x="495300" y="14476"/>
                </a:lnTo>
                <a:lnTo>
                  <a:pt x="544830" y="17845"/>
                </a:lnTo>
                <a:lnTo>
                  <a:pt x="594360" y="21852"/>
                </a:lnTo>
                <a:lnTo>
                  <a:pt x="643890" y="26613"/>
                </a:lnTo>
                <a:lnTo>
                  <a:pt x="693419" y="32262"/>
                </a:lnTo>
                <a:lnTo>
                  <a:pt x="742949" y="38951"/>
                </a:lnTo>
                <a:lnTo>
                  <a:pt x="792480" y="46858"/>
                </a:lnTo>
                <a:lnTo>
                  <a:pt x="842010" y="56180"/>
                </a:lnTo>
                <a:lnTo>
                  <a:pt x="891540" y="67140"/>
                </a:lnTo>
                <a:lnTo>
                  <a:pt x="941070" y="79982"/>
                </a:lnTo>
                <a:lnTo>
                  <a:pt x="990599" y="94970"/>
                </a:lnTo>
                <a:lnTo>
                  <a:pt x="1040130" y="112383"/>
                </a:lnTo>
                <a:lnTo>
                  <a:pt x="1089660" y="132504"/>
                </a:lnTo>
                <a:lnTo>
                  <a:pt x="1139189" y="155613"/>
                </a:lnTo>
                <a:lnTo>
                  <a:pt x="1188720" y="181965"/>
                </a:lnTo>
                <a:lnTo>
                  <a:pt x="1238250" y="211774"/>
                </a:lnTo>
                <a:lnTo>
                  <a:pt x="1287780" y="245188"/>
                </a:lnTo>
                <a:lnTo>
                  <a:pt x="1337310" y="282260"/>
                </a:lnTo>
                <a:lnTo>
                  <a:pt x="1386840" y="322929"/>
                </a:lnTo>
                <a:lnTo>
                  <a:pt x="1436370" y="366992"/>
                </a:lnTo>
                <a:lnTo>
                  <a:pt x="1485900" y="414093"/>
                </a:lnTo>
                <a:lnTo>
                  <a:pt x="1535430" y="463724"/>
                </a:lnTo>
                <a:lnTo>
                  <a:pt x="1584960" y="515233"/>
                </a:lnTo>
                <a:lnTo>
                  <a:pt x="1634489" y="567859"/>
                </a:lnTo>
                <a:lnTo>
                  <a:pt x="1684020" y="620769"/>
                </a:lnTo>
                <a:lnTo>
                  <a:pt x="1733549" y="673113"/>
                </a:lnTo>
                <a:lnTo>
                  <a:pt x="1783080" y="724076"/>
                </a:lnTo>
                <a:lnTo>
                  <a:pt x="1832610" y="772929"/>
                </a:lnTo>
                <a:lnTo>
                  <a:pt x="1882140" y="819067"/>
                </a:lnTo>
                <a:lnTo>
                  <a:pt x="1931670" y="862030"/>
                </a:lnTo>
                <a:lnTo>
                  <a:pt x="1981200" y="901515"/>
                </a:lnTo>
                <a:lnTo>
                  <a:pt x="2030730" y="937369"/>
                </a:lnTo>
                <a:lnTo>
                  <a:pt x="2080260" y="969570"/>
                </a:lnTo>
                <a:lnTo>
                  <a:pt x="2129790" y="998206"/>
                </a:lnTo>
                <a:lnTo>
                  <a:pt x="2179320" y="1023451"/>
                </a:lnTo>
                <a:lnTo>
                  <a:pt x="2228850" y="1045534"/>
                </a:lnTo>
                <a:lnTo>
                  <a:pt x="2278379" y="1064721"/>
                </a:lnTo>
                <a:lnTo>
                  <a:pt x="2327910" y="1081294"/>
                </a:lnTo>
                <a:lnTo>
                  <a:pt x="2377440" y="1095536"/>
                </a:lnTo>
                <a:lnTo>
                  <a:pt x="2426969" y="1107722"/>
                </a:lnTo>
                <a:lnTo>
                  <a:pt x="2476499" y="1118110"/>
                </a:lnTo>
                <a:lnTo>
                  <a:pt x="2526030" y="1126937"/>
                </a:lnTo>
                <a:lnTo>
                  <a:pt x="2575560" y="1134417"/>
                </a:lnTo>
                <a:lnTo>
                  <a:pt x="2625090" y="1140742"/>
                </a:lnTo>
                <a:lnTo>
                  <a:pt x="2674620" y="1146078"/>
                </a:lnTo>
                <a:lnTo>
                  <a:pt x="2724150" y="1150574"/>
                </a:lnTo>
                <a:lnTo>
                  <a:pt x="2773680" y="1154356"/>
                </a:lnTo>
                <a:lnTo>
                  <a:pt x="2823210" y="1157535"/>
                </a:lnTo>
                <a:lnTo>
                  <a:pt x="2872740" y="1160203"/>
                </a:lnTo>
                <a:lnTo>
                  <a:pt x="2922269" y="1162441"/>
                </a:lnTo>
                <a:lnTo>
                  <a:pt x="2971800" y="1164317"/>
                </a:lnTo>
              </a:path>
            </a:pathLst>
          </a:custGeom>
          <a:noFill/>
          <a:ln w="25400">
            <a:solidFill>
              <a:srgbClr val="4E56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14400" y="2142725"/>
            <a:ext cx="2971800" cy="1253880"/>
          </a:xfrm>
          <a:custGeom>
            <a:avLst/>
            <a:gdLst/>
            <a:ahLst/>
            <a:cxnLst/>
            <a:rect l="l" t="t" r="r" b="b"/>
            <a:pathLst>
              <a:path w="2971800" h="1253880">
                <a:moveTo>
                  <a:pt x="0" y="1253880"/>
                </a:moveTo>
                <a:lnTo>
                  <a:pt x="49529" y="1253264"/>
                </a:lnTo>
                <a:lnTo>
                  <a:pt x="99059" y="1252527"/>
                </a:lnTo>
                <a:lnTo>
                  <a:pt x="148590" y="1251646"/>
                </a:lnTo>
                <a:lnTo>
                  <a:pt x="198120" y="1250592"/>
                </a:lnTo>
                <a:lnTo>
                  <a:pt x="247650" y="1249334"/>
                </a:lnTo>
                <a:lnTo>
                  <a:pt x="297180" y="1247830"/>
                </a:lnTo>
                <a:lnTo>
                  <a:pt x="346709" y="1246035"/>
                </a:lnTo>
                <a:lnTo>
                  <a:pt x="396239" y="1243892"/>
                </a:lnTo>
                <a:lnTo>
                  <a:pt x="445770" y="1241336"/>
                </a:lnTo>
                <a:lnTo>
                  <a:pt x="495300" y="1238290"/>
                </a:lnTo>
                <a:lnTo>
                  <a:pt x="544830" y="1234662"/>
                </a:lnTo>
                <a:lnTo>
                  <a:pt x="594360" y="1230347"/>
                </a:lnTo>
                <a:lnTo>
                  <a:pt x="643890" y="1225220"/>
                </a:lnTo>
                <a:lnTo>
                  <a:pt x="693419" y="1219137"/>
                </a:lnTo>
                <a:lnTo>
                  <a:pt x="742949" y="1211932"/>
                </a:lnTo>
                <a:lnTo>
                  <a:pt x="792480" y="1203417"/>
                </a:lnTo>
                <a:lnTo>
                  <a:pt x="842010" y="1193378"/>
                </a:lnTo>
                <a:lnTo>
                  <a:pt x="891540" y="1181575"/>
                </a:lnTo>
                <a:lnTo>
                  <a:pt x="941070" y="1167745"/>
                </a:lnTo>
                <a:lnTo>
                  <a:pt x="990599" y="1151604"/>
                </a:lnTo>
                <a:lnTo>
                  <a:pt x="1040130" y="1132852"/>
                </a:lnTo>
                <a:lnTo>
                  <a:pt x="1089660" y="1111183"/>
                </a:lnTo>
                <a:lnTo>
                  <a:pt x="1139189" y="1086297"/>
                </a:lnTo>
                <a:lnTo>
                  <a:pt x="1188720" y="1057917"/>
                </a:lnTo>
                <a:lnTo>
                  <a:pt x="1238250" y="1025815"/>
                </a:lnTo>
                <a:lnTo>
                  <a:pt x="1287780" y="989831"/>
                </a:lnTo>
                <a:lnTo>
                  <a:pt x="1337310" y="949907"/>
                </a:lnTo>
                <a:lnTo>
                  <a:pt x="1386840" y="906110"/>
                </a:lnTo>
                <a:lnTo>
                  <a:pt x="1436370" y="858658"/>
                </a:lnTo>
                <a:lnTo>
                  <a:pt x="1485900" y="807933"/>
                </a:lnTo>
                <a:lnTo>
                  <a:pt x="1535430" y="754485"/>
                </a:lnTo>
                <a:lnTo>
                  <a:pt x="1584960" y="699013"/>
                </a:lnTo>
                <a:lnTo>
                  <a:pt x="1634489" y="642339"/>
                </a:lnTo>
                <a:lnTo>
                  <a:pt x="1684020" y="585359"/>
                </a:lnTo>
                <a:lnTo>
                  <a:pt x="1733549" y="528989"/>
                </a:lnTo>
                <a:lnTo>
                  <a:pt x="1783080" y="474106"/>
                </a:lnTo>
                <a:lnTo>
                  <a:pt x="1832610" y="421495"/>
                </a:lnTo>
                <a:lnTo>
                  <a:pt x="1882140" y="371808"/>
                </a:lnTo>
                <a:lnTo>
                  <a:pt x="1931670" y="325540"/>
                </a:lnTo>
                <a:lnTo>
                  <a:pt x="1981200" y="283017"/>
                </a:lnTo>
                <a:lnTo>
                  <a:pt x="2030730" y="244406"/>
                </a:lnTo>
                <a:lnTo>
                  <a:pt x="2080260" y="209728"/>
                </a:lnTo>
                <a:lnTo>
                  <a:pt x="2129790" y="178888"/>
                </a:lnTo>
                <a:lnTo>
                  <a:pt x="2179320" y="151702"/>
                </a:lnTo>
                <a:lnTo>
                  <a:pt x="2228850" y="127920"/>
                </a:lnTo>
                <a:lnTo>
                  <a:pt x="2278379" y="107257"/>
                </a:lnTo>
                <a:lnTo>
                  <a:pt x="2327910" y="89410"/>
                </a:lnTo>
                <a:lnTo>
                  <a:pt x="2377440" y="74072"/>
                </a:lnTo>
                <a:lnTo>
                  <a:pt x="2426969" y="60948"/>
                </a:lnTo>
                <a:lnTo>
                  <a:pt x="2476499" y="49761"/>
                </a:lnTo>
                <a:lnTo>
                  <a:pt x="2526030" y="40255"/>
                </a:lnTo>
                <a:lnTo>
                  <a:pt x="2575560" y="32200"/>
                </a:lnTo>
                <a:lnTo>
                  <a:pt x="2625090" y="25389"/>
                </a:lnTo>
                <a:lnTo>
                  <a:pt x="2674620" y="19642"/>
                </a:lnTo>
                <a:lnTo>
                  <a:pt x="2724150" y="14800"/>
                </a:lnTo>
                <a:lnTo>
                  <a:pt x="2773680" y="10727"/>
                </a:lnTo>
                <a:lnTo>
                  <a:pt x="2823210" y="7304"/>
                </a:lnTo>
                <a:lnTo>
                  <a:pt x="2872740" y="4431"/>
                </a:lnTo>
                <a:lnTo>
                  <a:pt x="2922269" y="2020"/>
                </a:lnTo>
                <a:lnTo>
                  <a:pt x="2971800" y="0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14400" y="3931920"/>
            <a:ext cx="365760" cy="0"/>
          </a:xfrm>
          <a:prstGeom prst="line">
            <a:avLst/>
          </a:prstGeom>
          <a:ln w="25400">
            <a:solidFill>
              <a:srgbClr val="4E5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44168" y="379476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empty sites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95728" y="3931920"/>
            <a:ext cx="365760" cy="0"/>
          </a:xfrm>
          <a:prstGeom prst="line">
            <a:avLst/>
          </a:prstGeom>
          <a:ln w="25400">
            <a:solidFill>
              <a:srgbClr val="B83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25496" y="3794760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impurity-held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09160" y="3067812"/>
            <a:ext cx="297180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82312" y="310438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f of H₂ alone</a:t>
            </a:r>
          </a:p>
        </p:txBody>
      </p:sp>
      <p:sp>
        <p:nvSpPr>
          <p:cNvPr id="35" name="Freeform 34"/>
          <p:cNvSpPr/>
          <p:nvPr/>
        </p:nvSpPr>
        <p:spPr>
          <a:xfrm>
            <a:off x="4709160" y="2319589"/>
            <a:ext cx="2971800" cy="746357"/>
          </a:xfrm>
          <a:custGeom>
            <a:avLst/>
            <a:gdLst/>
            <a:ahLst/>
            <a:cxnLst/>
            <a:rect l="l" t="t" r="r" b="b"/>
            <a:pathLst>
              <a:path w="2971800" h="746357">
                <a:moveTo>
                  <a:pt x="0" y="746357"/>
                </a:moveTo>
                <a:lnTo>
                  <a:pt x="49530" y="745990"/>
                </a:lnTo>
                <a:lnTo>
                  <a:pt x="99060" y="745552"/>
                </a:lnTo>
                <a:lnTo>
                  <a:pt x="148590" y="745027"/>
                </a:lnTo>
                <a:lnTo>
                  <a:pt x="198120" y="744400"/>
                </a:lnTo>
                <a:lnTo>
                  <a:pt x="247650" y="743651"/>
                </a:lnTo>
                <a:lnTo>
                  <a:pt x="297180" y="742756"/>
                </a:lnTo>
                <a:lnTo>
                  <a:pt x="346710" y="741687"/>
                </a:lnTo>
                <a:lnTo>
                  <a:pt x="396240" y="740412"/>
                </a:lnTo>
                <a:lnTo>
                  <a:pt x="445770" y="738891"/>
                </a:lnTo>
                <a:lnTo>
                  <a:pt x="495300" y="737077"/>
                </a:lnTo>
                <a:lnTo>
                  <a:pt x="544830" y="734918"/>
                </a:lnTo>
                <a:lnTo>
                  <a:pt x="594360" y="732349"/>
                </a:lnTo>
                <a:lnTo>
                  <a:pt x="643890" y="729297"/>
                </a:lnTo>
                <a:lnTo>
                  <a:pt x="693420" y="725677"/>
                </a:lnTo>
                <a:lnTo>
                  <a:pt x="742950" y="721388"/>
                </a:lnTo>
                <a:lnTo>
                  <a:pt x="792480" y="716320"/>
                </a:lnTo>
                <a:lnTo>
                  <a:pt x="842010" y="710344"/>
                </a:lnTo>
                <a:lnTo>
                  <a:pt x="891540" y="703319"/>
                </a:lnTo>
                <a:lnTo>
                  <a:pt x="941070" y="695086"/>
                </a:lnTo>
                <a:lnTo>
                  <a:pt x="990600" y="685479"/>
                </a:lnTo>
                <a:lnTo>
                  <a:pt x="1040130" y="674317"/>
                </a:lnTo>
                <a:lnTo>
                  <a:pt x="1089660" y="661418"/>
                </a:lnTo>
                <a:lnTo>
                  <a:pt x="1139190" y="646605"/>
                </a:lnTo>
                <a:lnTo>
                  <a:pt x="1188720" y="629713"/>
                </a:lnTo>
                <a:lnTo>
                  <a:pt x="1238250" y="610604"/>
                </a:lnTo>
                <a:lnTo>
                  <a:pt x="1287780" y="589185"/>
                </a:lnTo>
                <a:lnTo>
                  <a:pt x="1337310" y="565421"/>
                </a:lnTo>
                <a:lnTo>
                  <a:pt x="1386840" y="539351"/>
                </a:lnTo>
                <a:lnTo>
                  <a:pt x="1436370" y="511106"/>
                </a:lnTo>
                <a:lnTo>
                  <a:pt x="1485900" y="480913"/>
                </a:lnTo>
                <a:lnTo>
                  <a:pt x="1535430" y="449098"/>
                </a:lnTo>
                <a:lnTo>
                  <a:pt x="1584960" y="416079"/>
                </a:lnTo>
                <a:lnTo>
                  <a:pt x="1634490" y="382345"/>
                </a:lnTo>
                <a:lnTo>
                  <a:pt x="1684020" y="348428"/>
                </a:lnTo>
                <a:lnTo>
                  <a:pt x="1733550" y="314875"/>
                </a:lnTo>
                <a:lnTo>
                  <a:pt x="1783080" y="282206"/>
                </a:lnTo>
                <a:lnTo>
                  <a:pt x="1832610" y="250890"/>
                </a:lnTo>
                <a:lnTo>
                  <a:pt x="1882140" y="221314"/>
                </a:lnTo>
                <a:lnTo>
                  <a:pt x="1931670" y="193774"/>
                </a:lnTo>
                <a:lnTo>
                  <a:pt x="1981200" y="168463"/>
                </a:lnTo>
                <a:lnTo>
                  <a:pt x="2030730" y="145480"/>
                </a:lnTo>
                <a:lnTo>
                  <a:pt x="2080260" y="124838"/>
                </a:lnTo>
                <a:lnTo>
                  <a:pt x="2129790" y="106481"/>
                </a:lnTo>
                <a:lnTo>
                  <a:pt x="2179320" y="90299"/>
                </a:lnTo>
                <a:lnTo>
                  <a:pt x="2228850" y="76143"/>
                </a:lnTo>
                <a:lnTo>
                  <a:pt x="2278380" y="63844"/>
                </a:lnTo>
                <a:lnTo>
                  <a:pt x="2327910" y="53220"/>
                </a:lnTo>
                <a:lnTo>
                  <a:pt x="2377440" y="44090"/>
                </a:lnTo>
                <a:lnTo>
                  <a:pt x="2426970" y="36279"/>
                </a:lnTo>
                <a:lnTo>
                  <a:pt x="2476500" y="29620"/>
                </a:lnTo>
                <a:lnTo>
                  <a:pt x="2526030" y="23961"/>
                </a:lnTo>
                <a:lnTo>
                  <a:pt x="2575560" y="19166"/>
                </a:lnTo>
                <a:lnTo>
                  <a:pt x="2625090" y="15112"/>
                </a:lnTo>
                <a:lnTo>
                  <a:pt x="2674620" y="11692"/>
                </a:lnTo>
                <a:lnTo>
                  <a:pt x="2724150" y="8810"/>
                </a:lnTo>
                <a:lnTo>
                  <a:pt x="2773680" y="6385"/>
                </a:lnTo>
                <a:lnTo>
                  <a:pt x="2823210" y="4348"/>
                </a:lnTo>
                <a:lnTo>
                  <a:pt x="2872740" y="2637"/>
                </a:lnTo>
                <a:lnTo>
                  <a:pt x="2922270" y="1203"/>
                </a:lnTo>
                <a:lnTo>
                  <a:pt x="2971800" y="0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503920" y="2163086"/>
            <a:ext cx="2971800" cy="1248509"/>
          </a:xfrm>
          <a:custGeom>
            <a:avLst/>
            <a:gdLst/>
            <a:ahLst/>
            <a:cxnLst/>
            <a:rect l="l" t="t" r="r" b="b"/>
            <a:pathLst>
              <a:path w="2971800" h="1248509">
                <a:moveTo>
                  <a:pt x="0" y="0"/>
                </a:moveTo>
                <a:lnTo>
                  <a:pt x="49530" y="118"/>
                </a:lnTo>
                <a:lnTo>
                  <a:pt x="99060" y="261"/>
                </a:lnTo>
                <a:lnTo>
                  <a:pt x="148590" y="436"/>
                </a:lnTo>
                <a:lnTo>
                  <a:pt x="198120" y="650"/>
                </a:lnTo>
                <a:lnTo>
                  <a:pt x="247650" y="911"/>
                </a:lnTo>
                <a:lnTo>
                  <a:pt x="297180" y="1230"/>
                </a:lnTo>
                <a:lnTo>
                  <a:pt x="346710" y="1619"/>
                </a:lnTo>
                <a:lnTo>
                  <a:pt x="396240" y="2094"/>
                </a:lnTo>
                <a:lnTo>
                  <a:pt x="445770" y="2673"/>
                </a:lnTo>
                <a:lnTo>
                  <a:pt x="495300" y="3381"/>
                </a:lnTo>
                <a:lnTo>
                  <a:pt x="544830" y="4243"/>
                </a:lnTo>
                <a:lnTo>
                  <a:pt x="594360" y="5295"/>
                </a:lnTo>
                <a:lnTo>
                  <a:pt x="643890" y="6578"/>
                </a:lnTo>
                <a:lnTo>
                  <a:pt x="693420" y="8141"/>
                </a:lnTo>
                <a:lnTo>
                  <a:pt x="742950" y="10045"/>
                </a:lnTo>
                <a:lnTo>
                  <a:pt x="792480" y="12363"/>
                </a:lnTo>
                <a:lnTo>
                  <a:pt x="842010" y="15182"/>
                </a:lnTo>
                <a:lnTo>
                  <a:pt x="891540" y="18608"/>
                </a:lnTo>
                <a:lnTo>
                  <a:pt x="941070" y="22767"/>
                </a:lnTo>
                <a:lnTo>
                  <a:pt x="990600" y="27810"/>
                </a:lnTo>
                <a:lnTo>
                  <a:pt x="1040130" y="33914"/>
                </a:lnTo>
                <a:lnTo>
                  <a:pt x="1089660" y="41289"/>
                </a:lnTo>
                <a:lnTo>
                  <a:pt x="1139190" y="50177"/>
                </a:lnTo>
                <a:lnTo>
                  <a:pt x="1188720" y="60860"/>
                </a:lnTo>
                <a:lnTo>
                  <a:pt x="1238250" y="73657"/>
                </a:lnTo>
                <a:lnTo>
                  <a:pt x="1287780" y="88923"/>
                </a:lnTo>
                <a:lnTo>
                  <a:pt x="1337310" y="107047"/>
                </a:lnTo>
                <a:lnTo>
                  <a:pt x="1386840" y="128441"/>
                </a:lnTo>
                <a:lnTo>
                  <a:pt x="1436370" y="153524"/>
                </a:lnTo>
                <a:lnTo>
                  <a:pt x="1485900" y="182701"/>
                </a:lnTo>
                <a:lnTo>
                  <a:pt x="1535430" y="216328"/>
                </a:lnTo>
                <a:lnTo>
                  <a:pt x="1584960" y="254673"/>
                </a:lnTo>
                <a:lnTo>
                  <a:pt x="1634490" y="297872"/>
                </a:lnTo>
                <a:lnTo>
                  <a:pt x="1684020" y="345880"/>
                </a:lnTo>
                <a:lnTo>
                  <a:pt x="1733550" y="398433"/>
                </a:lnTo>
                <a:lnTo>
                  <a:pt x="1783080" y="455014"/>
                </a:lnTo>
                <a:lnTo>
                  <a:pt x="1832610" y="514857"/>
                </a:lnTo>
                <a:lnTo>
                  <a:pt x="1882140" y="576970"/>
                </a:lnTo>
                <a:lnTo>
                  <a:pt x="1931670" y="640189"/>
                </a:lnTo>
                <a:lnTo>
                  <a:pt x="1981200" y="703269"/>
                </a:lnTo>
                <a:lnTo>
                  <a:pt x="2030730" y="764973"/>
                </a:lnTo>
                <a:lnTo>
                  <a:pt x="2080260" y="824170"/>
                </a:lnTo>
                <a:lnTo>
                  <a:pt x="2129790" y="879913"/>
                </a:lnTo>
                <a:lnTo>
                  <a:pt x="2179320" y="931492"/>
                </a:lnTo>
                <a:lnTo>
                  <a:pt x="2228850" y="978446"/>
                </a:lnTo>
                <a:lnTo>
                  <a:pt x="2278380" y="1020563"/>
                </a:lnTo>
                <a:lnTo>
                  <a:pt x="2327910" y="1057842"/>
                </a:lnTo>
                <a:lnTo>
                  <a:pt x="2377440" y="1090453"/>
                </a:lnTo>
                <a:lnTo>
                  <a:pt x="2426970" y="1118687"/>
                </a:lnTo>
                <a:lnTo>
                  <a:pt x="2476500" y="1142915"/>
                </a:lnTo>
                <a:lnTo>
                  <a:pt x="2526030" y="1163546"/>
                </a:lnTo>
                <a:lnTo>
                  <a:pt x="2575560" y="1181000"/>
                </a:lnTo>
                <a:lnTo>
                  <a:pt x="2625090" y="1195685"/>
                </a:lnTo>
                <a:lnTo>
                  <a:pt x="2674620" y="1207982"/>
                </a:lnTo>
                <a:lnTo>
                  <a:pt x="2724150" y="1218240"/>
                </a:lnTo>
                <a:lnTo>
                  <a:pt x="2773680" y="1226769"/>
                </a:lnTo>
                <a:lnTo>
                  <a:pt x="2823210" y="1233841"/>
                </a:lnTo>
                <a:lnTo>
                  <a:pt x="2872740" y="1239693"/>
                </a:lnTo>
                <a:lnTo>
                  <a:pt x="2922270" y="1244525"/>
                </a:lnTo>
                <a:lnTo>
                  <a:pt x="2971800" y="1248509"/>
                </a:lnTo>
              </a:path>
            </a:pathLst>
          </a:custGeom>
          <a:noFill/>
          <a:ln w="19050">
            <a:solidFill>
              <a:srgbClr val="B832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503920" y="2164166"/>
            <a:ext cx="2971800" cy="1259659"/>
          </a:xfrm>
          <a:custGeom>
            <a:avLst/>
            <a:gdLst/>
            <a:ahLst/>
            <a:cxnLst/>
            <a:rect l="l" t="t" r="r" b="b"/>
            <a:pathLst>
              <a:path w="2971800" h="1259659">
                <a:moveTo>
                  <a:pt x="0" y="0"/>
                </a:moveTo>
                <a:lnTo>
                  <a:pt x="49530" y="356"/>
                </a:lnTo>
                <a:lnTo>
                  <a:pt x="99060" y="791"/>
                </a:lnTo>
                <a:lnTo>
                  <a:pt x="148590" y="1322"/>
                </a:lnTo>
                <a:lnTo>
                  <a:pt x="198120" y="1969"/>
                </a:lnTo>
                <a:lnTo>
                  <a:pt x="247650" y="2759"/>
                </a:lnTo>
                <a:lnTo>
                  <a:pt x="297180" y="3722"/>
                </a:lnTo>
                <a:lnTo>
                  <a:pt x="346710" y="4896"/>
                </a:lnTo>
                <a:lnTo>
                  <a:pt x="396240" y="6328"/>
                </a:lnTo>
                <a:lnTo>
                  <a:pt x="445770" y="8072"/>
                </a:lnTo>
                <a:lnTo>
                  <a:pt x="495300" y="10196"/>
                </a:lnTo>
                <a:lnTo>
                  <a:pt x="544830" y="12781"/>
                </a:lnTo>
                <a:lnTo>
                  <a:pt x="594360" y="15923"/>
                </a:lnTo>
                <a:lnTo>
                  <a:pt x="643890" y="19739"/>
                </a:lnTo>
                <a:lnTo>
                  <a:pt x="693420" y="24369"/>
                </a:lnTo>
                <a:lnTo>
                  <a:pt x="742950" y="29978"/>
                </a:lnTo>
                <a:lnTo>
                  <a:pt x="792480" y="36760"/>
                </a:lnTo>
                <a:lnTo>
                  <a:pt x="842010" y="44943"/>
                </a:lnTo>
                <a:lnTo>
                  <a:pt x="891540" y="54791"/>
                </a:lnTo>
                <a:lnTo>
                  <a:pt x="941070" y="66607"/>
                </a:lnTo>
                <a:lnTo>
                  <a:pt x="990600" y="80729"/>
                </a:lnTo>
                <a:lnTo>
                  <a:pt x="1040130" y="97533"/>
                </a:lnTo>
                <a:lnTo>
                  <a:pt x="1089660" y="117422"/>
                </a:lnTo>
                <a:lnTo>
                  <a:pt x="1139190" y="140814"/>
                </a:lnTo>
                <a:lnTo>
                  <a:pt x="1188720" y="168124"/>
                </a:lnTo>
                <a:lnTo>
                  <a:pt x="1238250" y="199734"/>
                </a:lnTo>
                <a:lnTo>
                  <a:pt x="1287780" y="235956"/>
                </a:lnTo>
                <a:lnTo>
                  <a:pt x="1337310" y="276991"/>
                </a:lnTo>
                <a:lnTo>
                  <a:pt x="1386840" y="322881"/>
                </a:lnTo>
                <a:lnTo>
                  <a:pt x="1436370" y="373462"/>
                </a:lnTo>
                <a:lnTo>
                  <a:pt x="1485900" y="428333"/>
                </a:lnTo>
                <a:lnTo>
                  <a:pt x="1535430" y="486836"/>
                </a:lnTo>
                <a:lnTo>
                  <a:pt x="1584960" y="548075"/>
                </a:lnTo>
                <a:lnTo>
                  <a:pt x="1634490" y="610954"/>
                </a:lnTo>
                <a:lnTo>
                  <a:pt x="1684020" y="674252"/>
                </a:lnTo>
                <a:lnTo>
                  <a:pt x="1733550" y="736715"/>
                </a:lnTo>
                <a:lnTo>
                  <a:pt x="1783080" y="797155"/>
                </a:lnTo>
                <a:lnTo>
                  <a:pt x="1832610" y="854536"/>
                </a:lnTo>
                <a:lnTo>
                  <a:pt x="1882140" y="908037"/>
                </a:lnTo>
                <a:lnTo>
                  <a:pt x="1931670" y="957087"/>
                </a:lnTo>
                <a:lnTo>
                  <a:pt x="1981200" y="1001366"/>
                </a:lnTo>
                <a:lnTo>
                  <a:pt x="2030730" y="1040784"/>
                </a:lnTo>
                <a:lnTo>
                  <a:pt x="2080260" y="1075439"/>
                </a:lnTo>
                <a:lnTo>
                  <a:pt x="2129790" y="1105576"/>
                </a:lnTo>
                <a:lnTo>
                  <a:pt x="2179320" y="1131536"/>
                </a:lnTo>
                <a:lnTo>
                  <a:pt x="2228850" y="1153714"/>
                </a:lnTo>
                <a:lnTo>
                  <a:pt x="2278380" y="1172528"/>
                </a:lnTo>
                <a:lnTo>
                  <a:pt x="2327910" y="1188395"/>
                </a:lnTo>
                <a:lnTo>
                  <a:pt x="2377440" y="1201708"/>
                </a:lnTo>
                <a:lnTo>
                  <a:pt x="2426970" y="1212832"/>
                </a:lnTo>
                <a:lnTo>
                  <a:pt x="2476500" y="1222093"/>
                </a:lnTo>
                <a:lnTo>
                  <a:pt x="2526030" y="1229782"/>
                </a:lnTo>
                <a:lnTo>
                  <a:pt x="2575560" y="1236149"/>
                </a:lnTo>
                <a:lnTo>
                  <a:pt x="2625090" y="1241412"/>
                </a:lnTo>
                <a:lnTo>
                  <a:pt x="2674620" y="1245753"/>
                </a:lnTo>
                <a:lnTo>
                  <a:pt x="2724150" y="1249331"/>
                </a:lnTo>
                <a:lnTo>
                  <a:pt x="2773680" y="1252275"/>
                </a:lnTo>
                <a:lnTo>
                  <a:pt x="2823210" y="1254696"/>
                </a:lnTo>
                <a:lnTo>
                  <a:pt x="2872740" y="1256685"/>
                </a:lnTo>
                <a:lnTo>
                  <a:pt x="2922270" y="1258318"/>
                </a:lnTo>
                <a:lnTo>
                  <a:pt x="2971800" y="1259659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44484" y="2104730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7059" y="2107759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94817" y="2117830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57393" y="2144681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45150" y="2227032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07726" y="2405147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95484" y="2736799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58059" y="3044440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45817" y="3246565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08393" y="3324629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96150" y="3355767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15150" y="3364361"/>
            <a:ext cx="118872" cy="118872"/>
          </a:xfrm>
          <a:prstGeom prst="ellipse">
            <a:avLst/>
          </a:prstGeom>
          <a:solidFill>
            <a:srgbClr val="B832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315200" y="3931920"/>
            <a:ext cx="411479" cy="0"/>
          </a:xfrm>
          <a:prstGeom prst="line">
            <a:avLst/>
          </a:prstGeom>
          <a:ln w="25400">
            <a:solidFill>
              <a:srgbClr val="B83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0688" y="3794759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with f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549640" y="3931920"/>
            <a:ext cx="411480" cy="0"/>
          </a:xfrm>
          <a:prstGeom prst="line">
            <a:avLst/>
          </a:prstGeom>
          <a:ln w="19050">
            <a:solidFill>
              <a:srgbClr val="B8324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25128" y="3794759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coverages only</a:t>
            </a:r>
          </a:p>
        </p:txBody>
      </p:sp>
      <p:sp>
        <p:nvSpPr>
          <p:cNvPr id="54" name="Oval 53"/>
          <p:cNvSpPr/>
          <p:nvPr/>
        </p:nvSpPr>
        <p:spPr>
          <a:xfrm>
            <a:off x="10364724" y="3872483"/>
            <a:ext cx="118872" cy="118872"/>
          </a:xfrm>
          <a:prstGeom prst="ellipse">
            <a:avLst/>
          </a:prstGeom>
          <a:solidFill>
            <a:srgbClr val="B8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33888" y="3794759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from the rates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4224528"/>
            <a:ext cx="5486400" cy="1152144"/>
          </a:xfrm>
          <a:prstGeom prst="roundRect">
            <a:avLst>
              <a:gd name="adj" fmla="val 793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315968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prediction from the coverages (slide 40)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590288"/>
            <a:ext cx="52120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coverages only:   (θ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/θ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∗,ref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)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2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as R0 needs two empty sites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with the site count:   × (f/f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ref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)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99632" y="4224528"/>
            <a:ext cx="5486400" cy="1152144"/>
          </a:xfrm>
          <a:prstGeom prst="roundRect">
            <a:avLst>
              <a:gd name="adj" fmla="val 793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2" y="4315968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Reading 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2512" y="4590288"/>
            <a:ext cx="52120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Dots on the solid line: the impurity only takes sites.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Dots off it: it also changes the H₂ step, e.g. by using up H∗.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Take the poisoning curves at one point: 650 K, 1 bar.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Predict Π from the empty sites alone.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Correct for the change in the site count f.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Dots on the line: the poisoning is site blocking.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66122" y="100584"/>
            <a:ext cx="20226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sweep.py:20–86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Temperature sweep: 12 temperatures at 1 bar, every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temperature series on a 50 K grid: 650 to 1200 K for 9 cases, 108 solves, always at 1 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(a) log TOF</a:t>
            </a:r>
            <a:r>
              <a:rPr sz="1300" b="1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300" b="1" i="0">
                <a:solidFill>
                  <a:srgbClr val="1F2328"/>
                </a:solidFill>
                <a:latin typeface="Calibri"/>
              </a:rPr>
              <a:t> against 1000/T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440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603504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1000/T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(b) E</a:t>
            </a:r>
            <a:r>
              <a:rPr sz="1300" b="1" i="0" baseline="-25000">
                <a:solidFill>
                  <a:srgbClr val="1F2328"/>
                </a:solidFill>
                <a:latin typeface="Calibri"/>
              </a:rPr>
              <a:t>app</a:t>
            </a:r>
            <a:r>
              <a:rPr sz="1300" b="1" i="0">
                <a:solidFill>
                  <a:srgbClr val="1F2328"/>
                </a:solidFill>
                <a:latin typeface="Calibri"/>
              </a:rPr>
              <a:t> against 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0916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0916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9" name="TextBox 18"/>
          <p:cNvSpPr txBox="1"/>
          <p:nvPr/>
        </p:nvSpPr>
        <p:spPr>
          <a:xfrm>
            <a:off x="470916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627632"/>
            <a:ext cx="3337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(c) Π against 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3520440"/>
            <a:ext cx="297180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503920" y="1965960"/>
            <a:ext cx="0" cy="155448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3557016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016" y="249174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25" name="TextBox 24"/>
          <p:cNvSpPr txBox="1"/>
          <p:nvPr/>
        </p:nvSpPr>
        <p:spPr>
          <a:xfrm>
            <a:off x="8503920" y="3557016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1463040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</a:t>
            </a:r>
          </a:p>
        </p:txBody>
      </p:sp>
      <p:sp>
        <p:nvSpPr>
          <p:cNvPr id="27" name="Freeform 26"/>
          <p:cNvSpPr/>
          <p:nvPr/>
        </p:nvSpPr>
        <p:spPr>
          <a:xfrm>
            <a:off x="914400" y="2192731"/>
            <a:ext cx="2971800" cy="573329"/>
          </a:xfrm>
          <a:custGeom>
            <a:avLst/>
            <a:gdLst/>
            <a:ahLst/>
            <a:cxnLst/>
            <a:rect l="l" t="t" r="r" b="b"/>
            <a:pathLst>
              <a:path w="2971800" h="573329">
                <a:moveTo>
                  <a:pt x="0" y="0"/>
                </a:moveTo>
                <a:lnTo>
                  <a:pt x="49530" y="9555"/>
                </a:lnTo>
                <a:lnTo>
                  <a:pt x="99060" y="19111"/>
                </a:lnTo>
                <a:lnTo>
                  <a:pt x="148590" y="28666"/>
                </a:lnTo>
                <a:lnTo>
                  <a:pt x="198120" y="38222"/>
                </a:lnTo>
                <a:lnTo>
                  <a:pt x="247650" y="47777"/>
                </a:lnTo>
                <a:lnTo>
                  <a:pt x="297180" y="57333"/>
                </a:lnTo>
                <a:lnTo>
                  <a:pt x="346710" y="66888"/>
                </a:lnTo>
                <a:lnTo>
                  <a:pt x="396240" y="76444"/>
                </a:lnTo>
                <a:lnTo>
                  <a:pt x="445770" y="85999"/>
                </a:lnTo>
                <a:lnTo>
                  <a:pt x="495299" y="95555"/>
                </a:lnTo>
                <a:lnTo>
                  <a:pt x="544830" y="105110"/>
                </a:lnTo>
                <a:lnTo>
                  <a:pt x="594360" y="114665"/>
                </a:lnTo>
                <a:lnTo>
                  <a:pt x="643890" y="124221"/>
                </a:lnTo>
                <a:lnTo>
                  <a:pt x="693420" y="133776"/>
                </a:lnTo>
                <a:lnTo>
                  <a:pt x="742950" y="143332"/>
                </a:lnTo>
                <a:lnTo>
                  <a:pt x="792480" y="152887"/>
                </a:lnTo>
                <a:lnTo>
                  <a:pt x="842010" y="162443"/>
                </a:lnTo>
                <a:lnTo>
                  <a:pt x="891540" y="171998"/>
                </a:lnTo>
                <a:lnTo>
                  <a:pt x="941070" y="181554"/>
                </a:lnTo>
                <a:lnTo>
                  <a:pt x="990599" y="191109"/>
                </a:lnTo>
                <a:lnTo>
                  <a:pt x="1040130" y="200665"/>
                </a:lnTo>
                <a:lnTo>
                  <a:pt x="1089659" y="210220"/>
                </a:lnTo>
                <a:lnTo>
                  <a:pt x="1139190" y="219776"/>
                </a:lnTo>
                <a:lnTo>
                  <a:pt x="1188720" y="229331"/>
                </a:lnTo>
                <a:lnTo>
                  <a:pt x="1238250" y="238887"/>
                </a:lnTo>
                <a:lnTo>
                  <a:pt x="1287780" y="248442"/>
                </a:lnTo>
                <a:lnTo>
                  <a:pt x="1337310" y="257998"/>
                </a:lnTo>
                <a:lnTo>
                  <a:pt x="1386840" y="267553"/>
                </a:lnTo>
                <a:lnTo>
                  <a:pt x="1436370" y="277109"/>
                </a:lnTo>
                <a:lnTo>
                  <a:pt x="1485900" y="286664"/>
                </a:lnTo>
                <a:lnTo>
                  <a:pt x="1535430" y="296220"/>
                </a:lnTo>
                <a:lnTo>
                  <a:pt x="1584960" y="305775"/>
                </a:lnTo>
                <a:lnTo>
                  <a:pt x="1634490" y="315331"/>
                </a:lnTo>
                <a:lnTo>
                  <a:pt x="1684020" y="324886"/>
                </a:lnTo>
                <a:lnTo>
                  <a:pt x="1733550" y="334442"/>
                </a:lnTo>
                <a:lnTo>
                  <a:pt x="1783080" y="343997"/>
                </a:lnTo>
                <a:lnTo>
                  <a:pt x="1832610" y="353552"/>
                </a:lnTo>
                <a:lnTo>
                  <a:pt x="1882140" y="363108"/>
                </a:lnTo>
                <a:lnTo>
                  <a:pt x="1931670" y="372663"/>
                </a:lnTo>
                <a:lnTo>
                  <a:pt x="1981200" y="382219"/>
                </a:lnTo>
                <a:lnTo>
                  <a:pt x="2030730" y="391774"/>
                </a:lnTo>
                <a:lnTo>
                  <a:pt x="2080260" y="401330"/>
                </a:lnTo>
                <a:lnTo>
                  <a:pt x="2129790" y="410885"/>
                </a:lnTo>
                <a:lnTo>
                  <a:pt x="2179320" y="420441"/>
                </a:lnTo>
                <a:lnTo>
                  <a:pt x="2228850" y="429996"/>
                </a:lnTo>
                <a:lnTo>
                  <a:pt x="2278380" y="439552"/>
                </a:lnTo>
                <a:lnTo>
                  <a:pt x="2327910" y="449107"/>
                </a:lnTo>
                <a:lnTo>
                  <a:pt x="2377440" y="458663"/>
                </a:lnTo>
                <a:lnTo>
                  <a:pt x="2426970" y="468218"/>
                </a:lnTo>
                <a:lnTo>
                  <a:pt x="2476500" y="477774"/>
                </a:lnTo>
                <a:lnTo>
                  <a:pt x="2526029" y="487329"/>
                </a:lnTo>
                <a:lnTo>
                  <a:pt x="2575560" y="496885"/>
                </a:lnTo>
                <a:lnTo>
                  <a:pt x="2625090" y="506440"/>
                </a:lnTo>
                <a:lnTo>
                  <a:pt x="2674620" y="515996"/>
                </a:lnTo>
                <a:lnTo>
                  <a:pt x="2724150" y="525551"/>
                </a:lnTo>
                <a:lnTo>
                  <a:pt x="2773680" y="535107"/>
                </a:lnTo>
                <a:lnTo>
                  <a:pt x="2823210" y="544662"/>
                </a:lnTo>
                <a:lnTo>
                  <a:pt x="2872740" y="554218"/>
                </a:lnTo>
                <a:lnTo>
                  <a:pt x="2922269" y="563773"/>
                </a:lnTo>
                <a:lnTo>
                  <a:pt x="2971800" y="573329"/>
                </a:lnTo>
              </a:path>
            </a:pathLst>
          </a:custGeom>
          <a:noFill/>
          <a:ln w="254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14400" y="2192731"/>
            <a:ext cx="2971800" cy="1207008"/>
          </a:xfrm>
          <a:custGeom>
            <a:avLst/>
            <a:gdLst/>
            <a:ahLst/>
            <a:cxnLst/>
            <a:rect l="l" t="t" r="r" b="b"/>
            <a:pathLst>
              <a:path w="2971800" h="1207008">
                <a:moveTo>
                  <a:pt x="0" y="0"/>
                </a:moveTo>
                <a:lnTo>
                  <a:pt x="49530" y="9731"/>
                </a:lnTo>
                <a:lnTo>
                  <a:pt x="99060" y="19815"/>
                </a:lnTo>
                <a:lnTo>
                  <a:pt x="148590" y="30250"/>
                </a:lnTo>
                <a:lnTo>
                  <a:pt x="198120" y="41038"/>
                </a:lnTo>
                <a:lnTo>
                  <a:pt x="247650" y="52178"/>
                </a:lnTo>
                <a:lnTo>
                  <a:pt x="297180" y="63669"/>
                </a:lnTo>
                <a:lnTo>
                  <a:pt x="346710" y="75513"/>
                </a:lnTo>
                <a:lnTo>
                  <a:pt x="396240" y="87709"/>
                </a:lnTo>
                <a:lnTo>
                  <a:pt x="445770" y="100257"/>
                </a:lnTo>
                <a:lnTo>
                  <a:pt x="495299" y="113157"/>
                </a:lnTo>
                <a:lnTo>
                  <a:pt x="544830" y="126409"/>
                </a:lnTo>
                <a:lnTo>
                  <a:pt x="594360" y="140013"/>
                </a:lnTo>
                <a:lnTo>
                  <a:pt x="643890" y="153969"/>
                </a:lnTo>
                <a:lnTo>
                  <a:pt x="693420" y="168277"/>
                </a:lnTo>
                <a:lnTo>
                  <a:pt x="742950" y="182937"/>
                </a:lnTo>
                <a:lnTo>
                  <a:pt x="792480" y="197949"/>
                </a:lnTo>
                <a:lnTo>
                  <a:pt x="842010" y="213313"/>
                </a:lnTo>
                <a:lnTo>
                  <a:pt x="891540" y="229029"/>
                </a:lnTo>
                <a:lnTo>
                  <a:pt x="941070" y="245098"/>
                </a:lnTo>
                <a:lnTo>
                  <a:pt x="990599" y="261518"/>
                </a:lnTo>
                <a:lnTo>
                  <a:pt x="1040130" y="278290"/>
                </a:lnTo>
                <a:lnTo>
                  <a:pt x="1089659" y="295415"/>
                </a:lnTo>
                <a:lnTo>
                  <a:pt x="1139190" y="312891"/>
                </a:lnTo>
                <a:lnTo>
                  <a:pt x="1188720" y="330720"/>
                </a:lnTo>
                <a:lnTo>
                  <a:pt x="1238250" y="348900"/>
                </a:lnTo>
                <a:lnTo>
                  <a:pt x="1287780" y="367433"/>
                </a:lnTo>
                <a:lnTo>
                  <a:pt x="1337310" y="386318"/>
                </a:lnTo>
                <a:lnTo>
                  <a:pt x="1386840" y="405554"/>
                </a:lnTo>
                <a:lnTo>
                  <a:pt x="1436370" y="425143"/>
                </a:lnTo>
                <a:lnTo>
                  <a:pt x="1485900" y="445084"/>
                </a:lnTo>
                <a:lnTo>
                  <a:pt x="1535430" y="465377"/>
                </a:lnTo>
                <a:lnTo>
                  <a:pt x="1584960" y="486022"/>
                </a:lnTo>
                <a:lnTo>
                  <a:pt x="1634490" y="507018"/>
                </a:lnTo>
                <a:lnTo>
                  <a:pt x="1684020" y="528367"/>
                </a:lnTo>
                <a:lnTo>
                  <a:pt x="1733550" y="550068"/>
                </a:lnTo>
                <a:lnTo>
                  <a:pt x="1783080" y="572121"/>
                </a:lnTo>
                <a:lnTo>
                  <a:pt x="1832610" y="594527"/>
                </a:lnTo>
                <a:lnTo>
                  <a:pt x="1882140" y="617284"/>
                </a:lnTo>
                <a:lnTo>
                  <a:pt x="1931670" y="640393"/>
                </a:lnTo>
                <a:lnTo>
                  <a:pt x="1981200" y="663854"/>
                </a:lnTo>
                <a:lnTo>
                  <a:pt x="2030730" y="687667"/>
                </a:lnTo>
                <a:lnTo>
                  <a:pt x="2080260" y="711833"/>
                </a:lnTo>
                <a:lnTo>
                  <a:pt x="2129790" y="736350"/>
                </a:lnTo>
                <a:lnTo>
                  <a:pt x="2179320" y="761219"/>
                </a:lnTo>
                <a:lnTo>
                  <a:pt x="2228850" y="786441"/>
                </a:lnTo>
                <a:lnTo>
                  <a:pt x="2278380" y="812014"/>
                </a:lnTo>
                <a:lnTo>
                  <a:pt x="2327910" y="837940"/>
                </a:lnTo>
                <a:lnTo>
                  <a:pt x="2377440" y="864217"/>
                </a:lnTo>
                <a:lnTo>
                  <a:pt x="2426970" y="890847"/>
                </a:lnTo>
                <a:lnTo>
                  <a:pt x="2476500" y="917829"/>
                </a:lnTo>
                <a:lnTo>
                  <a:pt x="2526029" y="945162"/>
                </a:lnTo>
                <a:lnTo>
                  <a:pt x="2575560" y="972848"/>
                </a:lnTo>
                <a:lnTo>
                  <a:pt x="2625090" y="1000886"/>
                </a:lnTo>
                <a:lnTo>
                  <a:pt x="2674620" y="1029276"/>
                </a:lnTo>
                <a:lnTo>
                  <a:pt x="2724150" y="1058018"/>
                </a:lnTo>
                <a:lnTo>
                  <a:pt x="2773680" y="1087112"/>
                </a:lnTo>
                <a:lnTo>
                  <a:pt x="2823210" y="1116558"/>
                </a:lnTo>
                <a:lnTo>
                  <a:pt x="2872740" y="1146356"/>
                </a:lnTo>
                <a:lnTo>
                  <a:pt x="2922269" y="1176506"/>
                </a:lnTo>
                <a:lnTo>
                  <a:pt x="2971800" y="1207008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09160" y="3218688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49530" y="0"/>
                </a:lnTo>
                <a:lnTo>
                  <a:pt x="99060" y="0"/>
                </a:lnTo>
                <a:lnTo>
                  <a:pt x="148590" y="0"/>
                </a:lnTo>
                <a:lnTo>
                  <a:pt x="198120" y="0"/>
                </a:lnTo>
                <a:lnTo>
                  <a:pt x="247650" y="0"/>
                </a:lnTo>
                <a:lnTo>
                  <a:pt x="297180" y="0"/>
                </a:lnTo>
                <a:lnTo>
                  <a:pt x="346710" y="0"/>
                </a:lnTo>
                <a:lnTo>
                  <a:pt x="396240" y="0"/>
                </a:lnTo>
                <a:lnTo>
                  <a:pt x="445770" y="0"/>
                </a:lnTo>
                <a:lnTo>
                  <a:pt x="495300" y="0"/>
                </a:lnTo>
                <a:lnTo>
                  <a:pt x="544830" y="0"/>
                </a:lnTo>
                <a:lnTo>
                  <a:pt x="594360" y="0"/>
                </a:lnTo>
                <a:lnTo>
                  <a:pt x="643890" y="0"/>
                </a:lnTo>
                <a:lnTo>
                  <a:pt x="693420" y="0"/>
                </a:lnTo>
                <a:lnTo>
                  <a:pt x="742950" y="0"/>
                </a:lnTo>
                <a:lnTo>
                  <a:pt x="792480" y="0"/>
                </a:lnTo>
                <a:lnTo>
                  <a:pt x="842010" y="0"/>
                </a:lnTo>
                <a:lnTo>
                  <a:pt x="891540" y="0"/>
                </a:lnTo>
                <a:lnTo>
                  <a:pt x="941070" y="0"/>
                </a:lnTo>
                <a:lnTo>
                  <a:pt x="990600" y="0"/>
                </a:lnTo>
                <a:lnTo>
                  <a:pt x="1040130" y="0"/>
                </a:lnTo>
                <a:lnTo>
                  <a:pt x="1089660" y="0"/>
                </a:lnTo>
                <a:lnTo>
                  <a:pt x="1139190" y="0"/>
                </a:lnTo>
                <a:lnTo>
                  <a:pt x="1188720" y="0"/>
                </a:lnTo>
                <a:lnTo>
                  <a:pt x="1238250" y="0"/>
                </a:lnTo>
                <a:lnTo>
                  <a:pt x="1287780" y="0"/>
                </a:lnTo>
                <a:lnTo>
                  <a:pt x="1337310" y="0"/>
                </a:lnTo>
                <a:lnTo>
                  <a:pt x="1386840" y="0"/>
                </a:lnTo>
                <a:lnTo>
                  <a:pt x="1436370" y="0"/>
                </a:lnTo>
                <a:lnTo>
                  <a:pt x="1485900" y="0"/>
                </a:lnTo>
                <a:lnTo>
                  <a:pt x="1535430" y="0"/>
                </a:lnTo>
                <a:lnTo>
                  <a:pt x="1584960" y="0"/>
                </a:lnTo>
                <a:lnTo>
                  <a:pt x="1634490" y="0"/>
                </a:lnTo>
                <a:lnTo>
                  <a:pt x="1684020" y="0"/>
                </a:lnTo>
                <a:lnTo>
                  <a:pt x="1733550" y="0"/>
                </a:lnTo>
                <a:lnTo>
                  <a:pt x="1783080" y="0"/>
                </a:lnTo>
                <a:lnTo>
                  <a:pt x="1832610" y="0"/>
                </a:lnTo>
                <a:lnTo>
                  <a:pt x="1882140" y="0"/>
                </a:lnTo>
                <a:lnTo>
                  <a:pt x="1931670" y="0"/>
                </a:lnTo>
                <a:lnTo>
                  <a:pt x="1981200" y="0"/>
                </a:lnTo>
                <a:lnTo>
                  <a:pt x="2030730" y="0"/>
                </a:lnTo>
                <a:lnTo>
                  <a:pt x="2080260" y="0"/>
                </a:lnTo>
                <a:lnTo>
                  <a:pt x="2129790" y="0"/>
                </a:lnTo>
                <a:lnTo>
                  <a:pt x="2179320" y="0"/>
                </a:lnTo>
                <a:lnTo>
                  <a:pt x="2228850" y="0"/>
                </a:lnTo>
                <a:lnTo>
                  <a:pt x="2278380" y="0"/>
                </a:lnTo>
                <a:lnTo>
                  <a:pt x="2327910" y="0"/>
                </a:lnTo>
                <a:lnTo>
                  <a:pt x="2377440" y="0"/>
                </a:lnTo>
                <a:lnTo>
                  <a:pt x="2426970" y="0"/>
                </a:lnTo>
                <a:lnTo>
                  <a:pt x="2476500" y="0"/>
                </a:lnTo>
                <a:lnTo>
                  <a:pt x="2526030" y="0"/>
                </a:lnTo>
                <a:lnTo>
                  <a:pt x="2575560" y="0"/>
                </a:lnTo>
                <a:lnTo>
                  <a:pt x="2625090" y="0"/>
                </a:lnTo>
                <a:lnTo>
                  <a:pt x="2674620" y="0"/>
                </a:lnTo>
                <a:lnTo>
                  <a:pt x="2724150" y="0"/>
                </a:lnTo>
                <a:lnTo>
                  <a:pt x="2773680" y="0"/>
                </a:lnTo>
                <a:lnTo>
                  <a:pt x="2823210" y="0"/>
                </a:lnTo>
                <a:lnTo>
                  <a:pt x="2872740" y="0"/>
                </a:lnTo>
                <a:lnTo>
                  <a:pt x="2922270" y="0"/>
                </a:lnTo>
                <a:lnTo>
                  <a:pt x="2971800" y="0"/>
                </a:lnTo>
              </a:path>
            </a:pathLst>
          </a:custGeom>
          <a:noFill/>
          <a:ln w="254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709160" y="2192731"/>
            <a:ext cx="2971800" cy="995781"/>
          </a:xfrm>
          <a:custGeom>
            <a:avLst/>
            <a:gdLst/>
            <a:ahLst/>
            <a:cxnLst/>
            <a:rect l="l" t="t" r="r" b="b"/>
            <a:pathLst>
              <a:path w="2971800" h="995781">
                <a:moveTo>
                  <a:pt x="0" y="0"/>
                </a:moveTo>
                <a:lnTo>
                  <a:pt x="49530" y="32916"/>
                </a:lnTo>
                <a:lnTo>
                  <a:pt x="99060" y="65279"/>
                </a:lnTo>
                <a:lnTo>
                  <a:pt x="148590" y="97088"/>
                </a:lnTo>
                <a:lnTo>
                  <a:pt x="198120" y="128345"/>
                </a:lnTo>
                <a:lnTo>
                  <a:pt x="247650" y="159048"/>
                </a:lnTo>
                <a:lnTo>
                  <a:pt x="297180" y="189198"/>
                </a:lnTo>
                <a:lnTo>
                  <a:pt x="346710" y="218795"/>
                </a:lnTo>
                <a:lnTo>
                  <a:pt x="396240" y="247839"/>
                </a:lnTo>
                <a:lnTo>
                  <a:pt x="445770" y="276329"/>
                </a:lnTo>
                <a:lnTo>
                  <a:pt x="495300" y="304266"/>
                </a:lnTo>
                <a:lnTo>
                  <a:pt x="544830" y="331650"/>
                </a:lnTo>
                <a:lnTo>
                  <a:pt x="594360" y="358481"/>
                </a:lnTo>
                <a:lnTo>
                  <a:pt x="643890" y="384759"/>
                </a:lnTo>
                <a:lnTo>
                  <a:pt x="693420" y="410483"/>
                </a:lnTo>
                <a:lnTo>
                  <a:pt x="742950" y="435654"/>
                </a:lnTo>
                <a:lnTo>
                  <a:pt x="792480" y="460272"/>
                </a:lnTo>
                <a:lnTo>
                  <a:pt x="842010" y="484337"/>
                </a:lnTo>
                <a:lnTo>
                  <a:pt x="891540" y="507848"/>
                </a:lnTo>
                <a:lnTo>
                  <a:pt x="941070" y="530807"/>
                </a:lnTo>
                <a:lnTo>
                  <a:pt x="990600" y="553212"/>
                </a:lnTo>
                <a:lnTo>
                  <a:pt x="1040130" y="575064"/>
                </a:lnTo>
                <a:lnTo>
                  <a:pt x="1089660" y="596362"/>
                </a:lnTo>
                <a:lnTo>
                  <a:pt x="1139190" y="617108"/>
                </a:lnTo>
                <a:lnTo>
                  <a:pt x="1188720" y="637300"/>
                </a:lnTo>
                <a:lnTo>
                  <a:pt x="1238250" y="656939"/>
                </a:lnTo>
                <a:lnTo>
                  <a:pt x="1287780" y="676025"/>
                </a:lnTo>
                <a:lnTo>
                  <a:pt x="1337310" y="694557"/>
                </a:lnTo>
                <a:lnTo>
                  <a:pt x="1386840" y="712537"/>
                </a:lnTo>
                <a:lnTo>
                  <a:pt x="1436370" y="729963"/>
                </a:lnTo>
                <a:lnTo>
                  <a:pt x="1485900" y="746836"/>
                </a:lnTo>
                <a:lnTo>
                  <a:pt x="1535430" y="763156"/>
                </a:lnTo>
                <a:lnTo>
                  <a:pt x="1584960" y="778922"/>
                </a:lnTo>
                <a:lnTo>
                  <a:pt x="1634490" y="794136"/>
                </a:lnTo>
                <a:lnTo>
                  <a:pt x="1684020" y="808796"/>
                </a:lnTo>
                <a:lnTo>
                  <a:pt x="1733550" y="822903"/>
                </a:lnTo>
                <a:lnTo>
                  <a:pt x="1783080" y="836456"/>
                </a:lnTo>
                <a:lnTo>
                  <a:pt x="1832610" y="849457"/>
                </a:lnTo>
                <a:lnTo>
                  <a:pt x="1882140" y="861904"/>
                </a:lnTo>
                <a:lnTo>
                  <a:pt x="1931670" y="873798"/>
                </a:lnTo>
                <a:lnTo>
                  <a:pt x="1981200" y="885139"/>
                </a:lnTo>
                <a:lnTo>
                  <a:pt x="2030730" y="895927"/>
                </a:lnTo>
                <a:lnTo>
                  <a:pt x="2080260" y="906161"/>
                </a:lnTo>
                <a:lnTo>
                  <a:pt x="2129790" y="915842"/>
                </a:lnTo>
                <a:lnTo>
                  <a:pt x="2179320" y="924970"/>
                </a:lnTo>
                <a:lnTo>
                  <a:pt x="2228850" y="933545"/>
                </a:lnTo>
                <a:lnTo>
                  <a:pt x="2278380" y="941567"/>
                </a:lnTo>
                <a:lnTo>
                  <a:pt x="2327910" y="949035"/>
                </a:lnTo>
                <a:lnTo>
                  <a:pt x="2377440" y="955950"/>
                </a:lnTo>
                <a:lnTo>
                  <a:pt x="2426970" y="962312"/>
                </a:lnTo>
                <a:lnTo>
                  <a:pt x="2476500" y="968121"/>
                </a:lnTo>
                <a:lnTo>
                  <a:pt x="2526030" y="973376"/>
                </a:lnTo>
                <a:lnTo>
                  <a:pt x="2575560" y="978079"/>
                </a:lnTo>
                <a:lnTo>
                  <a:pt x="2625090" y="982228"/>
                </a:lnTo>
                <a:lnTo>
                  <a:pt x="2674620" y="985823"/>
                </a:lnTo>
                <a:lnTo>
                  <a:pt x="2724150" y="988866"/>
                </a:lnTo>
                <a:lnTo>
                  <a:pt x="2773680" y="991356"/>
                </a:lnTo>
                <a:lnTo>
                  <a:pt x="2823210" y="993292"/>
                </a:lnTo>
                <a:lnTo>
                  <a:pt x="2872740" y="994675"/>
                </a:lnTo>
                <a:lnTo>
                  <a:pt x="2922270" y="995505"/>
                </a:lnTo>
                <a:lnTo>
                  <a:pt x="2971800" y="995781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503920" y="2766060"/>
            <a:ext cx="297180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8503920" y="2145203"/>
            <a:ext cx="2971800" cy="1225415"/>
          </a:xfrm>
          <a:custGeom>
            <a:avLst/>
            <a:gdLst/>
            <a:ahLst/>
            <a:cxnLst/>
            <a:rect l="l" t="t" r="r" b="b"/>
            <a:pathLst>
              <a:path w="2971800" h="1225415">
                <a:moveTo>
                  <a:pt x="0" y="1225415"/>
                </a:moveTo>
                <a:lnTo>
                  <a:pt x="49530" y="1221190"/>
                </a:lnTo>
                <a:lnTo>
                  <a:pt x="99060" y="1216372"/>
                </a:lnTo>
                <a:lnTo>
                  <a:pt x="148590" y="1210881"/>
                </a:lnTo>
                <a:lnTo>
                  <a:pt x="198120" y="1204633"/>
                </a:lnTo>
                <a:lnTo>
                  <a:pt x="247650" y="1197532"/>
                </a:lnTo>
                <a:lnTo>
                  <a:pt x="297180" y="1189475"/>
                </a:lnTo>
                <a:lnTo>
                  <a:pt x="346710" y="1180348"/>
                </a:lnTo>
                <a:lnTo>
                  <a:pt x="396240" y="1170032"/>
                </a:lnTo>
                <a:lnTo>
                  <a:pt x="445770" y="1158396"/>
                </a:lnTo>
                <a:lnTo>
                  <a:pt x="495300" y="1145306"/>
                </a:lnTo>
                <a:lnTo>
                  <a:pt x="544830" y="1130623"/>
                </a:lnTo>
                <a:lnTo>
                  <a:pt x="594360" y="1114205"/>
                </a:lnTo>
                <a:lnTo>
                  <a:pt x="643890" y="1095913"/>
                </a:lnTo>
                <a:lnTo>
                  <a:pt x="693420" y="1075615"/>
                </a:lnTo>
                <a:lnTo>
                  <a:pt x="742950" y="1053192"/>
                </a:lnTo>
                <a:lnTo>
                  <a:pt x="792480" y="1028542"/>
                </a:lnTo>
                <a:lnTo>
                  <a:pt x="842010" y="1001590"/>
                </a:lnTo>
                <a:lnTo>
                  <a:pt x="891540" y="972295"/>
                </a:lnTo>
                <a:lnTo>
                  <a:pt x="941070" y="940657"/>
                </a:lnTo>
                <a:lnTo>
                  <a:pt x="990600" y="906725"/>
                </a:lnTo>
                <a:lnTo>
                  <a:pt x="1040130" y="870601"/>
                </a:lnTo>
                <a:lnTo>
                  <a:pt x="1089660" y="832448"/>
                </a:lnTo>
                <a:lnTo>
                  <a:pt x="1139190" y="792487"/>
                </a:lnTo>
                <a:lnTo>
                  <a:pt x="1188720" y="750996"/>
                </a:lnTo>
                <a:lnTo>
                  <a:pt x="1238250" y="708306"/>
                </a:lnTo>
                <a:lnTo>
                  <a:pt x="1287780" y="664791"/>
                </a:lnTo>
                <a:lnTo>
                  <a:pt x="1337310" y="620857"/>
                </a:lnTo>
                <a:lnTo>
                  <a:pt x="1386840" y="576922"/>
                </a:lnTo>
                <a:lnTo>
                  <a:pt x="1436370" y="533407"/>
                </a:lnTo>
                <a:lnTo>
                  <a:pt x="1485900" y="490717"/>
                </a:lnTo>
                <a:lnTo>
                  <a:pt x="1535430" y="449226"/>
                </a:lnTo>
                <a:lnTo>
                  <a:pt x="1584960" y="409265"/>
                </a:lnTo>
                <a:lnTo>
                  <a:pt x="1634490" y="371112"/>
                </a:lnTo>
                <a:lnTo>
                  <a:pt x="1684020" y="334988"/>
                </a:lnTo>
                <a:lnTo>
                  <a:pt x="1733550" y="301056"/>
                </a:lnTo>
                <a:lnTo>
                  <a:pt x="1783080" y="269418"/>
                </a:lnTo>
                <a:lnTo>
                  <a:pt x="1832610" y="240123"/>
                </a:lnTo>
                <a:lnTo>
                  <a:pt x="1882140" y="213171"/>
                </a:lnTo>
                <a:lnTo>
                  <a:pt x="1931670" y="188521"/>
                </a:lnTo>
                <a:lnTo>
                  <a:pt x="1981200" y="166098"/>
                </a:lnTo>
                <a:lnTo>
                  <a:pt x="2030730" y="145800"/>
                </a:lnTo>
                <a:lnTo>
                  <a:pt x="2080260" y="127508"/>
                </a:lnTo>
                <a:lnTo>
                  <a:pt x="2129790" y="111090"/>
                </a:lnTo>
                <a:lnTo>
                  <a:pt x="2179320" y="96407"/>
                </a:lnTo>
                <a:lnTo>
                  <a:pt x="2228850" y="83317"/>
                </a:lnTo>
                <a:lnTo>
                  <a:pt x="2278380" y="71681"/>
                </a:lnTo>
                <a:lnTo>
                  <a:pt x="2327910" y="61365"/>
                </a:lnTo>
                <a:lnTo>
                  <a:pt x="2377440" y="52238"/>
                </a:lnTo>
                <a:lnTo>
                  <a:pt x="2426970" y="44181"/>
                </a:lnTo>
                <a:lnTo>
                  <a:pt x="2476500" y="37080"/>
                </a:lnTo>
                <a:lnTo>
                  <a:pt x="2526030" y="30832"/>
                </a:lnTo>
                <a:lnTo>
                  <a:pt x="2575560" y="25341"/>
                </a:lnTo>
                <a:lnTo>
                  <a:pt x="2625090" y="20523"/>
                </a:lnTo>
                <a:lnTo>
                  <a:pt x="2674620" y="16298"/>
                </a:lnTo>
                <a:lnTo>
                  <a:pt x="2724150" y="12597"/>
                </a:lnTo>
                <a:lnTo>
                  <a:pt x="2773680" y="9359"/>
                </a:lnTo>
                <a:lnTo>
                  <a:pt x="2823210" y="6526"/>
                </a:lnTo>
                <a:lnTo>
                  <a:pt x="2872740" y="4051"/>
                </a:lnTo>
                <a:lnTo>
                  <a:pt x="2922270" y="1888"/>
                </a:lnTo>
                <a:lnTo>
                  <a:pt x="2971800" y="0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9749790" y="2674620"/>
            <a:ext cx="182880" cy="1828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7534" y="2802636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release 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931920"/>
            <a:ext cx="411480" cy="0"/>
          </a:xfrm>
          <a:prstGeom prst="line">
            <a:avLst/>
          </a:prstGeom>
          <a:ln w="254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89888" y="3794759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77440" y="3931920"/>
            <a:ext cx="411480" cy="0"/>
          </a:xfrm>
          <a:prstGeom prst="line">
            <a:avLst/>
          </a:prstGeom>
          <a:ln w="25400">
            <a:solidFill>
              <a:srgbClr val="B83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52928" y="3794759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an impurity case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60520"/>
            <a:ext cx="6675120" cy="1216152"/>
          </a:xfrm>
          <a:prstGeom prst="roundRect">
            <a:avLst>
              <a:gd name="adj" fmla="val 751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51959"/>
            <a:ext cx="6400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Computed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507992"/>
            <a:ext cx="64008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app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(T) = −R ∂ln TOF/∂(1/T): central differences on the converged points (≥ 3)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release T: the lowest T at which a poisoned rate recovers to Π = 0.5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 temperature without a steady state is a gap, never bridged.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4160520"/>
            <a:ext cx="4325112" cy="1216152"/>
          </a:xfrm>
          <a:prstGeom prst="roundRect">
            <a:avLst>
              <a:gd name="adj" fmla="val 751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4251959"/>
            <a:ext cx="4050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Outputs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4507992"/>
            <a:ext cx="4069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temperature_sweep.csv, release_temperature.csv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temperature_sweep.png and _per_area.png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sweep_coverages.png: who covers the surface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9 cases at 12 temperatures, 650–1200 K, at 1 bar.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Plot log TOF against 1000/T.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Take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app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from the local slope.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Find where each poisoned rate recovers to half.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86646" y="100584"/>
            <a:ext cx="24021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arrhenius.py:75–206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Arrhenius form: the clean metal’s constants, then each case’s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No solving: fresh surfaces for the H₂ step alone, and fits of the temperature sweep for each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577840" cy="2962656"/>
          </a:xfrm>
          <a:prstGeom prst="roundRect">
            <a:avLst>
              <a:gd name="adj" fmla="val 308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Intrinsic: the H₂ step 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47672"/>
            <a:ext cx="1709928" cy="794695"/>
          </a:xfrm>
          <a:prstGeom prst="roundRect">
            <a:avLst>
              <a:gd name="adj" fmla="val 1150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057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0432" y="2057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7904" y="2057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65376" y="2057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235831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44168" y="235831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91640" y="235831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9112" y="235831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19272" y="1947672"/>
            <a:ext cx="1709928" cy="794695"/>
          </a:xfrm>
          <a:prstGeom prst="roundRect">
            <a:avLst>
              <a:gd name="adj" fmla="val 1150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29000" y="205740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Oval 20"/>
          <p:cNvSpPr/>
          <p:nvPr/>
        </p:nvSpPr>
        <p:spPr>
          <a:xfrm>
            <a:off x="3776472" y="205740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Oval 21"/>
          <p:cNvSpPr/>
          <p:nvPr/>
        </p:nvSpPr>
        <p:spPr>
          <a:xfrm>
            <a:off x="4123944" y="205740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3" name="Oval 22"/>
          <p:cNvSpPr/>
          <p:nvPr/>
        </p:nvSpPr>
        <p:spPr>
          <a:xfrm>
            <a:off x="4471416" y="205740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4" name="Oval 23"/>
          <p:cNvSpPr/>
          <p:nvPr/>
        </p:nvSpPr>
        <p:spPr>
          <a:xfrm>
            <a:off x="3602736" y="2358319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5" name="Oval 24"/>
          <p:cNvSpPr/>
          <p:nvPr/>
        </p:nvSpPr>
        <p:spPr>
          <a:xfrm>
            <a:off x="3950208" y="2358319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6" name="Oval 25"/>
          <p:cNvSpPr/>
          <p:nvPr/>
        </p:nvSpPr>
        <p:spPr>
          <a:xfrm>
            <a:off x="4297680" y="2358319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Oval 26"/>
          <p:cNvSpPr/>
          <p:nvPr/>
        </p:nvSpPr>
        <p:spPr>
          <a:xfrm>
            <a:off x="4645152" y="2358319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816352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empty: k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diss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= q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/Γ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816352"/>
            <a:ext cx="2743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full of H∗: k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rec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= q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/Γ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182112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K = (k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diss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/k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rec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) P°/p,    ln K = ΔS°/R − ΔH°/RT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547872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Per area: 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d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r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, γ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clean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and J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858768"/>
            <a:ext cx="5266944" cy="548640"/>
          </a:xfrm>
          <a:prstGeom prst="roundRect">
            <a:avLst>
              <a:gd name="adj" fmla="val 13333"/>
            </a:avLst>
          </a:prstGeom>
          <a:solidFill>
            <a:srgbClr val="E7F4EC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300" b="0" i="0">
                <a:solidFill>
                  <a:srgbClr val="1F2328"/>
                </a:solidFill>
                <a:latin typeface="Courier New"/>
              </a:rPr>
              <a:t>check_K_thermo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= 1 at all 12 temperatures; the γ fit gives back R0’s A = 0.03 and E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 = 5.0 kJ/mol.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517904"/>
            <a:ext cx="5422392" cy="2962656"/>
          </a:xfrm>
          <a:prstGeom prst="roundRect">
            <a:avLst>
              <a:gd name="adj" fmla="val 308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609344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Observed: each case, from the sweep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92024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Fits of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and 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/TOF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A,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R², the T range and the conditions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05456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An impurity’s effect in two numbers: ΔE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=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−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a,ref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and A/A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90672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R² below 0.99: flagged curved; read the local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(T) in arrhenius_local.csv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75887"/>
            <a:ext cx="512064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Per area: k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d,eff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, J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ex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, γ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eff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. surface_coefficients.csv lists k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d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and k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as A exp(−E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/RT): the clean metal and the 9 cases.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572000"/>
            <a:ext cx="11185855" cy="804672"/>
          </a:xfrm>
          <a:prstGeom prst="roundRect">
            <a:avLst>
              <a:gd name="adj" fmla="val 909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360" y="466344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4608576"/>
            <a:ext cx="10710367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For try_2/Cu the intrinsic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fit is flagged curved (R² = 0.95), yet nothing changes on an empty surface: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diss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∝ γ/√T, with γ = 0.03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−5 kJ/mol / RT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 Its local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= 5.0 − RT/2 falls from 2.3 to 0 kJ/mol over 650–1200 K; the fitted 1.4 kJ/mol is an average.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Evaluate the H₂ step on an empty and a full surface.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Fit A and 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of each rate; K gives ΔH° and ΔS°.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Fit each case’s rates from the temperature sweep.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Compare with H₂ alone: ΔE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and A/A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ref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07170" y="100584"/>
            <a:ext cx="27816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pressure_sweep.py:29–121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Pressure sweep: p(H₂) from 0.01 to 100 bar at fixed purity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 impurity keeps its ratio to H₂, so only the total pressure changes: 2 × 9 × 9 = 162 solves.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434340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4069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grid: 2 temperatures × 9 pressures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93976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300" b="0" i="0">
                <a:solidFill>
                  <a:srgbClr val="4E5661"/>
                </a:solidFill>
                <a:latin typeface="Calibri"/>
              </a:rPr>
              <a:t>650 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240280"/>
            <a:ext cx="306324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39596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2501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5406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88311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71216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54121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7026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9931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02836" y="21625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51176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300" b="0" i="0">
                <a:solidFill>
                  <a:srgbClr val="4E5661"/>
                </a:solidFill>
                <a:latin typeface="Calibri"/>
              </a:rPr>
              <a:t>1200 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2697480"/>
            <a:ext cx="306324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339596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22501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05406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88311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71216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54121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7026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19931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2836" y="2619756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2852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0.01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1740" y="2852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852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100 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24612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p(H₂) on a log grid, 2 per decade; × 9 cases =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162 solves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794760"/>
            <a:ext cx="4023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Each impurity keeps its ratio to H₂: the same purity at every pressure.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34840"/>
            <a:ext cx="402336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pressure_sweep.csv, half_rate_pressure.csv; pressure_sweep.png and _per_area.png (J</a:t>
            </a:r>
            <a:r>
              <a:rPr sz="1200" b="0" i="0" baseline="-25000">
                <a:solidFill>
                  <a:srgbClr val="4E5661"/>
                </a:solidFill>
                <a:latin typeface="Calibri"/>
              </a:rPr>
              <a:t>diss</a:t>
            </a:r>
            <a:r>
              <a:rPr sz="1200" b="0" i="0">
                <a:solidFill>
                  <a:srgbClr val="4E5661"/>
                </a:solidFill>
                <a:latin typeface="Calibri"/>
              </a:rPr>
              <a:t>); surface_exchange_vs_P.png; pressure_sweep_coverages_650K.png and _1200K.png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1627632"/>
            <a:ext cx="2148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(a) TOF, log–log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40680" y="3337560"/>
            <a:ext cx="178308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440680" y="196596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40680" y="337413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22776" y="24003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43" name="TextBox 42"/>
          <p:cNvSpPr txBox="1"/>
          <p:nvPr/>
        </p:nvSpPr>
        <p:spPr>
          <a:xfrm>
            <a:off x="5440680" y="3374136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p(H₂),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1627632"/>
            <a:ext cx="2148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(b) local slope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89520" y="3337560"/>
            <a:ext cx="178308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589520" y="196596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89520" y="337413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71616" y="24003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49" name="TextBox 48"/>
          <p:cNvSpPr txBox="1"/>
          <p:nvPr/>
        </p:nvSpPr>
        <p:spPr>
          <a:xfrm>
            <a:off x="7589520" y="3374136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p(H₂), 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1627632"/>
            <a:ext cx="21488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(c) Π, and p</a:t>
            </a:r>
            <a:r>
              <a:rPr sz="1300" b="1" i="0" baseline="-25000">
                <a:solidFill>
                  <a:srgbClr val="1F2328"/>
                </a:solidFill>
                <a:latin typeface="Calibri"/>
              </a:rPr>
              <a:t>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38360" y="3337560"/>
            <a:ext cx="178308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738360" y="1965960"/>
            <a:ext cx="0" cy="137160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738360" y="3374136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0456" y="240030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55" name="TextBox 54"/>
          <p:cNvSpPr txBox="1"/>
          <p:nvPr/>
        </p:nvSpPr>
        <p:spPr>
          <a:xfrm>
            <a:off x="9738360" y="3374136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p(H₂), 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639312"/>
            <a:ext cx="1051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</a:t>
            </a:r>
          </a:p>
        </p:txBody>
      </p:sp>
      <p:sp>
        <p:nvSpPr>
          <p:cNvPr id="57" name="Freeform 56"/>
          <p:cNvSpPr/>
          <p:nvPr/>
        </p:nvSpPr>
        <p:spPr>
          <a:xfrm>
            <a:off x="5440680" y="2223820"/>
            <a:ext cx="1783080" cy="954634"/>
          </a:xfrm>
          <a:custGeom>
            <a:avLst/>
            <a:gdLst/>
            <a:ahLst/>
            <a:cxnLst/>
            <a:rect l="l" t="t" r="r" b="b"/>
            <a:pathLst>
              <a:path w="1783080" h="954634">
                <a:moveTo>
                  <a:pt x="0" y="954634"/>
                </a:moveTo>
                <a:lnTo>
                  <a:pt x="29718" y="938723"/>
                </a:lnTo>
                <a:lnTo>
                  <a:pt x="59436" y="922813"/>
                </a:lnTo>
                <a:lnTo>
                  <a:pt x="89154" y="906902"/>
                </a:lnTo>
                <a:lnTo>
                  <a:pt x="118872" y="890992"/>
                </a:lnTo>
                <a:lnTo>
                  <a:pt x="148590" y="875081"/>
                </a:lnTo>
                <a:lnTo>
                  <a:pt x="178308" y="859171"/>
                </a:lnTo>
                <a:lnTo>
                  <a:pt x="208026" y="843260"/>
                </a:lnTo>
                <a:lnTo>
                  <a:pt x="237744" y="827349"/>
                </a:lnTo>
                <a:lnTo>
                  <a:pt x="267462" y="811439"/>
                </a:lnTo>
                <a:lnTo>
                  <a:pt x="297180" y="795528"/>
                </a:lnTo>
                <a:lnTo>
                  <a:pt x="326898" y="779618"/>
                </a:lnTo>
                <a:lnTo>
                  <a:pt x="356616" y="763707"/>
                </a:lnTo>
                <a:lnTo>
                  <a:pt x="386334" y="747797"/>
                </a:lnTo>
                <a:lnTo>
                  <a:pt x="416052" y="731886"/>
                </a:lnTo>
                <a:lnTo>
                  <a:pt x="445770" y="715976"/>
                </a:lnTo>
                <a:lnTo>
                  <a:pt x="475488" y="700065"/>
                </a:lnTo>
                <a:lnTo>
                  <a:pt x="505206" y="684154"/>
                </a:lnTo>
                <a:lnTo>
                  <a:pt x="534924" y="668244"/>
                </a:lnTo>
                <a:lnTo>
                  <a:pt x="564642" y="652333"/>
                </a:lnTo>
                <a:lnTo>
                  <a:pt x="594360" y="636423"/>
                </a:lnTo>
                <a:lnTo>
                  <a:pt x="624078" y="620512"/>
                </a:lnTo>
                <a:lnTo>
                  <a:pt x="653796" y="604602"/>
                </a:lnTo>
                <a:lnTo>
                  <a:pt x="683514" y="588691"/>
                </a:lnTo>
                <a:lnTo>
                  <a:pt x="713232" y="572780"/>
                </a:lnTo>
                <a:lnTo>
                  <a:pt x="742950" y="556870"/>
                </a:lnTo>
                <a:lnTo>
                  <a:pt x="772668" y="540959"/>
                </a:lnTo>
                <a:lnTo>
                  <a:pt x="802386" y="525049"/>
                </a:lnTo>
                <a:lnTo>
                  <a:pt x="832104" y="509138"/>
                </a:lnTo>
                <a:lnTo>
                  <a:pt x="861822" y="493228"/>
                </a:lnTo>
                <a:lnTo>
                  <a:pt x="891540" y="477317"/>
                </a:lnTo>
                <a:lnTo>
                  <a:pt x="921258" y="461407"/>
                </a:lnTo>
                <a:lnTo>
                  <a:pt x="950976" y="445496"/>
                </a:lnTo>
                <a:lnTo>
                  <a:pt x="980694" y="429585"/>
                </a:lnTo>
                <a:lnTo>
                  <a:pt x="1010412" y="413675"/>
                </a:lnTo>
                <a:lnTo>
                  <a:pt x="1040130" y="397764"/>
                </a:lnTo>
                <a:lnTo>
                  <a:pt x="1069848" y="381854"/>
                </a:lnTo>
                <a:lnTo>
                  <a:pt x="1099566" y="365943"/>
                </a:lnTo>
                <a:lnTo>
                  <a:pt x="1129284" y="350033"/>
                </a:lnTo>
                <a:lnTo>
                  <a:pt x="1159002" y="334122"/>
                </a:lnTo>
                <a:lnTo>
                  <a:pt x="1188720" y="318212"/>
                </a:lnTo>
                <a:lnTo>
                  <a:pt x="1218438" y="302301"/>
                </a:lnTo>
                <a:lnTo>
                  <a:pt x="1248156" y="286390"/>
                </a:lnTo>
                <a:lnTo>
                  <a:pt x="1277874" y="270480"/>
                </a:lnTo>
                <a:lnTo>
                  <a:pt x="1307592" y="254569"/>
                </a:lnTo>
                <a:lnTo>
                  <a:pt x="1337310" y="238659"/>
                </a:lnTo>
                <a:lnTo>
                  <a:pt x="1367028" y="222748"/>
                </a:lnTo>
                <a:lnTo>
                  <a:pt x="1396746" y="206838"/>
                </a:lnTo>
                <a:lnTo>
                  <a:pt x="1426464" y="190927"/>
                </a:lnTo>
                <a:lnTo>
                  <a:pt x="1456182" y="175016"/>
                </a:lnTo>
                <a:lnTo>
                  <a:pt x="1485900" y="159106"/>
                </a:lnTo>
                <a:lnTo>
                  <a:pt x="1515618" y="143195"/>
                </a:lnTo>
                <a:lnTo>
                  <a:pt x="1545336" y="127285"/>
                </a:lnTo>
                <a:lnTo>
                  <a:pt x="1575054" y="111374"/>
                </a:lnTo>
                <a:lnTo>
                  <a:pt x="1604772" y="95464"/>
                </a:lnTo>
                <a:lnTo>
                  <a:pt x="1634490" y="79553"/>
                </a:lnTo>
                <a:lnTo>
                  <a:pt x="1664208" y="63643"/>
                </a:lnTo>
                <a:lnTo>
                  <a:pt x="1693926" y="47732"/>
                </a:lnTo>
                <a:lnTo>
                  <a:pt x="1723644" y="31821"/>
                </a:lnTo>
                <a:lnTo>
                  <a:pt x="1753362" y="15911"/>
                </a:lnTo>
                <a:lnTo>
                  <a:pt x="1783080" y="0"/>
                </a:lnTo>
              </a:path>
            </a:pathLst>
          </a:custGeom>
          <a:noFill/>
          <a:ln w="254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440680" y="2892487"/>
            <a:ext cx="1783080" cy="339002"/>
          </a:xfrm>
          <a:custGeom>
            <a:avLst/>
            <a:gdLst/>
            <a:ahLst/>
            <a:cxnLst/>
            <a:rect l="l" t="t" r="r" b="b"/>
            <a:pathLst>
              <a:path w="1783080" h="339002">
                <a:moveTo>
                  <a:pt x="0" y="339002"/>
                </a:moveTo>
                <a:lnTo>
                  <a:pt x="29718" y="322631"/>
                </a:lnTo>
                <a:lnTo>
                  <a:pt x="59436" y="306665"/>
                </a:lnTo>
                <a:lnTo>
                  <a:pt x="89154" y="291105"/>
                </a:lnTo>
                <a:lnTo>
                  <a:pt x="118872" y="275949"/>
                </a:lnTo>
                <a:lnTo>
                  <a:pt x="148590" y="261199"/>
                </a:lnTo>
                <a:lnTo>
                  <a:pt x="178308" y="246853"/>
                </a:lnTo>
                <a:lnTo>
                  <a:pt x="208026" y="232913"/>
                </a:lnTo>
                <a:lnTo>
                  <a:pt x="237744" y="219378"/>
                </a:lnTo>
                <a:lnTo>
                  <a:pt x="267462" y="206248"/>
                </a:lnTo>
                <a:lnTo>
                  <a:pt x="297180" y="193524"/>
                </a:lnTo>
                <a:lnTo>
                  <a:pt x="326898" y="181204"/>
                </a:lnTo>
                <a:lnTo>
                  <a:pt x="356616" y="169289"/>
                </a:lnTo>
                <a:lnTo>
                  <a:pt x="386334" y="157780"/>
                </a:lnTo>
                <a:lnTo>
                  <a:pt x="416052" y="146676"/>
                </a:lnTo>
                <a:lnTo>
                  <a:pt x="445770" y="135977"/>
                </a:lnTo>
                <a:lnTo>
                  <a:pt x="475488" y="125683"/>
                </a:lnTo>
                <a:lnTo>
                  <a:pt x="505206" y="115794"/>
                </a:lnTo>
                <a:lnTo>
                  <a:pt x="534924" y="106310"/>
                </a:lnTo>
                <a:lnTo>
                  <a:pt x="564642" y="97232"/>
                </a:lnTo>
                <a:lnTo>
                  <a:pt x="594360" y="88558"/>
                </a:lnTo>
                <a:lnTo>
                  <a:pt x="624078" y="80290"/>
                </a:lnTo>
                <a:lnTo>
                  <a:pt x="653796" y="72427"/>
                </a:lnTo>
                <a:lnTo>
                  <a:pt x="683514" y="64968"/>
                </a:lnTo>
                <a:lnTo>
                  <a:pt x="713232" y="57916"/>
                </a:lnTo>
                <a:lnTo>
                  <a:pt x="742950" y="51268"/>
                </a:lnTo>
                <a:lnTo>
                  <a:pt x="772668" y="45025"/>
                </a:lnTo>
                <a:lnTo>
                  <a:pt x="802386" y="39187"/>
                </a:lnTo>
                <a:lnTo>
                  <a:pt x="832104" y="33755"/>
                </a:lnTo>
                <a:lnTo>
                  <a:pt x="861822" y="28728"/>
                </a:lnTo>
                <a:lnTo>
                  <a:pt x="891540" y="24106"/>
                </a:lnTo>
                <a:lnTo>
                  <a:pt x="921258" y="19889"/>
                </a:lnTo>
                <a:lnTo>
                  <a:pt x="950976" y="16077"/>
                </a:lnTo>
                <a:lnTo>
                  <a:pt x="980694" y="12670"/>
                </a:lnTo>
                <a:lnTo>
                  <a:pt x="1010412" y="9668"/>
                </a:lnTo>
                <a:lnTo>
                  <a:pt x="1040130" y="7072"/>
                </a:lnTo>
                <a:lnTo>
                  <a:pt x="1069848" y="4880"/>
                </a:lnTo>
                <a:lnTo>
                  <a:pt x="1099566" y="3094"/>
                </a:lnTo>
                <a:lnTo>
                  <a:pt x="1129284" y="1713"/>
                </a:lnTo>
                <a:lnTo>
                  <a:pt x="1159002" y="737"/>
                </a:lnTo>
                <a:lnTo>
                  <a:pt x="1188720" y="166"/>
                </a:lnTo>
                <a:lnTo>
                  <a:pt x="1218438" y="0"/>
                </a:lnTo>
                <a:lnTo>
                  <a:pt x="1248156" y="240"/>
                </a:lnTo>
                <a:lnTo>
                  <a:pt x="1277874" y="884"/>
                </a:lnTo>
                <a:lnTo>
                  <a:pt x="1307592" y="1934"/>
                </a:lnTo>
                <a:lnTo>
                  <a:pt x="1337310" y="3389"/>
                </a:lnTo>
                <a:lnTo>
                  <a:pt x="1367028" y="5249"/>
                </a:lnTo>
                <a:lnTo>
                  <a:pt x="1396746" y="7514"/>
                </a:lnTo>
                <a:lnTo>
                  <a:pt x="1426464" y="10184"/>
                </a:lnTo>
                <a:lnTo>
                  <a:pt x="1456182" y="13259"/>
                </a:lnTo>
                <a:lnTo>
                  <a:pt x="1485900" y="16740"/>
                </a:lnTo>
                <a:lnTo>
                  <a:pt x="1515618" y="20625"/>
                </a:lnTo>
                <a:lnTo>
                  <a:pt x="1545336" y="24916"/>
                </a:lnTo>
                <a:lnTo>
                  <a:pt x="1575054" y="29612"/>
                </a:lnTo>
                <a:lnTo>
                  <a:pt x="1604772" y="34713"/>
                </a:lnTo>
                <a:lnTo>
                  <a:pt x="1634490" y="40219"/>
                </a:lnTo>
                <a:lnTo>
                  <a:pt x="1664208" y="46130"/>
                </a:lnTo>
                <a:lnTo>
                  <a:pt x="1693926" y="52446"/>
                </a:lnTo>
                <a:lnTo>
                  <a:pt x="1723644" y="59168"/>
                </a:lnTo>
                <a:lnTo>
                  <a:pt x="1753362" y="66294"/>
                </a:lnTo>
                <a:lnTo>
                  <a:pt x="1783080" y="73826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589520" y="2122170"/>
            <a:ext cx="178308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132320" y="198501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+1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589520" y="2674620"/>
            <a:ext cx="1783080" cy="0"/>
          </a:xfrm>
          <a:prstGeom prst="line">
            <a:avLst/>
          </a:prstGeom>
          <a:ln w="9525">
            <a:solidFill>
              <a:srgbClr val="4E5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132320" y="253746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589520" y="3227070"/>
            <a:ext cx="178308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32320" y="308991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−1</a:t>
            </a:r>
          </a:p>
        </p:txBody>
      </p:sp>
      <p:sp>
        <p:nvSpPr>
          <p:cNvPr id="65" name="Freeform 64"/>
          <p:cNvSpPr/>
          <p:nvPr/>
        </p:nvSpPr>
        <p:spPr>
          <a:xfrm>
            <a:off x="7589520" y="2122170"/>
            <a:ext cx="1783080" cy="193357"/>
          </a:xfrm>
          <a:custGeom>
            <a:avLst/>
            <a:gdLst/>
            <a:ahLst/>
            <a:cxnLst/>
            <a:rect l="l" t="t" r="r" b="b"/>
            <a:pathLst>
              <a:path w="1783080" h="193357">
                <a:moveTo>
                  <a:pt x="0" y="0"/>
                </a:moveTo>
                <a:lnTo>
                  <a:pt x="29718" y="3222"/>
                </a:lnTo>
                <a:lnTo>
                  <a:pt x="59436" y="6445"/>
                </a:lnTo>
                <a:lnTo>
                  <a:pt x="89154" y="9667"/>
                </a:lnTo>
                <a:lnTo>
                  <a:pt x="118872" y="12890"/>
                </a:lnTo>
                <a:lnTo>
                  <a:pt x="148590" y="16113"/>
                </a:lnTo>
                <a:lnTo>
                  <a:pt x="178308" y="19335"/>
                </a:lnTo>
                <a:lnTo>
                  <a:pt x="208026" y="22558"/>
                </a:lnTo>
                <a:lnTo>
                  <a:pt x="237744" y="25781"/>
                </a:lnTo>
                <a:lnTo>
                  <a:pt x="267462" y="29003"/>
                </a:lnTo>
                <a:lnTo>
                  <a:pt x="297180" y="32226"/>
                </a:lnTo>
                <a:lnTo>
                  <a:pt x="326898" y="35448"/>
                </a:lnTo>
                <a:lnTo>
                  <a:pt x="356616" y="38671"/>
                </a:lnTo>
                <a:lnTo>
                  <a:pt x="386334" y="41894"/>
                </a:lnTo>
                <a:lnTo>
                  <a:pt x="416052" y="45116"/>
                </a:lnTo>
                <a:lnTo>
                  <a:pt x="445770" y="48339"/>
                </a:lnTo>
                <a:lnTo>
                  <a:pt x="475488" y="51562"/>
                </a:lnTo>
                <a:lnTo>
                  <a:pt x="505206" y="54784"/>
                </a:lnTo>
                <a:lnTo>
                  <a:pt x="534924" y="58007"/>
                </a:lnTo>
                <a:lnTo>
                  <a:pt x="564642" y="61229"/>
                </a:lnTo>
                <a:lnTo>
                  <a:pt x="594360" y="64452"/>
                </a:lnTo>
                <a:lnTo>
                  <a:pt x="624078" y="67675"/>
                </a:lnTo>
                <a:lnTo>
                  <a:pt x="653796" y="70897"/>
                </a:lnTo>
                <a:lnTo>
                  <a:pt x="683514" y="74120"/>
                </a:lnTo>
                <a:lnTo>
                  <a:pt x="713232" y="77343"/>
                </a:lnTo>
                <a:lnTo>
                  <a:pt x="742950" y="80565"/>
                </a:lnTo>
                <a:lnTo>
                  <a:pt x="772668" y="83788"/>
                </a:lnTo>
                <a:lnTo>
                  <a:pt x="802386" y="87010"/>
                </a:lnTo>
                <a:lnTo>
                  <a:pt x="832104" y="90233"/>
                </a:lnTo>
                <a:lnTo>
                  <a:pt x="861822" y="93456"/>
                </a:lnTo>
                <a:lnTo>
                  <a:pt x="891540" y="96678"/>
                </a:lnTo>
                <a:lnTo>
                  <a:pt x="921258" y="99901"/>
                </a:lnTo>
                <a:lnTo>
                  <a:pt x="950976" y="103124"/>
                </a:lnTo>
                <a:lnTo>
                  <a:pt x="980694" y="106346"/>
                </a:lnTo>
                <a:lnTo>
                  <a:pt x="1010412" y="109569"/>
                </a:lnTo>
                <a:lnTo>
                  <a:pt x="1040130" y="112791"/>
                </a:lnTo>
                <a:lnTo>
                  <a:pt x="1069848" y="116014"/>
                </a:lnTo>
                <a:lnTo>
                  <a:pt x="1099566" y="119237"/>
                </a:lnTo>
                <a:lnTo>
                  <a:pt x="1129284" y="122459"/>
                </a:lnTo>
                <a:lnTo>
                  <a:pt x="1159002" y="125682"/>
                </a:lnTo>
                <a:lnTo>
                  <a:pt x="1188720" y="128905"/>
                </a:lnTo>
                <a:lnTo>
                  <a:pt x="1218438" y="132127"/>
                </a:lnTo>
                <a:lnTo>
                  <a:pt x="1248156" y="135350"/>
                </a:lnTo>
                <a:lnTo>
                  <a:pt x="1277874" y="138572"/>
                </a:lnTo>
                <a:lnTo>
                  <a:pt x="1307592" y="141795"/>
                </a:lnTo>
                <a:lnTo>
                  <a:pt x="1337310" y="145018"/>
                </a:lnTo>
                <a:lnTo>
                  <a:pt x="1367028" y="148240"/>
                </a:lnTo>
                <a:lnTo>
                  <a:pt x="1396746" y="151463"/>
                </a:lnTo>
                <a:lnTo>
                  <a:pt x="1426464" y="154686"/>
                </a:lnTo>
                <a:lnTo>
                  <a:pt x="1456182" y="157908"/>
                </a:lnTo>
                <a:lnTo>
                  <a:pt x="1485900" y="161131"/>
                </a:lnTo>
                <a:lnTo>
                  <a:pt x="1515618" y="164353"/>
                </a:lnTo>
                <a:lnTo>
                  <a:pt x="1545336" y="167576"/>
                </a:lnTo>
                <a:lnTo>
                  <a:pt x="1575054" y="170799"/>
                </a:lnTo>
                <a:lnTo>
                  <a:pt x="1604772" y="174021"/>
                </a:lnTo>
                <a:lnTo>
                  <a:pt x="1634490" y="177244"/>
                </a:lnTo>
                <a:lnTo>
                  <a:pt x="1664208" y="180467"/>
                </a:lnTo>
                <a:lnTo>
                  <a:pt x="1693926" y="183689"/>
                </a:lnTo>
                <a:lnTo>
                  <a:pt x="1723644" y="186912"/>
                </a:lnTo>
                <a:lnTo>
                  <a:pt x="1753362" y="190134"/>
                </a:lnTo>
                <a:lnTo>
                  <a:pt x="1783080" y="193357"/>
                </a:lnTo>
              </a:path>
            </a:pathLst>
          </a:custGeom>
          <a:noFill/>
          <a:ln w="254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89520" y="2122170"/>
            <a:ext cx="1783080" cy="1049655"/>
          </a:xfrm>
          <a:custGeom>
            <a:avLst/>
            <a:gdLst/>
            <a:ahLst/>
            <a:cxnLst/>
            <a:rect l="l" t="t" r="r" b="b"/>
            <a:pathLst>
              <a:path w="1783080" h="1049655">
                <a:moveTo>
                  <a:pt x="0" y="0"/>
                </a:moveTo>
                <a:lnTo>
                  <a:pt x="29718" y="3401"/>
                </a:lnTo>
                <a:lnTo>
                  <a:pt x="59436" y="8975"/>
                </a:lnTo>
                <a:lnTo>
                  <a:pt x="89154" y="15834"/>
                </a:lnTo>
                <a:lnTo>
                  <a:pt x="118872" y="23687"/>
                </a:lnTo>
                <a:lnTo>
                  <a:pt x="148590" y="32373"/>
                </a:lnTo>
                <a:lnTo>
                  <a:pt x="178308" y="41787"/>
                </a:lnTo>
                <a:lnTo>
                  <a:pt x="208026" y="51852"/>
                </a:lnTo>
                <a:lnTo>
                  <a:pt x="237744" y="62511"/>
                </a:lnTo>
                <a:lnTo>
                  <a:pt x="267462" y="73718"/>
                </a:lnTo>
                <a:lnTo>
                  <a:pt x="297180" y="85434"/>
                </a:lnTo>
                <a:lnTo>
                  <a:pt x="326898" y="97630"/>
                </a:lnTo>
                <a:lnTo>
                  <a:pt x="356616" y="110277"/>
                </a:lnTo>
                <a:lnTo>
                  <a:pt x="386334" y="123354"/>
                </a:lnTo>
                <a:lnTo>
                  <a:pt x="416052" y="136840"/>
                </a:lnTo>
                <a:lnTo>
                  <a:pt x="445770" y="150717"/>
                </a:lnTo>
                <a:lnTo>
                  <a:pt x="475488" y="164969"/>
                </a:lnTo>
                <a:lnTo>
                  <a:pt x="505206" y="179582"/>
                </a:lnTo>
                <a:lnTo>
                  <a:pt x="534924" y="194543"/>
                </a:lnTo>
                <a:lnTo>
                  <a:pt x="564642" y="209840"/>
                </a:lnTo>
                <a:lnTo>
                  <a:pt x="594360" y="225463"/>
                </a:lnTo>
                <a:lnTo>
                  <a:pt x="624078" y="241402"/>
                </a:lnTo>
                <a:lnTo>
                  <a:pt x="653796" y="257647"/>
                </a:lnTo>
                <a:lnTo>
                  <a:pt x="683514" y="274191"/>
                </a:lnTo>
                <a:lnTo>
                  <a:pt x="713232" y="291025"/>
                </a:lnTo>
                <a:lnTo>
                  <a:pt x="742950" y="308141"/>
                </a:lnTo>
                <a:lnTo>
                  <a:pt x="772668" y="325534"/>
                </a:lnTo>
                <a:lnTo>
                  <a:pt x="802386" y="343197"/>
                </a:lnTo>
                <a:lnTo>
                  <a:pt x="832104" y="361123"/>
                </a:lnTo>
                <a:lnTo>
                  <a:pt x="861822" y="379308"/>
                </a:lnTo>
                <a:lnTo>
                  <a:pt x="891540" y="397744"/>
                </a:lnTo>
                <a:lnTo>
                  <a:pt x="921258" y="416429"/>
                </a:lnTo>
                <a:lnTo>
                  <a:pt x="950976" y="435356"/>
                </a:lnTo>
                <a:lnTo>
                  <a:pt x="980694" y="454521"/>
                </a:lnTo>
                <a:lnTo>
                  <a:pt x="1010412" y="473920"/>
                </a:lnTo>
                <a:lnTo>
                  <a:pt x="1040130" y="493548"/>
                </a:lnTo>
                <a:lnTo>
                  <a:pt x="1069848" y="513402"/>
                </a:lnTo>
                <a:lnTo>
                  <a:pt x="1099566" y="533478"/>
                </a:lnTo>
                <a:lnTo>
                  <a:pt x="1129284" y="553773"/>
                </a:lnTo>
                <a:lnTo>
                  <a:pt x="1159002" y="574282"/>
                </a:lnTo>
                <a:lnTo>
                  <a:pt x="1188720" y="595002"/>
                </a:lnTo>
                <a:lnTo>
                  <a:pt x="1218438" y="615931"/>
                </a:lnTo>
                <a:lnTo>
                  <a:pt x="1248156" y="637065"/>
                </a:lnTo>
                <a:lnTo>
                  <a:pt x="1277874" y="658401"/>
                </a:lnTo>
                <a:lnTo>
                  <a:pt x="1307592" y="679936"/>
                </a:lnTo>
                <a:lnTo>
                  <a:pt x="1337310" y="701669"/>
                </a:lnTo>
                <a:lnTo>
                  <a:pt x="1367028" y="723595"/>
                </a:lnTo>
                <a:lnTo>
                  <a:pt x="1396746" y="745713"/>
                </a:lnTo>
                <a:lnTo>
                  <a:pt x="1426464" y="768020"/>
                </a:lnTo>
                <a:lnTo>
                  <a:pt x="1456182" y="790513"/>
                </a:lnTo>
                <a:lnTo>
                  <a:pt x="1485900" y="813191"/>
                </a:lnTo>
                <a:lnTo>
                  <a:pt x="1515618" y="836051"/>
                </a:lnTo>
                <a:lnTo>
                  <a:pt x="1545336" y="859091"/>
                </a:lnTo>
                <a:lnTo>
                  <a:pt x="1575054" y="882309"/>
                </a:lnTo>
                <a:lnTo>
                  <a:pt x="1604772" y="905703"/>
                </a:lnTo>
                <a:lnTo>
                  <a:pt x="1634490" y="929271"/>
                </a:lnTo>
                <a:lnTo>
                  <a:pt x="1664208" y="953011"/>
                </a:lnTo>
                <a:lnTo>
                  <a:pt x="1693926" y="976921"/>
                </a:lnTo>
                <a:lnTo>
                  <a:pt x="1723644" y="1000999"/>
                </a:lnTo>
                <a:lnTo>
                  <a:pt x="1753362" y="1025244"/>
                </a:lnTo>
                <a:lnTo>
                  <a:pt x="1783080" y="1049655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738360" y="2674620"/>
            <a:ext cx="178308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9738360" y="2141044"/>
            <a:ext cx="1783080" cy="1067151"/>
          </a:xfrm>
          <a:custGeom>
            <a:avLst/>
            <a:gdLst/>
            <a:ahLst/>
            <a:cxnLst/>
            <a:rect l="l" t="t" r="r" b="b"/>
            <a:pathLst>
              <a:path w="1783080" h="1067151">
                <a:moveTo>
                  <a:pt x="0" y="0"/>
                </a:moveTo>
                <a:lnTo>
                  <a:pt x="29718" y="3110"/>
                </a:lnTo>
                <a:lnTo>
                  <a:pt x="59436" y="6625"/>
                </a:lnTo>
                <a:lnTo>
                  <a:pt x="89154" y="10593"/>
                </a:lnTo>
                <a:lnTo>
                  <a:pt x="118872" y="15069"/>
                </a:lnTo>
                <a:lnTo>
                  <a:pt x="148590" y="20112"/>
                </a:lnTo>
                <a:lnTo>
                  <a:pt x="178308" y="25788"/>
                </a:lnTo>
                <a:lnTo>
                  <a:pt x="208026" y="32167"/>
                </a:lnTo>
                <a:lnTo>
                  <a:pt x="237744" y="39327"/>
                </a:lnTo>
                <a:lnTo>
                  <a:pt x="267462" y="47349"/>
                </a:lnTo>
                <a:lnTo>
                  <a:pt x="297180" y="56321"/>
                </a:lnTo>
                <a:lnTo>
                  <a:pt x="326898" y="66335"/>
                </a:lnTo>
                <a:lnTo>
                  <a:pt x="356616" y="77486"/>
                </a:lnTo>
                <a:lnTo>
                  <a:pt x="386334" y="89870"/>
                </a:lnTo>
                <a:lnTo>
                  <a:pt x="416052" y="103586"/>
                </a:lnTo>
                <a:lnTo>
                  <a:pt x="445770" y="118729"/>
                </a:lnTo>
                <a:lnTo>
                  <a:pt x="475488" y="135388"/>
                </a:lnTo>
                <a:lnTo>
                  <a:pt x="505206" y="153645"/>
                </a:lnTo>
                <a:lnTo>
                  <a:pt x="534924" y="173569"/>
                </a:lnTo>
                <a:lnTo>
                  <a:pt x="564642" y="195214"/>
                </a:lnTo>
                <a:lnTo>
                  <a:pt x="594360" y="218611"/>
                </a:lnTo>
                <a:lnTo>
                  <a:pt x="624078" y="243766"/>
                </a:lnTo>
                <a:lnTo>
                  <a:pt x="653796" y="270655"/>
                </a:lnTo>
                <a:lnTo>
                  <a:pt x="683514" y="299220"/>
                </a:lnTo>
                <a:lnTo>
                  <a:pt x="713232" y="329366"/>
                </a:lnTo>
                <a:lnTo>
                  <a:pt x="742950" y="360962"/>
                </a:lnTo>
                <a:lnTo>
                  <a:pt x="772668" y="393837"/>
                </a:lnTo>
                <a:lnTo>
                  <a:pt x="802386" y="427786"/>
                </a:lnTo>
                <a:lnTo>
                  <a:pt x="832104" y="462571"/>
                </a:lnTo>
                <a:lnTo>
                  <a:pt x="861822" y="497928"/>
                </a:lnTo>
                <a:lnTo>
                  <a:pt x="891540" y="533576"/>
                </a:lnTo>
                <a:lnTo>
                  <a:pt x="921258" y="569223"/>
                </a:lnTo>
                <a:lnTo>
                  <a:pt x="950976" y="604580"/>
                </a:lnTo>
                <a:lnTo>
                  <a:pt x="980694" y="639365"/>
                </a:lnTo>
                <a:lnTo>
                  <a:pt x="1010412" y="673314"/>
                </a:lnTo>
                <a:lnTo>
                  <a:pt x="1040130" y="706189"/>
                </a:lnTo>
                <a:lnTo>
                  <a:pt x="1069848" y="737785"/>
                </a:lnTo>
                <a:lnTo>
                  <a:pt x="1099566" y="767931"/>
                </a:lnTo>
                <a:lnTo>
                  <a:pt x="1129284" y="796496"/>
                </a:lnTo>
                <a:lnTo>
                  <a:pt x="1159002" y="823385"/>
                </a:lnTo>
                <a:lnTo>
                  <a:pt x="1188720" y="848540"/>
                </a:lnTo>
                <a:lnTo>
                  <a:pt x="1218438" y="871937"/>
                </a:lnTo>
                <a:lnTo>
                  <a:pt x="1248156" y="893582"/>
                </a:lnTo>
                <a:lnTo>
                  <a:pt x="1277874" y="913506"/>
                </a:lnTo>
                <a:lnTo>
                  <a:pt x="1307592" y="931763"/>
                </a:lnTo>
                <a:lnTo>
                  <a:pt x="1337310" y="948422"/>
                </a:lnTo>
                <a:lnTo>
                  <a:pt x="1367028" y="963565"/>
                </a:lnTo>
                <a:lnTo>
                  <a:pt x="1396746" y="977281"/>
                </a:lnTo>
                <a:lnTo>
                  <a:pt x="1426464" y="989665"/>
                </a:lnTo>
                <a:lnTo>
                  <a:pt x="1456182" y="1000816"/>
                </a:lnTo>
                <a:lnTo>
                  <a:pt x="1485900" y="1010830"/>
                </a:lnTo>
                <a:lnTo>
                  <a:pt x="1515618" y="1019802"/>
                </a:lnTo>
                <a:lnTo>
                  <a:pt x="1545336" y="1027824"/>
                </a:lnTo>
                <a:lnTo>
                  <a:pt x="1575054" y="1034984"/>
                </a:lnTo>
                <a:lnTo>
                  <a:pt x="1604772" y="1041363"/>
                </a:lnTo>
                <a:lnTo>
                  <a:pt x="1634490" y="1047039"/>
                </a:lnTo>
                <a:lnTo>
                  <a:pt x="1664208" y="1052082"/>
                </a:lnTo>
                <a:lnTo>
                  <a:pt x="1693926" y="1056558"/>
                </a:lnTo>
                <a:lnTo>
                  <a:pt x="1723644" y="1060526"/>
                </a:lnTo>
                <a:lnTo>
                  <a:pt x="1753362" y="1064041"/>
                </a:lnTo>
                <a:lnTo>
                  <a:pt x="1783080" y="1067151"/>
                </a:lnTo>
              </a:path>
            </a:pathLst>
          </a:custGeom>
          <a:noFill/>
          <a:ln w="25400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iamond 68"/>
          <p:cNvSpPr/>
          <p:nvPr/>
        </p:nvSpPr>
        <p:spPr>
          <a:xfrm>
            <a:off x="10538460" y="2583180"/>
            <a:ext cx="182880" cy="1828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5440680" y="3767328"/>
            <a:ext cx="411480" cy="0"/>
          </a:xfrm>
          <a:prstGeom prst="line">
            <a:avLst/>
          </a:prstGeom>
          <a:ln w="254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916168" y="3630168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H₂ only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858000" y="3767328"/>
            <a:ext cx="411480" cy="0"/>
          </a:xfrm>
          <a:prstGeom prst="line">
            <a:avLst/>
          </a:prstGeom>
          <a:ln w="25400">
            <a:solidFill>
              <a:srgbClr val="B832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333488" y="3630168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an impurity case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74920" y="4069080"/>
            <a:ext cx="6611112" cy="1307592"/>
          </a:xfrm>
          <a:prstGeom prst="roundRect">
            <a:avLst>
              <a:gd name="adj" fmla="val 6993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0" y="4160520"/>
            <a:ext cx="6336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For a two-site step, the slope tends 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7800" y="4425696"/>
            <a:ext cx="6309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+1 on an almost empty surface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0 when H∗ fills it,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∝ p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−1/2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−1 when a strongly bound impurity holds it at fixed purity,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∝ 1/p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650 and 1200 K, step p(H₂) over 9 pressures.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Scale every impurity with H₂: the same purity.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Take the local slope d ln TOF / d ln p.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Find where Π crosses 0.5, and in which direction.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34855" y="100584"/>
            <a:ext cx="25539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equilibrium.py:39–152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Equilibrium coverage and q: is the H₂ step at equilibrium?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From the thermochemistry alone, with no solving; then every steady state is checked against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57784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Where H₂ + 2∗ ⇌ 2H∗ alone puts the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03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mbria"/>
              </a:rPr>
              <a:t>K = e</a:t>
            </a:r>
            <a:r>
              <a:rPr sz="1600" b="0" i="0" baseline="30000">
                <a:solidFill>
                  <a:srgbClr val="1F2328"/>
                </a:solidFill>
                <a:latin typeface="Cambria"/>
              </a:rPr>
              <a:t>−ΔG°/RT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P°/P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thermo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RMG’s thermochemistry is at 1 atm; K is at P° = 1 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x = (K p/P°)</a:t>
            </a:r>
            <a:r>
              <a:rPr sz="1500" b="0" i="0" baseline="30000">
                <a:solidFill>
                  <a:srgbClr val="1F2328"/>
                </a:solidFill>
                <a:latin typeface="Cambria"/>
              </a:rPr>
              <a:t>1/2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0088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H,eq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x/(1 + x),    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v,eq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1/(1 + 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28416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1F2328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H,eq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H,eq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Γ,    J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0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= k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d</a:t>
            </a:r>
            <a:r>
              <a:rPr sz="1500" b="0" i="0">
                <a:solidFill>
                  <a:srgbClr val="1F2328"/>
                </a:solidFill>
                <a:latin typeface="Cambria"/>
              </a:rPr>
              <a:t> p θ</a:t>
            </a:r>
            <a:r>
              <a:rPr sz="1500" b="0" i="0" baseline="-25000">
                <a:solidFill>
                  <a:srgbClr val="1F2328"/>
                </a:solidFill>
                <a:latin typeface="Cambria"/>
              </a:rPr>
              <a:t>v,eq</a:t>
            </a:r>
            <a:r>
              <a:rPr sz="1500" b="0" i="0" baseline="30000">
                <a:solidFill>
                  <a:srgbClr val="1F2328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7"/>
            <a:ext cx="5303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½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where K p/P° = 1, searched from 200 to 3000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41648"/>
            <a:ext cx="52669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507492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650 K, K = 5.5 ×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−4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(slide 16). At 1 bar, x = 0.023 and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H,eq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= 0.023: clean Cu(111) holds little 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53035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Grid: 4 temperatures × 17 pressures, 0.01 to 100 bar, 4 per decade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17904"/>
            <a:ext cx="542239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9344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check q, at every converged steady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mbria"/>
              </a:rPr>
              <a:t>q = (θ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H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/θ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v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) / (K p/P°)</a:t>
            </a:r>
            <a:r>
              <a:rPr sz="1600" b="0" i="0" baseline="30000">
                <a:solidFill>
                  <a:srgbClr val="1F2328"/>
                </a:solidFill>
                <a:latin typeface="Cambria"/>
              </a:rPr>
              <a:t>1/2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An impurity lowers θ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H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and θ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v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together; at equilibrium their ratio stays fixed.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8437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88920"/>
            <a:ext cx="42062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H₂ step is at equilibrium: Π = (θ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/θ</a:t>
            </a:r>
            <a:r>
              <a:rPr sz="1300" b="0" i="0" baseline="-25000">
                <a:solidFill>
                  <a:srgbClr val="1F2328"/>
                </a:solidFill>
                <a:latin typeface="Calibri"/>
              </a:rPr>
              <a:t>∗,ref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)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39242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 &lt;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337560"/>
            <a:ext cx="42062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H∗ is used faster than it is made: the H₂ step limits the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941063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 &gt;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886200"/>
            <a:ext cx="42062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other reactions make H∗, and it leaves as H₂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26280"/>
            <a:ext cx="5120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try_2/Cu: 342 steady states, 72 main and 108 + 162 from the sweeps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92040"/>
            <a:ext cx="5120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equilibrium_coverage.png: (a) isotherms, (b) against T, (c) q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Take K of the H₂ step from the thermochemistry.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H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/θ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v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= √(Kp/P°) on a T and p grid.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Compute q for every steady state of the run.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q = 1: at equilibrium; otherwise the H₂ step is driven.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90227" y="100584"/>
            <a:ext cx="20985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orders.py:17–68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Reaction orders: nudge one partial pressure by ±10 %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n</a:t>
            </a:r>
            <a:r>
              <a:rPr sz="1700" b="0" i="0" baseline="-25000">
                <a:solidFill>
                  <a:srgbClr val="4E5661"/>
                </a:solidFill>
                <a:latin typeface="Calibri"/>
              </a:rPr>
              <a:t>j</a:t>
            </a:r>
            <a:r>
              <a:rPr sz="1700" b="0" i="0">
                <a:solidFill>
                  <a:srgbClr val="4E5661"/>
                </a:solidFill>
                <a:latin typeface="Calibri"/>
              </a:rPr>
              <a:t> = ∂ln TOF/∂ln p</a:t>
            </a:r>
            <a:r>
              <a:rPr sz="1700" b="0" i="0" baseline="-25000">
                <a:solidFill>
                  <a:srgbClr val="4E5661"/>
                </a:solidFill>
                <a:latin typeface="Calibri"/>
              </a:rPr>
              <a:t>j</a:t>
            </a:r>
            <a:r>
              <a:rPr sz="1700" b="0" i="0">
                <a:solidFill>
                  <a:srgbClr val="4E5661"/>
                </a:solidFill>
                <a:latin typeface="Calibri"/>
              </a:rPr>
              <a:t> by central differences, every other pressure fixed: 304 solves for try_2/Cu.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57784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Central differences, per case and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03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mbria"/>
              </a:rPr>
              <a:t>n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j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= Δ ln TOF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f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/ Δ ln p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p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j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× 1.1 and × 0.9 (δ = 0.10), every other pressure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12801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H₂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+10 %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−10 %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3 solves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12801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each impurity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2461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79" y="3246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H₂ ±10 %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2461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impurity ±10 %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246120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5 solves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8 points × (3 + 7 × 5) =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304 solves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from both starts; none for “all”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53035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log span is 0.2, so a TOF tolerance of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−4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gives n to about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−3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17904"/>
            <a:ext cx="542239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09344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Reading them: TOF</a:t>
            </a:r>
            <a:r>
              <a:rPr sz="1600" b="1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600" b="1" i="0">
                <a:solidFill>
                  <a:srgbClr val="1F2328"/>
                </a:solidFill>
                <a:latin typeface="Calibri"/>
              </a:rPr>
              <a:t> ∝ p</a:t>
            </a:r>
            <a:r>
              <a:rPr sz="1600" b="1" i="0" baseline="-25000">
                <a:solidFill>
                  <a:srgbClr val="1F2328"/>
                </a:solidFill>
                <a:latin typeface="Calibri"/>
              </a:rPr>
              <a:t>H₂</a:t>
            </a:r>
            <a:r>
              <a:rPr sz="1600" b="1" i="0">
                <a:solidFill>
                  <a:srgbClr val="1F2328"/>
                </a:solidFill>
                <a:latin typeface="Calibri"/>
              </a:rPr>
              <a:t> θ</a:t>
            </a:r>
            <a:r>
              <a:rPr sz="1600" b="1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600" b="1" i="0" baseline="30000">
                <a:solidFill>
                  <a:srgbClr val="1F2328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65960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4E5661"/>
                </a:solidFill>
                <a:latin typeface="Calibri"/>
              </a:rPr>
              <a:t>the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96596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1" i="0">
                <a:solidFill>
                  <a:srgbClr val="4E5661"/>
                </a:solidFill>
                <a:latin typeface="Calibri"/>
              </a:rPr>
              <a:t>n</a:t>
            </a:r>
            <a:r>
              <a:rPr sz="1300" b="1" i="0" baseline="-25000">
                <a:solidFill>
                  <a:srgbClr val="4E5661"/>
                </a:solidFill>
                <a:latin typeface="Calibri"/>
              </a:rPr>
              <a:t>H₂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196596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300" b="1" i="0">
                <a:solidFill>
                  <a:srgbClr val="4E5661"/>
                </a:solidFill>
                <a:latin typeface="Calibri"/>
              </a:rPr>
              <a:t>n</a:t>
            </a:r>
            <a:r>
              <a:rPr sz="1300" b="1" i="0" baseline="-25000">
                <a:solidFill>
                  <a:srgbClr val="4E5661"/>
                </a:solidFill>
                <a:latin typeface="Calibri"/>
              </a:rPr>
              <a:t>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46520" y="2295144"/>
            <a:ext cx="507492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46520" y="2331720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almost empty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33172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3172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46520" y="2843784"/>
            <a:ext cx="507492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2880360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H∗ fills it: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∝ p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H₂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−1/2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88036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288036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46520" y="3392424"/>
            <a:ext cx="507492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46520" y="3429000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impurity holds it: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∝ 1/p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342900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+1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342900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−2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46520" y="3941063"/>
            <a:ext cx="507492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46520" y="3977639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they share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977639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between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977639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sz="1400" b="1" i="0">
                <a:solidFill>
                  <a:srgbClr val="1F2328"/>
                </a:solidFill>
                <a:latin typeface="Calibri"/>
              </a:rPr>
              <a:t>between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663440"/>
            <a:ext cx="51206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reaction_orders_vs_T.png and _vs_P.png: a panel per point; ● the order in H₂, ■ in the impurity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Raise one partial pressure by 10 %, then lower it by 10 %.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Hold every other pressure fixed.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 = the change in ln TOF over the change in ln p.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the regime from n in H₂ and in the impurity.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8960" y="100584"/>
            <a:ext cx="262981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rate_control.py:40–141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Degree of rate control: which step’s speed sets the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Speed one reaction up and down by 5 %, forward and reverse together, so its K does not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57784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Kinetic DRC of reaction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03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1F2328"/>
                </a:solidFill>
                <a:latin typeface="Cambria"/>
              </a:rPr>
              <a:t>X</a:t>
            </a:r>
            <a:r>
              <a:rPr sz="1700" b="0" i="0" baseline="-25000">
                <a:solidFill>
                  <a:srgbClr val="1F2328"/>
                </a:solidFill>
                <a:latin typeface="Cambria"/>
              </a:rPr>
              <a:t>DRC,i</a:t>
            </a:r>
            <a:r>
              <a:rPr sz="1700" b="0" i="0">
                <a:solidFill>
                  <a:srgbClr val="1F2328"/>
                </a:solidFill>
                <a:latin typeface="Cambria"/>
              </a:rPr>
              <a:t> = ∂ln r / ∂ln k</a:t>
            </a:r>
            <a:r>
              <a:rPr sz="1700" b="0" i="0" baseline="-25000">
                <a:solidFill>
                  <a:srgbClr val="1F2328"/>
                </a:solidFill>
                <a:latin typeface="Cambria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303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f,i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and 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r,i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× 1.05 and × 0.95 together: K</a:t>
            </a:r>
            <a:r>
              <a:rPr sz="1300" b="0" i="0" baseline="-25000">
                <a:solidFill>
                  <a:srgbClr val="4E5661"/>
                </a:solidFill>
                <a:latin typeface="Calibri"/>
              </a:rPr>
              <a:t>i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unchanged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Screened: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R0, the H₂ adsorption #1 (H₂ + ∗ ⇌ H₂∗), and the 20 largest |net rates| at the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5303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Two rates 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94176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forward TOF, a gross rate: its X need not sum to 1</a:t>
            </a:r>
          </a:p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net H₂ consumption: X sums to 1; blank near equilibrium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53035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A _DRC.png figure only where the DRC is not trivial (trivial: X = 1 on R0, about 0 elsewhere)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17904"/>
            <a:ext cx="542239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Every perturbed solve starts from a clean surface</a:t>
            </a:r>
          </a:p>
        </p:txBody>
      </p:sp>
      <p:sp>
        <p:nvSpPr>
          <p:cNvPr id="18" name="Oval 17"/>
          <p:cNvSpPr/>
          <p:nvPr/>
        </p:nvSpPr>
        <p:spPr>
          <a:xfrm>
            <a:off x="6437376" y="2011679"/>
            <a:ext cx="292608" cy="29260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38528"/>
            <a:ext cx="47091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 warm start from the base passed the plateau test after about 3 × 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−8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 s, before slow species moved: X ≈ 0, wrongly.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2596896"/>
            <a:ext cx="292608" cy="292608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06040"/>
            <a:ext cx="4709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A clean start passes only once the slow species have settled.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6520" y="3127248"/>
            <a:ext cx="507492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324612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H₂ only + 7 impurities (not “all”) × 8 points =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64 base solves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then 2 per screened reaction and species, from one start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check estimated 3,392; the run did 64 + 2,992 = 3,056.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120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Output: sensitivity.csv, 1,496 rows (DRC and TRC)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the base steady state from a clean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Scale one reaction’s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f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and k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r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by 1.05, then by 0.95.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Solve each again from a clean surface.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X = the change in ln r over the change in ln k.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34855" y="100584"/>
            <a:ext cx="25539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rate_control.py:49–60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Thermodynamic rate control: which species’ stability sets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Poisoning is set by how strongly species bind, not by how fast steps are, and DRC misses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57784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303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Shift one species, keep the barriers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063240"/>
            <a:ext cx="1005840" cy="0"/>
          </a:xfrm>
          <a:prstGeom prst="line">
            <a:avLst/>
          </a:prstGeom>
          <a:ln w="31750">
            <a:solidFill>
              <a:srgbClr val="1F23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752344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species 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377440"/>
            <a:ext cx="1005840" cy="0"/>
          </a:xfrm>
          <a:prstGeom prst="line">
            <a:avLst/>
          </a:prstGeom>
          <a:ln w="31750">
            <a:solidFill>
              <a:srgbClr val="1F23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31720" y="2066544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transition 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2788920"/>
            <a:ext cx="1005840" cy="0"/>
          </a:xfrm>
          <a:prstGeom prst="line">
            <a:avLst/>
          </a:prstGeom>
          <a:ln w="31750">
            <a:solidFill>
              <a:srgbClr val="1F23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69080" y="2478024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0" i="0">
                <a:solidFill>
                  <a:srgbClr val="1F2328"/>
                </a:solidFill>
                <a:latin typeface="Calibri"/>
              </a:rPr>
              <a:t>product</a:t>
            </a:r>
          </a:p>
        </p:txBody>
      </p:sp>
      <p:sp>
        <p:nvSpPr>
          <p:cNvPr id="16" name="Freeform 15"/>
          <p:cNvSpPr/>
          <p:nvPr/>
        </p:nvSpPr>
        <p:spPr>
          <a:xfrm>
            <a:off x="1920240" y="237744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685800" y="0"/>
                </a:lnTo>
              </a:path>
            </a:pathLst>
          </a:custGeom>
          <a:noFill/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611880" y="2377440"/>
            <a:ext cx="731520" cy="411480"/>
          </a:xfrm>
          <a:custGeom>
            <a:avLst/>
            <a:gdLst/>
            <a:ahLst/>
            <a:cxnLst/>
            <a:rect l="l" t="t" r="r" b="b"/>
            <a:pathLst>
              <a:path w="731520" h="411480">
                <a:moveTo>
                  <a:pt x="0" y="0"/>
                </a:moveTo>
                <a:lnTo>
                  <a:pt x="731520" y="411480"/>
                </a:lnTo>
              </a:path>
            </a:pathLst>
          </a:custGeom>
          <a:noFill/>
          <a:ln w="15875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14400" y="3355848"/>
            <a:ext cx="1005840" cy="0"/>
          </a:xfrm>
          <a:prstGeom prst="line">
            <a:avLst/>
          </a:prstGeom>
          <a:ln w="25400">
            <a:solidFill>
              <a:srgbClr val="2B6C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17320" y="3118104"/>
            <a:ext cx="0" cy="192024"/>
          </a:xfrm>
          <a:prstGeom prst="line">
            <a:avLst/>
          </a:prstGeom>
          <a:ln w="15875">
            <a:solidFill>
              <a:srgbClr val="2B6CB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11680" y="3218688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±δ = 1 kJ/mol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32304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held fixed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1. Shift H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n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by ±δ: a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6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of both NASA ranges (new_surface with h_shifts)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2. Hold the barriers: each reaction with n as a reactant × e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ν′δ/RT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73752"/>
            <a:ext cx="5303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F2328"/>
                </a:solidFill>
                <a:latin typeface="Cambria"/>
              </a:rPr>
              <a:t>X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TRC,n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 = ∂ln r / ∂(−G</a:t>
            </a:r>
            <a:r>
              <a:rPr sz="1600" b="0" i="0" baseline="-25000">
                <a:solidFill>
                  <a:srgbClr val="1F2328"/>
                </a:solidFill>
                <a:latin typeface="Cambria"/>
              </a:rPr>
              <a:t>n</a:t>
            </a:r>
            <a:r>
              <a:rPr sz="1600" b="0" i="0">
                <a:solidFill>
                  <a:srgbClr val="1F2328"/>
                </a:solidFill>
                <a:latin typeface="Cambria"/>
              </a:rPr>
              <a:t>/RT)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517904"/>
            <a:ext cx="542239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09344"/>
            <a:ext cx="5148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Why it is needed, and how to read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920240"/>
            <a:ext cx="512064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DRC keeps every K fixed, so it gives about 0 for an adsorption step at equilibrium: the kind of step that decides poisoning.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97480"/>
            <a:ext cx="5120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Screened: ∗, H∗, H₂∗, and every species with θ ≥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−3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at the 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32918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319272"/>
            <a:ext cx="489204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If a species only takes sites, X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TRC,k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≈ −2θ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k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: the values add up to about −2(1 − θ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∗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512064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rate_control_&lt;T&gt;K_&lt;P&gt;bar.png: a panel per case, species with |X| ≥ 0.01, the sum in the axis label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Pick a role species or one with θ ≥ 10⁻³.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Shift its enthalpy by ±1 kJ/mol.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Hold the transition states with rate multipliers.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X</a:t>
            </a:r>
            <a:r>
              <a:rPr sz="1400" b="0" i="0" baseline="-25000">
                <a:solidFill>
                  <a:srgbClr val="1F2328"/>
                </a:solidFill>
                <a:latin typeface="Calibri"/>
              </a:rPr>
              <a:t>TRC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≈ −2θ when it only takes sites.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14332" y="100584"/>
            <a:ext cx="217444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paths.py:137–203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Reaction paths: where the H atoms go at each steady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Cantera’s element-flux diagram of each solved main steady state. No new solving.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An H-atom flux diagram, one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304287"/>
            <a:ext cx="9144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571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H₂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304287"/>
            <a:ext cx="9144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85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H∗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22776"/>
            <a:ext cx="9144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H₂∗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922776"/>
            <a:ext cx="9144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22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500" b="1" i="0">
                <a:solidFill>
                  <a:srgbClr val="6B4FA0"/>
                </a:solidFill>
                <a:latin typeface="Calibri"/>
              </a:rPr>
              <a:t>H₂O∗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834640"/>
            <a:ext cx="0" cy="1033272"/>
          </a:xfrm>
          <a:prstGeom prst="line">
            <a:avLst/>
          </a:prstGeom>
          <a:ln w="7620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37360" y="2834640"/>
            <a:ext cx="0" cy="1033272"/>
          </a:xfrm>
          <a:prstGeom prst="line">
            <a:avLst/>
          </a:prstGeom>
          <a:ln w="7620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3120" y="2441448"/>
            <a:ext cx="1965960" cy="0"/>
          </a:xfrm>
          <a:prstGeom prst="line">
            <a:avLst/>
          </a:prstGeom>
          <a:ln w="9525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103120" y="2642616"/>
            <a:ext cx="1965960" cy="0"/>
          </a:xfrm>
          <a:prstGeom prst="line">
            <a:avLst/>
          </a:prstGeom>
          <a:ln w="9525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2834640"/>
            <a:ext cx="0" cy="1033272"/>
          </a:xfrm>
          <a:prstGeom prst="line">
            <a:avLst/>
          </a:prstGeom>
          <a:ln w="3175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09160" y="2834640"/>
            <a:ext cx="0" cy="1033272"/>
          </a:xfrm>
          <a:prstGeom prst="line">
            <a:avLst/>
          </a:prstGeom>
          <a:ln w="31750">
            <a:solidFill>
              <a:srgbClr val="1F232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1868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10312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3218688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5120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labels: flux / largest flux; outline width ~ log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83480"/>
            <a:ext cx="5029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schematic, not a computed diagram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517904"/>
            <a:ext cx="54406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609344"/>
            <a:ext cx="5166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defaults, and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element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H, the element of H₂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87168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one-way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487168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both directions: near equilibrium the net flows cancel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54096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threshold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54096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−8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of the largest flux: the H₂ step can carry only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−5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–10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21024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rmg style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621024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black arrows, width ~ log flux; outline ~ log coverage or mole fraction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87952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images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187952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structures from species/ next to settings.py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1417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754880"/>
            <a:ext cx="37033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72 diagrams, 9 cases × 8 points: .dot and .png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Rebuild a solved main steady state.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Ask Cantera for the H-atom fluxes between species.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Keep both directions above 10⁻⁸ of the largest.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Draw in RMG’s style, with structure images.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K · FURTHER ANALYSES · STAGE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10751" y="100584"/>
            <a:ext cx="24780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transients.py:24–150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Poisoning over time: switch the gas at t = 0, follow the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Start from a catalyst working in clean H₂, add the impurity, and record how fast the rate falls.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89788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6235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One run: the rate after the gas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627632"/>
            <a:ext cx="1051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1">
                <a:solidFill>
                  <a:srgbClr val="8C939D"/>
                </a:solidFill>
                <a:latin typeface="Calibri"/>
              </a:rPr>
              <a:t>layout 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25880" y="4754879"/>
            <a:ext cx="4709160" cy="0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2286000"/>
            <a:ext cx="0" cy="2468879"/>
          </a:xfrm>
          <a:prstGeom prst="line">
            <a:avLst/>
          </a:prstGeom>
          <a:ln w="15875">
            <a:solidFill>
              <a:srgbClr val="4E56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4791455"/>
            <a:ext cx="4709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192024" y="3268980"/>
            <a:ext cx="14630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</a:p>
        </p:txBody>
      </p:sp>
      <p:sp>
        <p:nvSpPr>
          <p:cNvPr id="15" name="TextBox 14"/>
          <p:cNvSpPr txBox="1"/>
          <p:nvPr/>
        </p:nvSpPr>
        <p:spPr>
          <a:xfrm>
            <a:off x="1399032" y="2039112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TOF / TOF(t = 0), log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91455"/>
            <a:ext cx="4709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time after the switch, log: 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−9</a:t>
            </a:r>
            <a:r>
              <a:rPr sz="1200" b="0" i="0">
                <a:solidFill>
                  <a:srgbClr val="4E5661"/>
                </a:solidFill>
                <a:latin typeface="Calibri"/>
              </a:rPr>
              <a:t> to 10</a:t>
            </a:r>
            <a:r>
              <a:rPr sz="1200" b="0" i="0" baseline="30000">
                <a:solidFill>
                  <a:srgbClr val="4E5661"/>
                </a:solidFill>
                <a:latin typeface="Calibri"/>
              </a:rPr>
              <a:t>8</a:t>
            </a:r>
            <a:r>
              <a:rPr sz="1200" b="0" i="0">
                <a:solidFill>
                  <a:srgbClr val="4E5661"/>
                </a:solidFill>
                <a:latin typeface="Calibri"/>
              </a:rPr>
              <a:t> 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25880" y="2744405"/>
            <a:ext cx="470916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0" y="2479229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25880" y="3252520"/>
            <a:ext cx="4709160" cy="0"/>
          </a:xfrm>
          <a:prstGeom prst="line">
            <a:avLst/>
          </a:prstGeom>
          <a:ln w="12700">
            <a:solidFill>
              <a:srgbClr val="4E566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0" y="2987344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1/10</a:t>
            </a:r>
          </a:p>
        </p:txBody>
      </p:sp>
      <p:sp>
        <p:nvSpPr>
          <p:cNvPr id="21" name="Freeform 20"/>
          <p:cNvSpPr/>
          <p:nvPr/>
        </p:nvSpPr>
        <p:spPr>
          <a:xfrm>
            <a:off x="1325880" y="2528385"/>
            <a:ext cx="4709160" cy="1554619"/>
          </a:xfrm>
          <a:custGeom>
            <a:avLst/>
            <a:gdLst/>
            <a:ahLst/>
            <a:cxnLst/>
            <a:rect l="l" t="t" r="r" b="b"/>
            <a:pathLst>
              <a:path w="4709160" h="1554619">
                <a:moveTo>
                  <a:pt x="0" y="0"/>
                </a:moveTo>
                <a:lnTo>
                  <a:pt x="39243" y="355"/>
                </a:lnTo>
                <a:lnTo>
                  <a:pt x="78486" y="755"/>
                </a:lnTo>
                <a:lnTo>
                  <a:pt x="117729" y="1205"/>
                </a:lnTo>
                <a:lnTo>
                  <a:pt x="156972" y="1711"/>
                </a:lnTo>
                <a:lnTo>
                  <a:pt x="196215" y="2281"/>
                </a:lnTo>
                <a:lnTo>
                  <a:pt x="235458" y="2923"/>
                </a:lnTo>
                <a:lnTo>
                  <a:pt x="274701" y="3646"/>
                </a:lnTo>
                <a:lnTo>
                  <a:pt x="313944" y="4459"/>
                </a:lnTo>
                <a:lnTo>
                  <a:pt x="353187" y="5374"/>
                </a:lnTo>
                <a:lnTo>
                  <a:pt x="392430" y="6403"/>
                </a:lnTo>
                <a:lnTo>
                  <a:pt x="431673" y="7561"/>
                </a:lnTo>
                <a:lnTo>
                  <a:pt x="470915" y="8864"/>
                </a:lnTo>
                <a:lnTo>
                  <a:pt x="510159" y="10329"/>
                </a:lnTo>
                <a:lnTo>
                  <a:pt x="549402" y="11976"/>
                </a:lnTo>
                <a:lnTo>
                  <a:pt x="588645" y="13828"/>
                </a:lnTo>
                <a:lnTo>
                  <a:pt x="627888" y="15909"/>
                </a:lnTo>
                <a:lnTo>
                  <a:pt x="667131" y="18248"/>
                </a:lnTo>
                <a:lnTo>
                  <a:pt x="706374" y="20874"/>
                </a:lnTo>
                <a:lnTo>
                  <a:pt x="745617" y="23823"/>
                </a:lnTo>
                <a:lnTo>
                  <a:pt x="784860" y="27133"/>
                </a:lnTo>
                <a:lnTo>
                  <a:pt x="824103" y="30845"/>
                </a:lnTo>
                <a:lnTo>
                  <a:pt x="863346" y="35008"/>
                </a:lnTo>
                <a:lnTo>
                  <a:pt x="902589" y="39673"/>
                </a:lnTo>
                <a:lnTo>
                  <a:pt x="941832" y="44897"/>
                </a:lnTo>
                <a:lnTo>
                  <a:pt x="981075" y="50743"/>
                </a:lnTo>
                <a:lnTo>
                  <a:pt x="1020318" y="57281"/>
                </a:lnTo>
                <a:lnTo>
                  <a:pt x="1059561" y="64584"/>
                </a:lnTo>
                <a:lnTo>
                  <a:pt x="1098803" y="72735"/>
                </a:lnTo>
                <a:lnTo>
                  <a:pt x="1138047" y="81823"/>
                </a:lnTo>
                <a:lnTo>
                  <a:pt x="1177290" y="91941"/>
                </a:lnTo>
                <a:lnTo>
                  <a:pt x="1216533" y="103192"/>
                </a:lnTo>
                <a:lnTo>
                  <a:pt x="1255776" y="115682"/>
                </a:lnTo>
                <a:lnTo>
                  <a:pt x="1295019" y="129525"/>
                </a:lnTo>
                <a:lnTo>
                  <a:pt x="1334262" y="144839"/>
                </a:lnTo>
                <a:lnTo>
                  <a:pt x="1373505" y="161743"/>
                </a:lnTo>
                <a:lnTo>
                  <a:pt x="1412748" y="180361"/>
                </a:lnTo>
                <a:lnTo>
                  <a:pt x="1451991" y="200813"/>
                </a:lnTo>
                <a:lnTo>
                  <a:pt x="1491234" y="223218"/>
                </a:lnTo>
                <a:lnTo>
                  <a:pt x="1530477" y="247686"/>
                </a:lnTo>
                <a:lnTo>
                  <a:pt x="1569720" y="274320"/>
                </a:lnTo>
                <a:lnTo>
                  <a:pt x="1608963" y="303204"/>
                </a:lnTo>
                <a:lnTo>
                  <a:pt x="1648206" y="334406"/>
                </a:lnTo>
                <a:lnTo>
                  <a:pt x="1687449" y="367968"/>
                </a:lnTo>
                <a:lnTo>
                  <a:pt x="1726692" y="403902"/>
                </a:lnTo>
                <a:lnTo>
                  <a:pt x="1765935" y="442189"/>
                </a:lnTo>
                <a:lnTo>
                  <a:pt x="1805178" y="482768"/>
                </a:lnTo>
                <a:lnTo>
                  <a:pt x="1844420" y="525538"/>
                </a:lnTo>
                <a:lnTo>
                  <a:pt x="1883664" y="570355"/>
                </a:lnTo>
                <a:lnTo>
                  <a:pt x="1922907" y="617028"/>
                </a:lnTo>
                <a:lnTo>
                  <a:pt x="1962150" y="665323"/>
                </a:lnTo>
                <a:lnTo>
                  <a:pt x="2001393" y="714966"/>
                </a:lnTo>
                <a:lnTo>
                  <a:pt x="2040636" y="765647"/>
                </a:lnTo>
                <a:lnTo>
                  <a:pt x="2079879" y="817026"/>
                </a:lnTo>
                <a:lnTo>
                  <a:pt x="2119122" y="868743"/>
                </a:lnTo>
                <a:lnTo>
                  <a:pt x="2158365" y="920425"/>
                </a:lnTo>
                <a:lnTo>
                  <a:pt x="2197608" y="971701"/>
                </a:lnTo>
                <a:lnTo>
                  <a:pt x="2236851" y="1022205"/>
                </a:lnTo>
                <a:lnTo>
                  <a:pt x="2276094" y="1071590"/>
                </a:lnTo>
                <a:lnTo>
                  <a:pt x="2315337" y="1119534"/>
                </a:lnTo>
                <a:lnTo>
                  <a:pt x="2354580" y="1165748"/>
                </a:lnTo>
                <a:lnTo>
                  <a:pt x="2393823" y="1209980"/>
                </a:lnTo>
                <a:lnTo>
                  <a:pt x="2433066" y="1252014"/>
                </a:lnTo>
                <a:lnTo>
                  <a:pt x="2472309" y="1291673"/>
                </a:lnTo>
                <a:lnTo>
                  <a:pt x="2511552" y="1328820"/>
                </a:lnTo>
                <a:lnTo>
                  <a:pt x="2550794" y="1363346"/>
                </a:lnTo>
                <a:lnTo>
                  <a:pt x="2590038" y="1395174"/>
                </a:lnTo>
                <a:lnTo>
                  <a:pt x="2629281" y="1424247"/>
                </a:lnTo>
                <a:lnTo>
                  <a:pt x="2668524" y="1450523"/>
                </a:lnTo>
                <a:lnTo>
                  <a:pt x="2707767" y="1473969"/>
                </a:lnTo>
                <a:lnTo>
                  <a:pt x="2747010" y="1494551"/>
                </a:lnTo>
                <a:lnTo>
                  <a:pt x="2786253" y="1512229"/>
                </a:lnTo>
                <a:lnTo>
                  <a:pt x="2825496" y="1526953"/>
                </a:lnTo>
                <a:lnTo>
                  <a:pt x="2864739" y="1538651"/>
                </a:lnTo>
                <a:lnTo>
                  <a:pt x="2903982" y="1547237"/>
                </a:lnTo>
                <a:lnTo>
                  <a:pt x="2943225" y="1552601"/>
                </a:lnTo>
                <a:lnTo>
                  <a:pt x="2982468" y="1554619"/>
                </a:lnTo>
                <a:lnTo>
                  <a:pt x="3021711" y="1553157"/>
                </a:lnTo>
                <a:lnTo>
                  <a:pt x="3060954" y="1548091"/>
                </a:lnTo>
                <a:lnTo>
                  <a:pt x="3100197" y="1539319"/>
                </a:lnTo>
                <a:lnTo>
                  <a:pt x="3139440" y="1526795"/>
                </a:lnTo>
                <a:lnTo>
                  <a:pt x="3178683" y="1510552"/>
                </a:lnTo>
                <a:lnTo>
                  <a:pt x="3217926" y="1490735"/>
                </a:lnTo>
                <a:lnTo>
                  <a:pt x="3257169" y="1467625"/>
                </a:lnTo>
                <a:lnTo>
                  <a:pt x="3296412" y="1441655"/>
                </a:lnTo>
                <a:lnTo>
                  <a:pt x="3335655" y="1413403"/>
                </a:lnTo>
                <a:lnTo>
                  <a:pt x="3374898" y="1383570"/>
                </a:lnTo>
                <a:lnTo>
                  <a:pt x="3414141" y="1352935"/>
                </a:lnTo>
                <a:lnTo>
                  <a:pt x="3453384" y="1322298"/>
                </a:lnTo>
                <a:lnTo>
                  <a:pt x="3492627" y="1292416"/>
                </a:lnTo>
                <a:lnTo>
                  <a:pt x="3531870" y="1263946"/>
                </a:lnTo>
                <a:lnTo>
                  <a:pt x="3571113" y="1237407"/>
                </a:lnTo>
                <a:lnTo>
                  <a:pt x="3610356" y="1213158"/>
                </a:lnTo>
                <a:lnTo>
                  <a:pt x="3649599" y="1191400"/>
                </a:lnTo>
                <a:lnTo>
                  <a:pt x="3688842" y="1172192"/>
                </a:lnTo>
                <a:lnTo>
                  <a:pt x="3728085" y="1155478"/>
                </a:lnTo>
                <a:lnTo>
                  <a:pt x="3767328" y="1141115"/>
                </a:lnTo>
                <a:lnTo>
                  <a:pt x="3806571" y="1128910"/>
                </a:lnTo>
                <a:lnTo>
                  <a:pt x="3845814" y="1118636"/>
                </a:lnTo>
                <a:lnTo>
                  <a:pt x="3885057" y="1110059"/>
                </a:lnTo>
                <a:lnTo>
                  <a:pt x="3924300" y="1102950"/>
                </a:lnTo>
                <a:lnTo>
                  <a:pt x="3963543" y="1097095"/>
                </a:lnTo>
                <a:lnTo>
                  <a:pt x="4002786" y="1092298"/>
                </a:lnTo>
                <a:lnTo>
                  <a:pt x="4042029" y="1088389"/>
                </a:lnTo>
                <a:lnTo>
                  <a:pt x="4081272" y="1085216"/>
                </a:lnTo>
                <a:lnTo>
                  <a:pt x="4120515" y="1082651"/>
                </a:lnTo>
                <a:lnTo>
                  <a:pt x="4159758" y="1080586"/>
                </a:lnTo>
                <a:lnTo>
                  <a:pt x="4199001" y="1078930"/>
                </a:lnTo>
                <a:lnTo>
                  <a:pt x="4238244" y="1077606"/>
                </a:lnTo>
                <a:lnTo>
                  <a:pt x="4277487" y="1076551"/>
                </a:lnTo>
                <a:lnTo>
                  <a:pt x="4316730" y="1075715"/>
                </a:lnTo>
                <a:lnTo>
                  <a:pt x="4355973" y="1075055"/>
                </a:lnTo>
                <a:lnTo>
                  <a:pt x="4395216" y="1074536"/>
                </a:lnTo>
                <a:lnTo>
                  <a:pt x="4434459" y="1074130"/>
                </a:lnTo>
                <a:lnTo>
                  <a:pt x="4473702" y="1073814"/>
                </a:lnTo>
                <a:lnTo>
                  <a:pt x="4512945" y="1073571"/>
                </a:lnTo>
                <a:lnTo>
                  <a:pt x="4552188" y="1073384"/>
                </a:lnTo>
                <a:lnTo>
                  <a:pt x="4591431" y="1073243"/>
                </a:lnTo>
                <a:lnTo>
                  <a:pt x="4630674" y="1073138"/>
                </a:lnTo>
                <a:lnTo>
                  <a:pt x="4669917" y="1073060"/>
                </a:lnTo>
                <a:lnTo>
                  <a:pt x="4709160" y="1073005"/>
                </a:lnTo>
              </a:path>
            </a:pathLst>
          </a:custGeom>
          <a:noFill/>
          <a:ln w="28575">
            <a:solidFill>
              <a:srgbClr val="B8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804841" y="2744379"/>
            <a:ext cx="0" cy="1699604"/>
          </a:xfrm>
          <a:prstGeom prst="line">
            <a:avLst/>
          </a:prstGeom>
          <a:ln w="9525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39081" y="4462271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</a:t>
            </a:r>
            <a:r>
              <a:rPr sz="1200" b="0" i="0" baseline="-25000">
                <a:solidFill>
                  <a:srgbClr val="1F2328"/>
                </a:solidFill>
                <a:latin typeface="Calibri"/>
              </a:rPr>
              <a:t>½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4086" y="3252086"/>
            <a:ext cx="0" cy="1191897"/>
          </a:xfrm>
          <a:prstGeom prst="line">
            <a:avLst/>
          </a:prstGeom>
          <a:ln w="9525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68326" y="4462271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</a:t>
            </a:r>
            <a:r>
              <a:rPr sz="1200" b="0" i="0" baseline="-25000">
                <a:solidFill>
                  <a:srgbClr val="1F2328"/>
                </a:solidFill>
                <a:latin typeface="Calibri"/>
              </a:rPr>
              <a:t>1/10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81574" y="3626560"/>
            <a:ext cx="0" cy="817423"/>
          </a:xfrm>
          <a:prstGeom prst="line">
            <a:avLst/>
          </a:prstGeom>
          <a:ln w="9525">
            <a:solidFill>
              <a:srgbClr val="8C93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15814" y="4462271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t</a:t>
            </a:r>
            <a:r>
              <a:rPr sz="1200" b="0" i="0" baseline="-25000">
                <a:solidFill>
                  <a:srgbClr val="1F2328"/>
                </a:solidFill>
                <a:latin typeface="Calibri"/>
              </a:rPr>
              <a:t>settle</a:t>
            </a:r>
          </a:p>
        </p:txBody>
      </p:sp>
      <p:sp>
        <p:nvSpPr>
          <p:cNvPr id="28" name="Oval 27"/>
          <p:cNvSpPr/>
          <p:nvPr/>
        </p:nvSpPr>
        <p:spPr>
          <a:xfrm>
            <a:off x="4243044" y="4009842"/>
            <a:ext cx="146304" cy="146304"/>
          </a:xfrm>
          <a:prstGeom prst="ellips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556" y="4174434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200" b="0" i="0">
                <a:solidFill>
                  <a:srgbClr val="1F2328"/>
                </a:solidFill>
                <a:latin typeface="Calibri"/>
              </a:rPr>
              <a:t>deepest drop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56254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1F2328"/>
                </a:solidFill>
                <a:latin typeface="Calibri"/>
              </a:rPr>
              <a:t>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517904"/>
            <a:ext cx="510235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609344"/>
            <a:ext cx="48280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method, for try_2/Cu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920240"/>
            <a:ext cx="4800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Start: the H₂-only steady state at the point, from the main run.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331720"/>
            <a:ext cx="4800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 = 0: the gas becomes H₂ + impurity; the fixed-gas reactor integrates the surface.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971800"/>
            <a:ext cx="4800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69 times from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−9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to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8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 s, 4 per decade; TOF divided by its value at t = 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11880"/>
            <a:ext cx="4800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8 points × 7 impurities × 4 levels (10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−6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−4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10</a:t>
            </a:r>
            <a:r>
              <a:rPr sz="1400" b="0" i="0" baseline="30000">
                <a:solidFill>
                  <a:srgbClr val="1F2328"/>
                </a:solidFill>
                <a:latin typeface="Calibri"/>
              </a:rPr>
              <a:t>−2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, 0.25) = </a:t>
            </a:r>
            <a:r>
              <a:rPr sz="1400" b="1" i="0">
                <a:solidFill>
                  <a:srgbClr val="1F2328"/>
                </a:solidFill>
                <a:latin typeface="Calibri"/>
              </a:rPr>
              <a:t>224 runs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69080"/>
            <a:ext cx="4800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Quote times to 2 significant figures: a 10</a:t>
            </a:r>
            <a:r>
              <a:rPr sz="1300" b="0" i="0" baseline="30000">
                <a:solidFill>
                  <a:srgbClr val="4E5661"/>
                </a:solidFill>
                <a:latin typeface="Calibri"/>
              </a:rPr>
              <a:t>−10</a:t>
            </a:r>
            <a:r>
              <a:rPr sz="1300" b="0" i="0">
                <a:solidFill>
                  <a:srgbClr val="4E5661"/>
                </a:solidFill>
                <a:latin typeface="Calibri"/>
              </a:rPr>
              <a:t> change in the start moved one half-time by 1.7 %.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54880"/>
            <a:ext cx="4800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poisoning_over_time.csv, _trajectories.csv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 from the H₂-only steady state at the point.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At t = 0, add the impurity to the gas.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Integrate the surface; record 69 times.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t½, t₁/₁₀, the deepest drop and the end.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L · RUNNING IT AND READING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66122" y="100584"/>
            <a:ext cx="20226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run.sh, cli.py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Running it: one script, four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run folders come first, then the command (run if none is given), then the options.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bash run.sh runs/try_2/Cu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6949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every analysis listed in settings.py, in the package’s order, then the PDF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85415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bash run.sh runs/try_2/Cu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85415"/>
            <a:ext cx="6949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loads the settings and the mechanism, lists the 72 conditions and the solves per analysis; solves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1635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bash run.sh runs/try_2/Cu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16352"/>
            <a:ext cx="6949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counts the saved results in each cache and those not converged (none for try_2/Cu); lists the tables and figures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47287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bash run.sh runs/try_2/Cu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47287"/>
            <a:ext cx="6949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rebuilds the PDF from the saved results; solves nothing (--tex-only writes the .tex 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6629400" cy="1216152"/>
          </a:xfrm>
          <a:prstGeom prst="roundRect">
            <a:avLst>
              <a:gd name="adj" fmla="val 751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59"/>
            <a:ext cx="6355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Options of a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635508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--only curves,sweep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only those, in the package’s order; no report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--workers 8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1F2328"/>
                </a:solidFill>
                <a:latin typeface="Courier New"/>
              </a:rPr>
              <a:t>--timeout 1800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processes; time limit per job (s)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--recompute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ignore the cache;  </a:t>
            </a:r>
            <a:r>
              <a:rPr sz="1300" b="0" i="0">
                <a:solidFill>
                  <a:srgbClr val="1F2328"/>
                </a:solidFill>
                <a:latin typeface="Courier New"/>
              </a:rPr>
              <a:t>--no-report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: skip the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160520"/>
            <a:ext cx="4370832" cy="1216152"/>
          </a:xfrm>
          <a:prstGeom prst="roundRect">
            <a:avLst>
              <a:gd name="adj" fmla="val 751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251959"/>
            <a:ext cx="40965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Several runs in one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26280"/>
            <a:ext cx="4069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bash run.sh runs/try_2/*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18888"/>
            <a:ext cx="40690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One after another; a failed run does not stop the rest. Each appends to its own run.log.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Check first: the conditions and the solve counts.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Run: every analysis, then the report.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Status: what is cached and what did not converge.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Report: rebuild the PDF without solving.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L · RUNNING IT AND READING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93808" y="100584"/>
            <a:ext cx="179496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runs/try_2/Cu/output/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 output folder: tables, figures and caches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Everything one run writes, here for try_2/Cu: 94 MB. Each solve is saved under its fingerprint (slide 38).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76072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4864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What is in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ourier New"/>
              </a:rPr>
              <a:t>*.csv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3852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21 tables, e.g. steady_state_results.csv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7168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ourier New"/>
              </a:rPr>
              <a:t>*.png, *.pdf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8716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61 figures, each in both formats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35808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ourier New"/>
              </a:rPr>
              <a:t>reaction_paths/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3580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72 path diagrams, .dot and .png (23 MB)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84448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ourier New"/>
              </a:rPr>
              <a:t>report/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8444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PDF, its .tex and the settings listing (21 MB)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33087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ourier New"/>
              </a:rPr>
              <a:t>cache*/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33087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5 folders of saved solves (24 MB)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54406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Next to output/: run.log, everything printed by every command, appended.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517904"/>
            <a:ext cx="5239512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09344"/>
            <a:ext cx="49651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The caches: one file per solve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019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90195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1" i="0">
                <a:solidFill>
                  <a:srgbClr val="4E5661"/>
                </a:solidFill>
                <a:latin typeface="Calibri"/>
              </a:rPr>
              <a:t>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90195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from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2194560"/>
            <a:ext cx="493776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0" y="2212848"/>
            <a:ext cx="1783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cache/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212848"/>
            <a:ext cx="731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300" b="1" i="0">
                <a:solidFill>
                  <a:srgbClr val="1F2328"/>
                </a:solidFill>
                <a:latin typeface="Calibri"/>
              </a:rPr>
              <a:t>1,326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12848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main, curves, sweeps, orders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0" y="2560320"/>
            <a:ext cx="493776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0" y="2578608"/>
            <a:ext cx="1783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cache_sensitivity/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578608"/>
            <a:ext cx="731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300" b="1" i="0">
                <a:solidFill>
                  <a:srgbClr val="1F2328"/>
                </a:solidFill>
                <a:latin typeface="Calibri"/>
              </a:rPr>
              <a:t>3,056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578608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rate control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0" y="2926079"/>
            <a:ext cx="493776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0" y="2944368"/>
            <a:ext cx="1783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cache_transients/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944368"/>
            <a:ext cx="731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300" b="1" i="0">
                <a:solidFill>
                  <a:srgbClr val="1F2328"/>
                </a:solidFill>
                <a:latin typeface="Calibri"/>
              </a:rPr>
              <a:t>224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944368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poisoning over time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3291840"/>
            <a:ext cx="493776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0" y="3310128"/>
            <a:ext cx="1783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ourier New"/>
              </a:rPr>
              <a:t>cache_convergence/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10128"/>
            <a:ext cx="731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300" b="1" i="0">
                <a:solidFill>
                  <a:srgbClr val="1F2328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310128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convergence traces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0" y="3657599"/>
            <a:ext cx="4937760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0" y="3675887"/>
            <a:ext cx="1783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200" b="0" i="0">
                <a:solidFill>
                  <a:srgbClr val="B7791F"/>
                </a:solidFill>
                <a:latin typeface="Courier New"/>
              </a:rPr>
              <a:t>cache_diagnostics/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675887"/>
            <a:ext cx="7315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sz="1300" b="1" i="0">
                <a:solidFill>
                  <a:srgbClr val="1F2328"/>
                </a:solidFill>
                <a:latin typeface="Calibri"/>
              </a:rPr>
              <a:t>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675887"/>
            <a:ext cx="24231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switch-off what-ifs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4114800"/>
            <a:ext cx="4965192" cy="1143000"/>
          </a:xfrm>
          <a:prstGeom prst="roundRect">
            <a:avLst>
              <a:gd name="adj" fmla="val 6400"/>
            </a:avLst>
          </a:prstGeom>
          <a:solidFill>
            <a:srgbClr val="FFF4DB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75120" y="4206240"/>
            <a:ext cx="256032" cy="25603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4151376"/>
            <a:ext cx="4489704" cy="10698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cache_diagnostics/ holds 72 results of an H₂∗ switch-off from Oct 13, the old default. Nothing reads them while switch_off = []; they would be reused if that what-if came back.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the numbers in the CSV tables.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Look at the figures, each as PNG and PDF.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Open the report for the whole run.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Keep the caches: they make every re-run fast.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L · RUNNING IT AND READING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1275" y="100584"/>
            <a:ext cx="28575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package · report.py, report_text.py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 PDF report: one section per analysis, written to be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Built from the saved results at the end of a full run, or by report. Nothing is solved to make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120640" cy="3858768"/>
          </a:xfrm>
          <a:prstGeom prst="roundRect">
            <a:avLst>
              <a:gd name="adj" fmla="val 236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4846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try_2_Cu_report.pdf: 133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4846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Title page: the run, the mechanism’s SHA-256, the package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384048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2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3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4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5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6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7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8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9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10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11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12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13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A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B</a:t>
            </a:r>
          </a:p>
          <a:p>
            <a:pPr algn="r"/>
            <a:r>
              <a:rPr sz="1200" b="0" i="0">
                <a:solidFill>
                  <a:srgbClr val="4E5661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12848"/>
            <a:ext cx="4434840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Run summary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Main steady states: dissociation rate and poisoning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What covers the surface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Did the solver reach a true steady state?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Poisoning curves: how much impurity is tolerated?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Temperature sweep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Hydrogen rates in Arrhenius form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Pressure sweep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Equilibrium coverage of hydrogen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Reaction orders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Rate control: which species and steps set the rate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Reaction paths of hydrogen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Poisoning over time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Reaction-path diagrams at the other points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Output files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The settings of this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517904"/>
            <a:ext cx="5879592" cy="2395728"/>
          </a:xfrm>
          <a:prstGeom prst="roundRect">
            <a:avLst>
              <a:gd name="adj" fmla="val 3816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09344"/>
            <a:ext cx="56052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Inside every section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9202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1109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question the analysis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2402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Key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3113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results to quote, in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56032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5117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split by series; long ones as a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88036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Figures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7121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each with a caption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20040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How to read the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9125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what each column means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5204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C9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How to read the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11296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each panel, and what each trend means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4041648"/>
            <a:ext cx="5879592" cy="1335024"/>
          </a:xfrm>
          <a:prstGeom prst="roundRect">
            <a:avLst>
              <a:gd name="adj" fmla="val 6849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133087"/>
            <a:ext cx="56052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Settings: the report 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407408"/>
            <a:ext cx="55778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max_rows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60: a longer table becomes a summary and its file name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ourier New"/>
              </a:rPr>
              <a:t>path_diagrams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reference+appendix: the rest in Appendix A</a:t>
            </a:r>
          </a:p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LaTeX through latexmk; without it, only the .tex is written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Start with the run summary: system, conditions, warnings.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In each section: the goal, then the key numbers.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Read each table and figure with its guide.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Rebuild it any time with report: no solving.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M · LIMITS AND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07170" y="100584"/>
            <a:ext cx="27816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docs · simulation_workflow.md §1.4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What the model assumes, and what that means for try_2/Cu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Every number in this deck holds only inside these seven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81328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what it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481328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4E5661"/>
                </a:solidFill>
                <a:latin typeface="Calibri"/>
              </a:rPr>
              <a:t>for try_2/Cu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773936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1810512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Mean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10512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rates depend only on average coverages: no islands, no ordering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no coverage-dependent parameters in any of the 12 YAMLs, so no lateral interactions either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395728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432304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One site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432304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an ideal surface with a constant site density 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432304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Γ = 2.943 ×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−5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mol/m²; every species sits on the same Cu(111) site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3017520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3054096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Isothermal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054096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heats of reaction do not change the temperature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054096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every reactor runs with its energy equation off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3639311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3675887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Intrinsic kinetics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675887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 mass-transfer limits; the gas is uniform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675887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rates are those of the surface alone; a real bed can be slower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4261104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297680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Fixed 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297680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 surface does not change the gas: negligible 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297680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1 m³ of gas over 10</a:t>
            </a:r>
            <a:r>
              <a:rPr sz="1300" b="0" i="0" baseline="30000">
                <a:solidFill>
                  <a:srgbClr val="1F2328"/>
                </a:solidFill>
                <a:latin typeface="Calibri"/>
              </a:rPr>
              <a:t>−10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 m² of catalyst, gas reactions off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4882896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4919472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Parameters as given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919472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RMG’s estimates: libraries, rate rules, scaling from other metals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919472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R0 is a Ni training value; all 71 surface species scaled from Pt(111) (slide 47)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5504688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541264"/>
            <a:ext cx="21945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Cantera’s site counting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541264"/>
            <a:ext cx="42062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species on several sites follow Cantera’s 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541264"/>
            <a:ext cx="450799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the site-count factor f enters Π (slides 13 and 49)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126480"/>
            <a:ext cx="11185855" cy="0"/>
          </a:xfrm>
          <a:prstGeom prst="line">
            <a:avLst/>
          </a:prstGeom>
          <a:ln w="9525">
            <a:solidFill>
              <a:srgbClr val="D0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M · LIMITS AND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Not in the workflow yet: four things it does 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Each would answer a question the steady states cannot, and each can start from a piece that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5486400" cy="2240280"/>
          </a:xfrm>
          <a:prstGeom prst="roundRect">
            <a:avLst>
              <a:gd name="adj" fmla="val 408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A flow reactor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0824"/>
            <a:ext cx="5120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Along a real bed the gas changes as reactions convert it. The fixed gas holds only at the inlet, or at low conversion.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99232"/>
            <a:ext cx="5175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4983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Start from: fixed-gas steps in a chain, the gas updated between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17904"/>
            <a:ext cx="5486400" cy="2240280"/>
          </a:xfrm>
          <a:prstGeom prst="roundRect">
            <a:avLst>
              <a:gd name="adj" fmla="val 408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09344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TPD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20824"/>
            <a:ext cx="5120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Temperature-programmed desorption: heat a covered surface and record when each species leaves. The peak temperatures test the binding energies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99232"/>
            <a:ext cx="5175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017520"/>
            <a:ext cx="4983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Start from: the transient reactor of slide 58, with a temperature ramp and no gas.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04487"/>
            <a:ext cx="5486400" cy="2240280"/>
          </a:xfrm>
          <a:prstGeom prst="roundRect">
            <a:avLst>
              <a:gd name="adj" fmla="val 408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7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7"/>
            <a:ext cx="5120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RMG’s estimates have errors, and nothing carries them through to the rates and coverages.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85816"/>
            <a:ext cx="5175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04103"/>
            <a:ext cx="4983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Start from: TRC and DRC (slides 55–56), which rank the estimates that matter most.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904487"/>
            <a:ext cx="5486400" cy="2240280"/>
          </a:xfrm>
          <a:prstGeom prst="roundRect">
            <a:avLst>
              <a:gd name="adj" fmla="val 4081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995927"/>
            <a:ext cx="5212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Coverage effects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407407"/>
            <a:ext cx="5120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No lateral interactions: a crowded adsorbate binds as strongly as a lone one, so high coverages can come out too high.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5385816"/>
            <a:ext cx="5175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5404103"/>
            <a:ext cx="4983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Start from: coverage-dependent parameters in the YAML, which Cantera already applies.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M · LIMITS AND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52759" y="100584"/>
            <a:ext cx="103601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runs/try_*/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The same workflow on Cu, Fe and Ni: where each run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As of Oct 20, from each run.log. The Fe and Ni mechanisms have 5 to 17 times the surface reactions of try_2/Cu.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1" i="0">
                <a:solidFill>
                  <a:srgbClr val="4E5661"/>
                </a:solidFill>
                <a:latin typeface="Calibri"/>
              </a:rPr>
              <a:t>try_2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148132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1" i="0">
                <a:solidFill>
                  <a:srgbClr val="4E5661"/>
                </a:solidFill>
                <a:latin typeface="Calibri"/>
              </a:rPr>
              <a:t>try_3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48132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1" i="0">
                <a:solidFill>
                  <a:srgbClr val="4E5661"/>
                </a:solidFill>
                <a:latin typeface="Calibri"/>
              </a:rPr>
              <a:t>try_4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148132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/>
            <a:r>
              <a:rPr sz="1400" b="1" i="0">
                <a:solidFill>
                  <a:srgbClr val="4E5661"/>
                </a:solidFill>
                <a:latin typeface="Calibri"/>
              </a:rPr>
              <a:t>try_5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777240" cy="11155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ambria"/>
              </a:rPr>
              <a:t>Cu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181051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E7F4EC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1865376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report, Oct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157984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133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633472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1,395 surface reactions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181051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E7F4EC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6" y="1865376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report, Oct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2157984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134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6" y="2633472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1,197 surface reactions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28816" y="181051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E7F4EC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1865376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report, Oct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157984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139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2633472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4,604 surface reactions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181051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E7F4EC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1865376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report, Oct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2157984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134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2633472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1,369 surface reactions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026664"/>
            <a:ext cx="777240" cy="11155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ambria"/>
              </a:rPr>
              <a:t>Fe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3026664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1328" y="3081528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3741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poisoning curves: 636 of 680 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3849624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23,334 surface reactions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0208" y="3026664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3081528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does not 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9936" y="33741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Cantera rejects the PLOG rate of C₂H₃ + CH₂O ⇌ C₂H₄ + HCO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9936" y="3849624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13,756 surface reactions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28816" y="3026664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3081528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does not 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33741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Cantera rejects the PLOG rate of C₂H₃ + CH₂O ⇌ C₂H₄ + HCO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3849624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15,332 surface reactions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07424" y="3026664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3081528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does not 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33741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Cantera rejects the PLOG rate of C₂H₃ + CH₂O ⇌ C₂H₄ + HCO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3849624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6,339 surface reactions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242816"/>
            <a:ext cx="777240" cy="11155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Cambria"/>
              </a:rPr>
              <a:t>Ni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4242816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E7F4EC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81328" y="4297680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report, Oct 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1328" y="4590288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136 pages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81328" y="5065776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17,037 surface reactions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50208" y="4242816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59936" y="4297680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killed at 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9936" y="4590288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exit 137 after 3.5 min; 17,430 gas reactions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9936" y="5065776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18,771 surface reactions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28816" y="4242816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38544" y="4297680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killed at load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38544" y="4590288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exit 137 after 2.7 min; 28,532 gas reactions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8544" y="5065776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19,741 surface reactions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07424" y="4242816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FFF4DB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4297680"/>
            <a:ext cx="22494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does not 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4590288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1F2328"/>
                </a:solidFill>
                <a:latin typeface="Calibri"/>
              </a:rPr>
              <a:t>Cantera rejects the PLOG rate of C₂H₃ + CH₂O ⇌ C₂H₄ + HCO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7152" y="5065776"/>
            <a:ext cx="2249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0" i="0">
                <a:solidFill>
                  <a:srgbClr val="4E5661"/>
                </a:solidFill>
                <a:latin typeface="Calibri"/>
              </a:rPr>
              <a:t>10,892 surface reactions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3504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Resume the Cu batch: paused since Oct 18 at 23:02.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1387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31971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3451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Repair that PLOG rate so the four failing runs load.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59855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260439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1919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Find why try_3/Ni and try_4/Ni are killed at load.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88323" y="5522976"/>
            <a:ext cx="2700451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088907" y="5806440"/>
            <a:ext cx="347472" cy="347472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0387" y="5550408"/>
            <a:ext cx="2133523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Calibri"/>
              </a:rPr>
              <a:t>Then compare the metals at the same 72 conditions.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200" b="1" i="0">
                <a:solidFill>
                  <a:srgbClr val="8C939D"/>
                </a:solidFill>
                <a:latin typeface="Calibri"/>
              </a:rPr>
              <a:t>M · LIMITS AND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56340" y="100584"/>
            <a:ext cx="7324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200" b="0" i="0">
                <a:solidFill>
                  <a:srgbClr val="4E5661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5855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2600" b="0" i="0">
                <a:solidFill>
                  <a:srgbClr val="1F2328"/>
                </a:solidFill>
                <a:latin typeface="Cambria"/>
              </a:rPr>
              <a:t>One picture: from an RMG mechanism to a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4E5661"/>
                </a:solidFill>
                <a:latin typeface="Calibri"/>
              </a:rPr>
              <a:t>The whole workflow on one page, with try_2/Cu’s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1185855" cy="10972"/>
          </a:xfrm>
          <a:prstGeom prst="rect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6556248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/>
            <a:r>
              <a:rPr sz="1000" b="0" i="0">
                <a:solidFill>
                  <a:srgbClr val="8C939D"/>
                </a:solidFill>
                <a:latin typeface="Calibri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1848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RMG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1947672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1572768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RMG builds the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572768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15 reactors, 650–1200 K; 1,395 surface reactions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3969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468880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2093976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Load it, name the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93976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checks at load; R0 and the 7 impurities found by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60903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40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3A4048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2990088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615184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Replay RMG’s reactors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15184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optional: flux-diagram videos at 650 and 1200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82111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3511296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3136391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Design the 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136391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8 points × 9 cases = 72 conditions, p(H₂) held fixed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03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4–6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4032504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71600" y="3657600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Solve the steady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657600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two starts each; saved under a fingerprint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24527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553712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71600" y="4178807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178807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TOF and Π, per site and per area; who covers the surface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4573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" y="5074920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700016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Judge the mechanism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700016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binding check, what-ifs, provenance; none set for Cu yet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26694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" y="5596128"/>
            <a:ext cx="0" cy="192024"/>
          </a:xfrm>
          <a:prstGeom prst="line">
            <a:avLst/>
          </a:prstGeom>
          <a:ln w="15875">
            <a:solidFill>
              <a:srgbClr val="8C9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1600" y="5221224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Go further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221224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9 analyses, 4,534 more solves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88151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42431"/>
            <a:ext cx="30175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Read the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742431"/>
            <a:ext cx="3977639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sz="1300" b="0" i="0">
                <a:solidFill>
                  <a:srgbClr val="1F2328"/>
                </a:solidFill>
                <a:latin typeface="Calibri"/>
              </a:rPr>
              <a:t>every table and figure, each with how to read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1517904"/>
            <a:ext cx="3090672" cy="4663440"/>
          </a:xfrm>
          <a:prstGeom prst="roundRect">
            <a:avLst>
              <a:gd name="adj" fmla="val 2958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609344"/>
            <a:ext cx="28163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alibri"/>
              </a:rPr>
              <a:t>try_2/Cu in numbers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011680"/>
            <a:ext cx="2743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mbria"/>
              </a:rPr>
              <a:t>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248716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main conditions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017520"/>
            <a:ext cx="2743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mbria"/>
              </a:rPr>
              <a:t>4,606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49300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saved solves, all converged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023360"/>
            <a:ext cx="2743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mbria"/>
              </a:rPr>
              <a:t>21 + 61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49884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tables and figures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029200"/>
            <a:ext cx="2743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mbria"/>
              </a:rPr>
              <a:t>133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50468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sz="1300" b="0" i="0">
                <a:solidFill>
                  <a:srgbClr val="4E5661"/>
                </a:solidFill>
                <a:latin typeface="Calibri"/>
              </a:rPr>
              <a:t>pages of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